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xlsx" ContentType="application/vnd.openxmlformats-officedocument.spreadsheetml.sheet"/>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64" r:id="rId3"/>
    <p:sldId id="268" r:id="rId4"/>
    <p:sldId id="274" r:id="rId5"/>
    <p:sldId id="275" r:id="rId6"/>
    <p:sldId id="270" r:id="rId7"/>
    <p:sldId id="263" r:id="rId8"/>
    <p:sldId id="265" r:id="rId9"/>
    <p:sldId id="276" r:id="rId10"/>
    <p:sldId id="269" r:id="rId11"/>
    <p:sldId id="280" r:id="rId12"/>
    <p:sldId id="271" r:id="rId13"/>
    <p:sldId id="257" r:id="rId14"/>
    <p:sldId id="258" r:id="rId15"/>
    <p:sldId id="259" r:id="rId16"/>
    <p:sldId id="260" r:id="rId17"/>
    <p:sldId id="261" r:id="rId18"/>
    <p:sldId id="284" r:id="rId19"/>
    <p:sldId id="285" r:id="rId20"/>
    <p:sldId id="282" r:id="rId21"/>
    <p:sldId id="277" r:id="rId22"/>
    <p:sldId id="281" r:id="rId23"/>
    <p:sldId id="278" r:id="rId24"/>
    <p:sldId id="279" r:id="rId2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147" autoAdjust="0"/>
    <p:restoredTop sz="94660"/>
  </p:normalViewPr>
  <p:slideViewPr>
    <p:cSldViewPr>
      <p:cViewPr>
        <p:scale>
          <a:sx n="76" d="100"/>
          <a:sy n="76" d="100"/>
        </p:scale>
        <p:origin x="-1224" y="204"/>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Bag Wt </c:v>
                </c:pt>
              </c:strCache>
            </c:strRef>
          </c:tx>
          <c:invertIfNegative val="0"/>
          <c:cat>
            <c:strRef>
              <c:f>Sheet1!$A$2:$A$16</c:f>
              <c:strCache>
                <c:ptCount val="15"/>
                <c:pt idx="0">
                  <c:v>04-SP</c:v>
                </c:pt>
                <c:pt idx="1">
                  <c:v>05-SP</c:v>
                </c:pt>
                <c:pt idx="2">
                  <c:v>05-F</c:v>
                </c:pt>
                <c:pt idx="3">
                  <c:v>06-Sp</c:v>
                </c:pt>
                <c:pt idx="4">
                  <c:v>06-F</c:v>
                </c:pt>
                <c:pt idx="5">
                  <c:v>07-SP</c:v>
                </c:pt>
                <c:pt idx="6">
                  <c:v>07-F</c:v>
                </c:pt>
                <c:pt idx="7">
                  <c:v>08-SP</c:v>
                </c:pt>
                <c:pt idx="8">
                  <c:v>08-F</c:v>
                </c:pt>
                <c:pt idx="9">
                  <c:v>09-SP</c:v>
                </c:pt>
                <c:pt idx="10">
                  <c:v>10-SP</c:v>
                </c:pt>
                <c:pt idx="11">
                  <c:v>10-F</c:v>
                </c:pt>
                <c:pt idx="12">
                  <c:v>11-SP </c:v>
                </c:pt>
                <c:pt idx="13">
                  <c:v>11-SU</c:v>
                </c:pt>
                <c:pt idx="14">
                  <c:v>11-F</c:v>
                </c:pt>
              </c:strCache>
            </c:strRef>
          </c:cat>
          <c:val>
            <c:numRef>
              <c:f>Sheet1!$B$2:$B$16</c:f>
              <c:numCache>
                <c:formatCode>General</c:formatCode>
                <c:ptCount val="15"/>
                <c:pt idx="0">
                  <c:v>13.99</c:v>
                </c:pt>
                <c:pt idx="1">
                  <c:v>14.41</c:v>
                </c:pt>
                <c:pt idx="2">
                  <c:v>12.49</c:v>
                </c:pt>
                <c:pt idx="3">
                  <c:v>15.03</c:v>
                </c:pt>
                <c:pt idx="4">
                  <c:v>13.34</c:v>
                </c:pt>
                <c:pt idx="5">
                  <c:v>15.55</c:v>
                </c:pt>
                <c:pt idx="6">
                  <c:v>14.82</c:v>
                </c:pt>
                <c:pt idx="7">
                  <c:v>16.09</c:v>
                </c:pt>
                <c:pt idx="8">
                  <c:v>12.07</c:v>
                </c:pt>
                <c:pt idx="9">
                  <c:v>15.03</c:v>
                </c:pt>
                <c:pt idx="10">
                  <c:v>13.8</c:v>
                </c:pt>
                <c:pt idx="11">
                  <c:v>13.18</c:v>
                </c:pt>
                <c:pt idx="12">
                  <c:v>16.04</c:v>
                </c:pt>
                <c:pt idx="13">
                  <c:v>13.67</c:v>
                </c:pt>
                <c:pt idx="14">
                  <c:v>14.76</c:v>
                </c:pt>
              </c:numCache>
            </c:numRef>
          </c:val>
        </c:ser>
        <c:dLbls>
          <c:showLegendKey val="0"/>
          <c:showVal val="0"/>
          <c:showCatName val="0"/>
          <c:showSerName val="0"/>
          <c:showPercent val="0"/>
          <c:showBubbleSize val="0"/>
        </c:dLbls>
        <c:gapWidth val="150"/>
        <c:axId val="112243072"/>
        <c:axId val="112244608"/>
      </c:barChart>
      <c:catAx>
        <c:axId val="112243072"/>
        <c:scaling>
          <c:orientation val="minMax"/>
        </c:scaling>
        <c:delete val="0"/>
        <c:axPos val="b"/>
        <c:majorTickMark val="out"/>
        <c:minorTickMark val="none"/>
        <c:tickLblPos val="nextTo"/>
        <c:crossAx val="112244608"/>
        <c:crosses val="autoZero"/>
        <c:auto val="1"/>
        <c:lblAlgn val="ctr"/>
        <c:lblOffset val="100"/>
        <c:noMultiLvlLbl val="0"/>
      </c:catAx>
      <c:valAx>
        <c:axId val="112244608"/>
        <c:scaling>
          <c:orientation val="minMax"/>
        </c:scaling>
        <c:delete val="0"/>
        <c:axPos val="l"/>
        <c:majorGridlines/>
        <c:numFmt formatCode="General" sourceLinked="1"/>
        <c:majorTickMark val="out"/>
        <c:minorTickMark val="none"/>
        <c:tickLblPos val="nextTo"/>
        <c:crossAx val="112243072"/>
        <c:crosses val="autoZero"/>
        <c:crossBetween val="between"/>
      </c:valAx>
    </c:plotArea>
    <c:plotVisOnly val="1"/>
    <c:dispBlanksAs val="gap"/>
    <c:showDLblsOverMax val="0"/>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7.0254747568318662E-2"/>
          <c:y val="9.179929213393781E-2"/>
          <c:w val="0.88079061808450432"/>
          <c:h val="0.71040602879185555"/>
        </c:manualLayout>
      </c:layout>
      <c:barChart>
        <c:barDir val="col"/>
        <c:grouping val="clustered"/>
        <c:varyColors val="0"/>
        <c:ser>
          <c:idx val="0"/>
          <c:order val="0"/>
          <c:tx>
            <c:strRef>
              <c:f>Sheet1!$B$1</c:f>
              <c:strCache>
                <c:ptCount val="1"/>
                <c:pt idx="0">
                  <c:v>Lunker </c:v>
                </c:pt>
              </c:strCache>
            </c:strRef>
          </c:tx>
          <c:invertIfNegative val="0"/>
          <c:cat>
            <c:strRef>
              <c:f>Sheet1!$A$2:$A$16</c:f>
              <c:strCache>
                <c:ptCount val="15"/>
                <c:pt idx="0">
                  <c:v>04-SP</c:v>
                </c:pt>
                <c:pt idx="1">
                  <c:v>05-SP</c:v>
                </c:pt>
                <c:pt idx="2">
                  <c:v>05-F</c:v>
                </c:pt>
                <c:pt idx="3">
                  <c:v>06-Sp</c:v>
                </c:pt>
                <c:pt idx="4">
                  <c:v>06-F</c:v>
                </c:pt>
                <c:pt idx="5">
                  <c:v>07-SP</c:v>
                </c:pt>
                <c:pt idx="6">
                  <c:v>07-F</c:v>
                </c:pt>
                <c:pt idx="7">
                  <c:v>08-SP</c:v>
                </c:pt>
                <c:pt idx="8">
                  <c:v>08-F</c:v>
                </c:pt>
                <c:pt idx="9">
                  <c:v>09-SP</c:v>
                </c:pt>
                <c:pt idx="10">
                  <c:v>10-SP</c:v>
                </c:pt>
                <c:pt idx="11">
                  <c:v>10-F</c:v>
                </c:pt>
                <c:pt idx="12">
                  <c:v>11-SP </c:v>
                </c:pt>
                <c:pt idx="13">
                  <c:v>11-SU</c:v>
                </c:pt>
                <c:pt idx="14">
                  <c:v>11-F</c:v>
                </c:pt>
              </c:strCache>
            </c:strRef>
          </c:cat>
          <c:val>
            <c:numRef>
              <c:f>Sheet1!$B$2:$B$16</c:f>
              <c:numCache>
                <c:formatCode>General</c:formatCode>
                <c:ptCount val="15"/>
                <c:pt idx="0">
                  <c:v>3.61</c:v>
                </c:pt>
                <c:pt idx="1">
                  <c:v>3.49</c:v>
                </c:pt>
                <c:pt idx="2">
                  <c:v>3.43</c:v>
                </c:pt>
                <c:pt idx="3">
                  <c:v>4.62</c:v>
                </c:pt>
                <c:pt idx="4">
                  <c:v>3.78</c:v>
                </c:pt>
                <c:pt idx="5">
                  <c:v>4.07</c:v>
                </c:pt>
                <c:pt idx="6">
                  <c:v>4.01</c:v>
                </c:pt>
                <c:pt idx="7">
                  <c:v>4.18</c:v>
                </c:pt>
                <c:pt idx="8">
                  <c:v>3.22</c:v>
                </c:pt>
                <c:pt idx="9">
                  <c:v>4.0999999999999996</c:v>
                </c:pt>
                <c:pt idx="10">
                  <c:v>3.5</c:v>
                </c:pt>
                <c:pt idx="11">
                  <c:v>4.07</c:v>
                </c:pt>
                <c:pt idx="12">
                  <c:v>4.6500000000000004</c:v>
                </c:pt>
                <c:pt idx="13">
                  <c:v>3</c:v>
                </c:pt>
                <c:pt idx="14">
                  <c:v>4.5599999999999996</c:v>
                </c:pt>
              </c:numCache>
            </c:numRef>
          </c:val>
        </c:ser>
        <c:dLbls>
          <c:showLegendKey val="0"/>
          <c:showVal val="0"/>
          <c:showCatName val="0"/>
          <c:showSerName val="0"/>
          <c:showPercent val="0"/>
          <c:showBubbleSize val="0"/>
        </c:dLbls>
        <c:gapWidth val="150"/>
        <c:axId val="114628480"/>
        <c:axId val="114630016"/>
      </c:barChart>
      <c:catAx>
        <c:axId val="114628480"/>
        <c:scaling>
          <c:orientation val="minMax"/>
        </c:scaling>
        <c:delete val="0"/>
        <c:axPos val="b"/>
        <c:majorTickMark val="out"/>
        <c:minorTickMark val="none"/>
        <c:tickLblPos val="nextTo"/>
        <c:crossAx val="114630016"/>
        <c:crosses val="autoZero"/>
        <c:auto val="1"/>
        <c:lblAlgn val="ctr"/>
        <c:lblOffset val="100"/>
        <c:noMultiLvlLbl val="0"/>
      </c:catAx>
      <c:valAx>
        <c:axId val="114630016"/>
        <c:scaling>
          <c:orientation val="minMax"/>
        </c:scaling>
        <c:delete val="0"/>
        <c:axPos val="l"/>
        <c:majorGridlines/>
        <c:numFmt formatCode="General" sourceLinked="1"/>
        <c:majorTickMark val="out"/>
        <c:minorTickMark val="none"/>
        <c:tickLblPos val="nextTo"/>
        <c:crossAx val="114628480"/>
        <c:crosses val="autoZero"/>
        <c:crossBetween val="between"/>
      </c:valAx>
    </c:plotArea>
    <c:plotVisOnly val="1"/>
    <c:dispBlanksAs val="gap"/>
    <c:showDLblsOverMax val="0"/>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Wts:</c:v>
                </c:pt>
              </c:strCache>
            </c:strRef>
          </c:tx>
          <c:invertIfNegative val="0"/>
          <c:cat>
            <c:strRef>
              <c:f>Sheet1!$A$2:$A$9</c:f>
              <c:strCache>
                <c:ptCount val="8"/>
                <c:pt idx="0">
                  <c:v>04-SP</c:v>
                </c:pt>
                <c:pt idx="1">
                  <c:v>05-SP</c:v>
                </c:pt>
                <c:pt idx="2">
                  <c:v>06-Sp</c:v>
                </c:pt>
                <c:pt idx="3">
                  <c:v>07-SP</c:v>
                </c:pt>
                <c:pt idx="4">
                  <c:v>08-SP</c:v>
                </c:pt>
                <c:pt idx="5">
                  <c:v>09-SP</c:v>
                </c:pt>
                <c:pt idx="6">
                  <c:v>10-SP</c:v>
                </c:pt>
                <c:pt idx="7">
                  <c:v>11-SP </c:v>
                </c:pt>
              </c:strCache>
            </c:strRef>
          </c:cat>
          <c:val>
            <c:numRef>
              <c:f>Sheet1!$B$2:$B$9</c:f>
              <c:numCache>
                <c:formatCode>General</c:formatCode>
                <c:ptCount val="8"/>
                <c:pt idx="0">
                  <c:v>13.99</c:v>
                </c:pt>
                <c:pt idx="1">
                  <c:v>14.41</c:v>
                </c:pt>
                <c:pt idx="2">
                  <c:v>15.03</c:v>
                </c:pt>
                <c:pt idx="3">
                  <c:v>15.55</c:v>
                </c:pt>
                <c:pt idx="4">
                  <c:v>16.09</c:v>
                </c:pt>
                <c:pt idx="5">
                  <c:v>15.03</c:v>
                </c:pt>
                <c:pt idx="6">
                  <c:v>13.08</c:v>
                </c:pt>
                <c:pt idx="7">
                  <c:v>16.04</c:v>
                </c:pt>
              </c:numCache>
            </c:numRef>
          </c:val>
        </c:ser>
        <c:dLbls>
          <c:showLegendKey val="0"/>
          <c:showVal val="0"/>
          <c:showCatName val="0"/>
          <c:showSerName val="0"/>
          <c:showPercent val="0"/>
          <c:showBubbleSize val="0"/>
        </c:dLbls>
        <c:gapWidth val="150"/>
        <c:axId val="114765184"/>
        <c:axId val="114766976"/>
      </c:barChart>
      <c:catAx>
        <c:axId val="114765184"/>
        <c:scaling>
          <c:orientation val="minMax"/>
        </c:scaling>
        <c:delete val="0"/>
        <c:axPos val="b"/>
        <c:majorTickMark val="out"/>
        <c:minorTickMark val="none"/>
        <c:tickLblPos val="nextTo"/>
        <c:crossAx val="114766976"/>
        <c:crosses val="autoZero"/>
        <c:auto val="1"/>
        <c:lblAlgn val="ctr"/>
        <c:lblOffset val="100"/>
        <c:noMultiLvlLbl val="0"/>
      </c:catAx>
      <c:valAx>
        <c:axId val="114766976"/>
        <c:scaling>
          <c:orientation val="minMax"/>
        </c:scaling>
        <c:delete val="0"/>
        <c:axPos val="l"/>
        <c:majorGridlines/>
        <c:numFmt formatCode="General" sourceLinked="1"/>
        <c:majorTickMark val="out"/>
        <c:minorTickMark val="none"/>
        <c:tickLblPos val="nextTo"/>
        <c:crossAx val="114765184"/>
        <c:crosses val="autoZero"/>
        <c:crossBetween val="between"/>
      </c:valAx>
    </c:plotArea>
    <c:plotVisOnly val="1"/>
    <c:dispBlanksAs val="gap"/>
    <c:showDLblsOverMax val="0"/>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Series 1</c:v>
                </c:pt>
              </c:strCache>
            </c:strRef>
          </c:tx>
          <c:invertIfNegative val="0"/>
          <c:cat>
            <c:strRef>
              <c:f>Sheet1!$A$2:$A$8</c:f>
              <c:strCache>
                <c:ptCount val="7"/>
                <c:pt idx="0">
                  <c:v>05: F </c:v>
                </c:pt>
                <c:pt idx="1">
                  <c:v>06: F </c:v>
                </c:pt>
                <c:pt idx="2">
                  <c:v>07: F </c:v>
                </c:pt>
                <c:pt idx="3">
                  <c:v>08: F </c:v>
                </c:pt>
                <c:pt idx="4">
                  <c:v>10: F </c:v>
                </c:pt>
                <c:pt idx="5">
                  <c:v>11: F </c:v>
                </c:pt>
                <c:pt idx="6">
                  <c:v>11: F </c:v>
                </c:pt>
              </c:strCache>
            </c:strRef>
          </c:cat>
          <c:val>
            <c:numRef>
              <c:f>Sheet1!$B$2:$B$8</c:f>
              <c:numCache>
                <c:formatCode>General</c:formatCode>
                <c:ptCount val="7"/>
                <c:pt idx="0">
                  <c:v>12.49</c:v>
                </c:pt>
                <c:pt idx="1">
                  <c:v>13.34</c:v>
                </c:pt>
                <c:pt idx="2">
                  <c:v>14.82</c:v>
                </c:pt>
                <c:pt idx="3">
                  <c:v>12.07</c:v>
                </c:pt>
                <c:pt idx="4">
                  <c:v>13.18</c:v>
                </c:pt>
                <c:pt idx="5">
                  <c:v>13.67</c:v>
                </c:pt>
                <c:pt idx="6">
                  <c:v>14.76</c:v>
                </c:pt>
              </c:numCache>
            </c:numRef>
          </c:val>
        </c:ser>
        <c:dLbls>
          <c:showLegendKey val="0"/>
          <c:showVal val="0"/>
          <c:showCatName val="0"/>
          <c:showSerName val="0"/>
          <c:showPercent val="0"/>
          <c:showBubbleSize val="0"/>
        </c:dLbls>
        <c:gapWidth val="150"/>
        <c:axId val="114807936"/>
        <c:axId val="114809472"/>
      </c:barChart>
      <c:catAx>
        <c:axId val="114807936"/>
        <c:scaling>
          <c:orientation val="minMax"/>
        </c:scaling>
        <c:delete val="0"/>
        <c:axPos val="b"/>
        <c:majorTickMark val="out"/>
        <c:minorTickMark val="none"/>
        <c:tickLblPos val="nextTo"/>
        <c:crossAx val="114809472"/>
        <c:crosses val="autoZero"/>
        <c:auto val="1"/>
        <c:lblAlgn val="ctr"/>
        <c:lblOffset val="100"/>
        <c:noMultiLvlLbl val="0"/>
      </c:catAx>
      <c:valAx>
        <c:axId val="114809472"/>
        <c:scaling>
          <c:orientation val="minMax"/>
        </c:scaling>
        <c:delete val="0"/>
        <c:axPos val="l"/>
        <c:majorGridlines/>
        <c:numFmt formatCode="General" sourceLinked="1"/>
        <c:majorTickMark val="out"/>
        <c:minorTickMark val="none"/>
        <c:tickLblPos val="nextTo"/>
        <c:crossAx val="114807936"/>
        <c:crosses val="autoZero"/>
        <c:crossBetween val="between"/>
      </c:valAx>
    </c:plotArea>
    <c:plotVisOnly val="1"/>
    <c:dispBlanksAs val="gap"/>
    <c:showDLblsOverMax val="0"/>
  </c:chart>
  <c:txPr>
    <a:bodyPr/>
    <a:lstStyle/>
    <a:p>
      <a:pPr>
        <a:defRPr sz="1800"/>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Series 1</c:v>
                </c:pt>
              </c:strCache>
            </c:strRef>
          </c:tx>
          <c:invertIfNegative val="0"/>
          <c:cat>
            <c:strRef>
              <c:f>Sheet1!$A$2:$A$5</c:f>
              <c:strCache>
                <c:ptCount val="4"/>
                <c:pt idx="0">
                  <c:v>Spring 2008</c:v>
                </c:pt>
                <c:pt idx="1">
                  <c:v>Spring 2009</c:v>
                </c:pt>
                <c:pt idx="2">
                  <c:v>Spring 2010</c:v>
                </c:pt>
                <c:pt idx="3">
                  <c:v>Spring 2011</c:v>
                </c:pt>
              </c:strCache>
            </c:strRef>
          </c:cat>
          <c:val>
            <c:numRef>
              <c:f>Sheet1!$B$2:$B$5</c:f>
              <c:numCache>
                <c:formatCode>General</c:formatCode>
                <c:ptCount val="4"/>
                <c:pt idx="0">
                  <c:v>2.2999999999999998</c:v>
                </c:pt>
                <c:pt idx="1">
                  <c:v>2.39</c:v>
                </c:pt>
                <c:pt idx="2">
                  <c:v>1.9</c:v>
                </c:pt>
                <c:pt idx="3">
                  <c:v>2.38</c:v>
                </c:pt>
              </c:numCache>
            </c:numRef>
          </c:val>
        </c:ser>
        <c:dLbls>
          <c:showLegendKey val="0"/>
          <c:showVal val="0"/>
          <c:showCatName val="0"/>
          <c:showSerName val="0"/>
          <c:showPercent val="0"/>
          <c:showBubbleSize val="0"/>
        </c:dLbls>
        <c:gapWidth val="150"/>
        <c:axId val="114702976"/>
        <c:axId val="114704768"/>
      </c:barChart>
      <c:catAx>
        <c:axId val="114702976"/>
        <c:scaling>
          <c:orientation val="minMax"/>
        </c:scaling>
        <c:delete val="0"/>
        <c:axPos val="b"/>
        <c:majorTickMark val="out"/>
        <c:minorTickMark val="none"/>
        <c:tickLblPos val="nextTo"/>
        <c:crossAx val="114704768"/>
        <c:crosses val="autoZero"/>
        <c:auto val="1"/>
        <c:lblAlgn val="ctr"/>
        <c:lblOffset val="100"/>
        <c:noMultiLvlLbl val="0"/>
      </c:catAx>
      <c:valAx>
        <c:axId val="114704768"/>
        <c:scaling>
          <c:orientation val="minMax"/>
        </c:scaling>
        <c:delete val="0"/>
        <c:axPos val="l"/>
        <c:majorGridlines/>
        <c:numFmt formatCode="General" sourceLinked="1"/>
        <c:majorTickMark val="out"/>
        <c:minorTickMark val="none"/>
        <c:tickLblPos val="nextTo"/>
        <c:crossAx val="114702976"/>
        <c:crosses val="autoZero"/>
        <c:crossBetween val="between"/>
      </c:valAx>
    </c:plotArea>
    <c:plotVisOnly val="1"/>
    <c:dispBlanksAs val="gap"/>
    <c:showDLblsOverMax val="0"/>
  </c:chart>
  <c:txPr>
    <a:bodyPr/>
    <a:lstStyle/>
    <a:p>
      <a:pPr>
        <a:defRPr sz="1800"/>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lineChart>
        <c:grouping val="standard"/>
        <c:varyColors val="0"/>
        <c:ser>
          <c:idx val="0"/>
          <c:order val="0"/>
          <c:tx>
            <c:strRef>
              <c:f>Sheet1!$B$1</c:f>
              <c:strCache>
                <c:ptCount val="1"/>
                <c:pt idx="0">
                  <c:v>TMBR</c:v>
                </c:pt>
              </c:strCache>
            </c:strRef>
          </c:tx>
          <c:cat>
            <c:numRef>
              <c:f>Sheet1!$A$2:$A$8</c:f>
              <c:numCache>
                <c:formatCode>General</c:formatCode>
                <c:ptCount val="7"/>
                <c:pt idx="0">
                  <c:v>2004</c:v>
                </c:pt>
                <c:pt idx="1">
                  <c:v>2005</c:v>
                </c:pt>
                <c:pt idx="2">
                  <c:v>2006</c:v>
                </c:pt>
                <c:pt idx="3">
                  <c:v>2007</c:v>
                </c:pt>
                <c:pt idx="4">
                  <c:v>2008</c:v>
                </c:pt>
                <c:pt idx="5">
                  <c:v>2009</c:v>
                </c:pt>
                <c:pt idx="6">
                  <c:v>2010</c:v>
                </c:pt>
              </c:numCache>
            </c:numRef>
          </c:cat>
          <c:val>
            <c:numRef>
              <c:f>Sheet1!$B$2:$B$8</c:f>
              <c:numCache>
                <c:formatCode>General</c:formatCode>
                <c:ptCount val="7"/>
                <c:pt idx="0">
                  <c:v>0.28000000000000003</c:v>
                </c:pt>
                <c:pt idx="1">
                  <c:v>0.3</c:v>
                </c:pt>
                <c:pt idx="2">
                  <c:v>0.23</c:v>
                </c:pt>
                <c:pt idx="3">
                  <c:v>0.25</c:v>
                </c:pt>
                <c:pt idx="4">
                  <c:v>0.26</c:v>
                </c:pt>
                <c:pt idx="5">
                  <c:v>0.36</c:v>
                </c:pt>
                <c:pt idx="6">
                  <c:v>0.27</c:v>
                </c:pt>
              </c:numCache>
            </c:numRef>
          </c:val>
          <c:smooth val="0"/>
        </c:ser>
        <c:ser>
          <c:idx val="1"/>
          <c:order val="1"/>
          <c:tx>
            <c:strRef>
              <c:f>Sheet1!$C$1</c:f>
              <c:strCache>
                <c:ptCount val="1"/>
                <c:pt idx="0">
                  <c:v>IFW</c:v>
                </c:pt>
              </c:strCache>
            </c:strRef>
          </c:tx>
          <c:cat>
            <c:numRef>
              <c:f>Sheet1!$A$2:$A$8</c:f>
              <c:numCache>
                <c:formatCode>General</c:formatCode>
                <c:ptCount val="7"/>
                <c:pt idx="0">
                  <c:v>2004</c:v>
                </c:pt>
                <c:pt idx="1">
                  <c:v>2005</c:v>
                </c:pt>
                <c:pt idx="2">
                  <c:v>2006</c:v>
                </c:pt>
                <c:pt idx="3">
                  <c:v>2007</c:v>
                </c:pt>
                <c:pt idx="4">
                  <c:v>2008</c:v>
                </c:pt>
                <c:pt idx="5">
                  <c:v>2009</c:v>
                </c:pt>
                <c:pt idx="6">
                  <c:v>2010</c:v>
                </c:pt>
              </c:numCache>
            </c:numRef>
          </c:cat>
          <c:val>
            <c:numRef>
              <c:f>Sheet1!$C$2:$C$8</c:f>
              <c:numCache>
                <c:formatCode>General</c:formatCode>
                <c:ptCount val="7"/>
                <c:pt idx="0">
                  <c:v>0.42</c:v>
                </c:pt>
                <c:pt idx="1">
                  <c:v>0.57999999999999996</c:v>
                </c:pt>
                <c:pt idx="2">
                  <c:v>0.44</c:v>
                </c:pt>
                <c:pt idx="3">
                  <c:v>0.84</c:v>
                </c:pt>
                <c:pt idx="4">
                  <c:v>0.63</c:v>
                </c:pt>
                <c:pt idx="5">
                  <c:v>0.3</c:v>
                </c:pt>
                <c:pt idx="6">
                  <c:v>0.16</c:v>
                </c:pt>
              </c:numCache>
            </c:numRef>
          </c:val>
          <c:smooth val="0"/>
        </c:ser>
        <c:dLbls>
          <c:showLegendKey val="0"/>
          <c:showVal val="0"/>
          <c:showCatName val="0"/>
          <c:showSerName val="0"/>
          <c:showPercent val="0"/>
          <c:showBubbleSize val="0"/>
        </c:dLbls>
        <c:marker val="1"/>
        <c:smooth val="0"/>
        <c:axId val="96589312"/>
        <c:axId val="96590848"/>
      </c:lineChart>
      <c:catAx>
        <c:axId val="96589312"/>
        <c:scaling>
          <c:orientation val="minMax"/>
        </c:scaling>
        <c:delete val="0"/>
        <c:axPos val="b"/>
        <c:numFmt formatCode="General" sourceLinked="1"/>
        <c:majorTickMark val="out"/>
        <c:minorTickMark val="none"/>
        <c:tickLblPos val="nextTo"/>
        <c:crossAx val="96590848"/>
        <c:crosses val="autoZero"/>
        <c:auto val="1"/>
        <c:lblAlgn val="ctr"/>
        <c:lblOffset val="100"/>
        <c:noMultiLvlLbl val="0"/>
      </c:catAx>
      <c:valAx>
        <c:axId val="96590848"/>
        <c:scaling>
          <c:orientation val="minMax"/>
        </c:scaling>
        <c:delete val="0"/>
        <c:axPos val="l"/>
        <c:majorGridlines/>
        <c:numFmt formatCode="General" sourceLinked="1"/>
        <c:majorTickMark val="out"/>
        <c:minorTickMark val="none"/>
        <c:tickLblPos val="nextTo"/>
        <c:crossAx val="96589312"/>
        <c:crosses val="autoZero"/>
        <c:crossBetween val="between"/>
      </c:valAx>
    </c:plotArea>
    <c:legend>
      <c:legendPos val="r"/>
      <c:layout/>
      <c:overlay val="0"/>
    </c:legend>
    <c:plotVisOnly val="1"/>
    <c:dispBlanksAs val="gap"/>
    <c:showDLblsOverMax val="0"/>
  </c:chart>
  <c:txPr>
    <a:bodyPr/>
    <a:lstStyle/>
    <a:p>
      <a:pPr>
        <a:defRPr sz="1800"/>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lineChart>
        <c:grouping val="standard"/>
        <c:varyColors val="0"/>
        <c:ser>
          <c:idx val="0"/>
          <c:order val="0"/>
          <c:tx>
            <c:strRef>
              <c:f>Sheet1!$B$1</c:f>
              <c:strCache>
                <c:ptCount val="1"/>
                <c:pt idx="0">
                  <c:v>TMBR</c:v>
                </c:pt>
              </c:strCache>
            </c:strRef>
          </c:tx>
          <c:cat>
            <c:numRef>
              <c:f>Sheet1!$A$2:$A$8</c:f>
              <c:numCache>
                <c:formatCode>General</c:formatCode>
                <c:ptCount val="7"/>
                <c:pt idx="0">
                  <c:v>2004</c:v>
                </c:pt>
                <c:pt idx="1">
                  <c:v>2005</c:v>
                </c:pt>
                <c:pt idx="2">
                  <c:v>2006</c:v>
                </c:pt>
                <c:pt idx="3">
                  <c:v>2007</c:v>
                </c:pt>
                <c:pt idx="4">
                  <c:v>2008</c:v>
                </c:pt>
                <c:pt idx="5">
                  <c:v>2009</c:v>
                </c:pt>
                <c:pt idx="6">
                  <c:v>2010</c:v>
                </c:pt>
              </c:numCache>
            </c:numRef>
          </c:cat>
          <c:val>
            <c:numRef>
              <c:f>Sheet1!$B$2:$B$8</c:f>
              <c:numCache>
                <c:formatCode>General</c:formatCode>
                <c:ptCount val="7"/>
                <c:pt idx="0">
                  <c:v>2.25</c:v>
                </c:pt>
                <c:pt idx="1">
                  <c:v>2.44</c:v>
                </c:pt>
                <c:pt idx="2">
                  <c:v>1.83</c:v>
                </c:pt>
                <c:pt idx="3">
                  <c:v>2.0299999999999998</c:v>
                </c:pt>
                <c:pt idx="4">
                  <c:v>2.08</c:v>
                </c:pt>
                <c:pt idx="5">
                  <c:v>2.86</c:v>
                </c:pt>
                <c:pt idx="6">
                  <c:v>2.16</c:v>
                </c:pt>
              </c:numCache>
            </c:numRef>
          </c:val>
          <c:smooth val="0"/>
        </c:ser>
        <c:ser>
          <c:idx val="1"/>
          <c:order val="1"/>
          <c:tx>
            <c:strRef>
              <c:f>Sheet1!$C$1</c:f>
              <c:strCache>
                <c:ptCount val="1"/>
                <c:pt idx="0">
                  <c:v>IFW</c:v>
                </c:pt>
              </c:strCache>
            </c:strRef>
          </c:tx>
          <c:cat>
            <c:numRef>
              <c:f>Sheet1!$A$2:$A$8</c:f>
              <c:numCache>
                <c:formatCode>General</c:formatCode>
                <c:ptCount val="7"/>
                <c:pt idx="0">
                  <c:v>2004</c:v>
                </c:pt>
                <c:pt idx="1">
                  <c:v>2005</c:v>
                </c:pt>
                <c:pt idx="2">
                  <c:v>2006</c:v>
                </c:pt>
                <c:pt idx="3">
                  <c:v>2007</c:v>
                </c:pt>
                <c:pt idx="4">
                  <c:v>2008</c:v>
                </c:pt>
                <c:pt idx="5">
                  <c:v>2009</c:v>
                </c:pt>
                <c:pt idx="6">
                  <c:v>2010</c:v>
                </c:pt>
              </c:numCache>
            </c:numRef>
          </c:cat>
          <c:val>
            <c:numRef>
              <c:f>Sheet1!$C$2:$C$8</c:f>
              <c:numCache>
                <c:formatCode>General</c:formatCode>
                <c:ptCount val="7"/>
                <c:pt idx="0">
                  <c:v>1.39</c:v>
                </c:pt>
                <c:pt idx="1">
                  <c:v>1.69</c:v>
                </c:pt>
                <c:pt idx="2">
                  <c:v>1.32</c:v>
                </c:pt>
                <c:pt idx="3">
                  <c:v>2.58</c:v>
                </c:pt>
                <c:pt idx="4">
                  <c:v>2.14</c:v>
                </c:pt>
                <c:pt idx="5">
                  <c:v>0.88</c:v>
                </c:pt>
                <c:pt idx="6">
                  <c:v>0.53</c:v>
                </c:pt>
              </c:numCache>
            </c:numRef>
          </c:val>
          <c:smooth val="0"/>
        </c:ser>
        <c:dLbls>
          <c:showLegendKey val="0"/>
          <c:showVal val="0"/>
          <c:showCatName val="0"/>
          <c:showSerName val="0"/>
          <c:showPercent val="0"/>
          <c:showBubbleSize val="0"/>
        </c:dLbls>
        <c:marker val="1"/>
        <c:smooth val="0"/>
        <c:axId val="142482432"/>
        <c:axId val="142664448"/>
      </c:lineChart>
      <c:catAx>
        <c:axId val="142482432"/>
        <c:scaling>
          <c:orientation val="minMax"/>
        </c:scaling>
        <c:delete val="0"/>
        <c:axPos val="b"/>
        <c:numFmt formatCode="General" sourceLinked="1"/>
        <c:majorTickMark val="out"/>
        <c:minorTickMark val="none"/>
        <c:tickLblPos val="nextTo"/>
        <c:crossAx val="142664448"/>
        <c:crosses val="autoZero"/>
        <c:auto val="1"/>
        <c:lblAlgn val="ctr"/>
        <c:lblOffset val="100"/>
        <c:noMultiLvlLbl val="0"/>
      </c:catAx>
      <c:valAx>
        <c:axId val="142664448"/>
        <c:scaling>
          <c:orientation val="minMax"/>
        </c:scaling>
        <c:delete val="0"/>
        <c:axPos val="l"/>
        <c:majorGridlines/>
        <c:numFmt formatCode="General" sourceLinked="1"/>
        <c:majorTickMark val="out"/>
        <c:minorTickMark val="none"/>
        <c:tickLblPos val="nextTo"/>
        <c:crossAx val="142482432"/>
        <c:crosses val="autoZero"/>
        <c:crossBetween val="between"/>
      </c:valAx>
    </c:plotArea>
    <c:legend>
      <c:legendPos val="r"/>
      <c:layout/>
      <c:overlay val="0"/>
    </c:legend>
    <c:plotVisOnly val="1"/>
    <c:dispBlanksAs val="gap"/>
    <c:showDLblsOverMax val="0"/>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905000"/>
            <a:ext cx="7543800" cy="2593975"/>
          </a:xfrm>
        </p:spPr>
        <p:txBody>
          <a:bodyPr anchor="b"/>
          <a:lstStyle>
            <a:lvl1pPr>
              <a:defRPr sz="6600">
                <a:ln>
                  <a:noFill/>
                </a:ln>
                <a:solidFill>
                  <a:schemeClr val="tx2"/>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685800" y="4572000"/>
            <a:ext cx="6461760" cy="1066800"/>
          </a:xfrm>
        </p:spPr>
        <p:txBody>
          <a:bodyPr anchor="t">
            <a:normAutofit/>
          </a:bodyPr>
          <a:lstStyle>
            <a:lvl1pPr marL="0" indent="0" algn="l">
              <a:buNone/>
              <a:defRPr sz="20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99EB23E6-81BA-4693-91E4-EDC5FC946EFF}" type="datetimeFigureOut">
              <a:rPr lang="en-US" smtClean="0"/>
              <a:t>3/3/2012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F613B99-C1EE-4021-AE95-A9B0CAF3309E}" type="slidenum">
              <a:rPr lang="en-US" smtClean="0"/>
              <a:t>‹#›</a:t>
            </a:fld>
            <a:endParaRPr lang="en-US"/>
          </a:p>
        </p:txBody>
      </p:sp>
    </p:spTree>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9EB23E6-81BA-4693-91E4-EDC5FC946EFF}" type="datetimeFigureOut">
              <a:rPr lang="en-US" smtClean="0"/>
              <a:t>3/3/2012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F613B99-C1EE-4021-AE95-A9B0CAF3309E}" type="slidenum">
              <a:rPr lang="en-US" smtClean="0"/>
              <a:t>‹#›</a:t>
            </a:fld>
            <a:endParaRPr lang="en-US"/>
          </a:p>
        </p:txBody>
      </p:sp>
    </p:spTree>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5486400"/>
            <a:ext cx="7659687" cy="1168400"/>
          </a:xfrm>
        </p:spPr>
        <p:txBody>
          <a:bodyPr anchor="t"/>
          <a:lstStyle>
            <a:lvl1pPr algn="l">
              <a:defRPr sz="3600" b="0" cap="all"/>
            </a:lvl1pPr>
          </a:lstStyle>
          <a:p>
            <a:r>
              <a:rPr lang="en-US" smtClean="0"/>
              <a:t>Click to edit Master title style</a:t>
            </a:r>
            <a:endParaRPr lang="en-US" dirty="0"/>
          </a:p>
        </p:txBody>
      </p:sp>
      <p:sp>
        <p:nvSpPr>
          <p:cNvPr id="3" name="Text Placeholder 2"/>
          <p:cNvSpPr>
            <a:spLocks noGrp="1"/>
          </p:cNvSpPr>
          <p:nvPr>
            <p:ph type="body" idx="1"/>
          </p:nvPr>
        </p:nvSpPr>
        <p:spPr>
          <a:xfrm>
            <a:off x="722313" y="3852863"/>
            <a:ext cx="6135687" cy="1633538"/>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99EB23E6-81BA-4693-91E4-EDC5FC946EFF}" type="datetimeFigureOut">
              <a:rPr lang="en-US" smtClean="0"/>
              <a:t>3/3/2012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F613B99-C1EE-4021-AE95-A9B0CAF3309E}" type="slidenum">
              <a:rPr lang="en-US" smtClean="0"/>
              <a:t>‹#›</a:t>
            </a:fld>
            <a:endParaRPr lang="en-US"/>
          </a:p>
        </p:txBody>
      </p:sp>
    </p:spTree>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536192"/>
            <a:ext cx="3657600" cy="45902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9600" y="1536192"/>
            <a:ext cx="3657600" cy="45902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99EB23E6-81BA-4693-91E4-EDC5FC946EFF}" type="datetimeFigureOut">
              <a:rPr lang="en-US" smtClean="0"/>
              <a:t>3/3/2012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F613B99-C1EE-4021-AE95-A9B0CAF3309E}" type="slidenum">
              <a:rPr lang="en-US" smtClean="0"/>
              <a:t>‹#›</a:t>
            </a:fld>
            <a:endParaRPr lang="en-US"/>
          </a:p>
        </p:txBody>
      </p:sp>
    </p:spTree>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3657600" cy="639762"/>
          </a:xfrm>
        </p:spPr>
        <p:txBody>
          <a:bodyPr anchor="b">
            <a:noAutofit/>
          </a:bodyPr>
          <a:lstStyle>
            <a:lvl1pPr marL="0" indent="0" algn="ctr">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365760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419600" y="1535113"/>
            <a:ext cx="3657600" cy="639762"/>
          </a:xfrm>
        </p:spPr>
        <p:txBody>
          <a:bodyPr anchor="b">
            <a:noAutofit/>
          </a:bodyPr>
          <a:lstStyle>
            <a:lvl1pPr marL="0" indent="0" algn="ctr">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419600" y="2174875"/>
            <a:ext cx="365760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99EB23E6-81BA-4693-91E4-EDC5FC946EFF}" type="datetimeFigureOut">
              <a:rPr lang="en-US" smtClean="0"/>
              <a:t>3/3/2012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F613B99-C1EE-4021-AE95-A9B0CAF3309E}" type="slidenum">
              <a:rPr lang="en-US" smtClean="0"/>
              <a:t>‹#›</a:t>
            </a:fld>
            <a:endParaRPr lang="en-US"/>
          </a:p>
        </p:txBody>
      </p:sp>
    </p:spTree>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99EB23E6-81BA-4693-91E4-EDC5FC946EFF}" type="datetimeFigureOut">
              <a:rPr lang="en-US" smtClean="0"/>
              <a:t>3/3/2012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F613B99-C1EE-4021-AE95-A9B0CAF3309E}" type="slidenum">
              <a:rPr lang="en-US" smtClean="0"/>
              <a:t>‹#›</a:t>
            </a:fld>
            <a:endParaRPr lang="en-US"/>
          </a:p>
        </p:txBody>
      </p:sp>
    </p:spTree>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9EB23E6-81BA-4693-91E4-EDC5FC946EFF}" type="datetimeFigureOut">
              <a:rPr lang="en-US" smtClean="0"/>
              <a:t>3/3/2012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F613B99-C1EE-4021-AE95-A9B0CAF3309E}" type="slidenum">
              <a:rPr lang="en-US" smtClean="0"/>
              <a:t>‹#›</a:t>
            </a:fld>
            <a:endParaRPr lang="en-US"/>
          </a:p>
        </p:txBody>
      </p:sp>
    </p:spTree>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4801" y="5495544"/>
            <a:ext cx="7772400" cy="594360"/>
          </a:xfrm>
        </p:spPr>
        <p:txBody>
          <a:bodyPr anchor="b"/>
          <a:lstStyle>
            <a:lvl1pPr algn="ctr">
              <a:defRPr sz="2200" b="1"/>
            </a:lvl1pPr>
          </a:lstStyle>
          <a:p>
            <a:r>
              <a:rPr lang="en-US" smtClean="0"/>
              <a:t>Click to edit Master title style</a:t>
            </a:r>
            <a:endParaRPr lang="en-US" dirty="0"/>
          </a:p>
        </p:txBody>
      </p:sp>
      <p:sp>
        <p:nvSpPr>
          <p:cNvPr id="4" name="Text Placeholder 3"/>
          <p:cNvSpPr>
            <a:spLocks noGrp="1"/>
          </p:cNvSpPr>
          <p:nvPr>
            <p:ph type="body" sz="half" idx="2"/>
          </p:nvPr>
        </p:nvSpPr>
        <p:spPr>
          <a:xfrm>
            <a:off x="304799" y="6096000"/>
            <a:ext cx="7772401" cy="6096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9EB23E6-81BA-4693-91E4-EDC5FC946EFF}" type="datetimeFigureOut">
              <a:rPr lang="en-US" smtClean="0"/>
              <a:t>3/3/2012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F613B99-C1EE-4021-AE95-A9B0CAF3309E}" type="slidenum">
              <a:rPr lang="en-US" smtClean="0"/>
              <a:t>‹#›</a:t>
            </a:fld>
            <a:endParaRPr lang="en-US"/>
          </a:p>
        </p:txBody>
      </p:sp>
      <p:sp>
        <p:nvSpPr>
          <p:cNvPr id="9" name="Content Placeholder 8"/>
          <p:cNvSpPr>
            <a:spLocks noGrp="1"/>
          </p:cNvSpPr>
          <p:nvPr>
            <p:ph sz="quarter" idx="13"/>
          </p:nvPr>
        </p:nvSpPr>
        <p:spPr>
          <a:xfrm>
            <a:off x="304800" y="381000"/>
            <a:ext cx="7772400" cy="494284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1752" y="5495278"/>
            <a:ext cx="7772400" cy="594626"/>
          </a:xfrm>
        </p:spPr>
        <p:txBody>
          <a:bodyPr anchor="b"/>
          <a:lstStyle>
            <a:lvl1pPr algn="ctr">
              <a:defRPr sz="2200" b="1">
                <a:ln>
                  <a:noFill/>
                </a:ln>
                <a:solidFill>
                  <a:schemeClr val="tx2"/>
                </a:solidFill>
              </a:defRPr>
            </a:lvl1pPr>
          </a:lstStyle>
          <a:p>
            <a:r>
              <a:rPr lang="en-US" smtClean="0"/>
              <a:t>Click to edit Master title style</a:t>
            </a:r>
            <a:endParaRPr lang="en-US" dirty="0"/>
          </a:p>
        </p:txBody>
      </p:sp>
      <p:sp>
        <p:nvSpPr>
          <p:cNvPr id="3" name="Picture Placeholder 2"/>
          <p:cNvSpPr>
            <a:spLocks noGrp="1"/>
          </p:cNvSpPr>
          <p:nvPr>
            <p:ph type="pic" idx="1"/>
          </p:nvPr>
        </p:nvSpPr>
        <p:spPr>
          <a:xfrm>
            <a:off x="0" y="0"/>
            <a:ext cx="8458200" cy="54864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301752" y="6096000"/>
            <a:ext cx="7772400" cy="612648"/>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8" name="Date Placeholder 7"/>
          <p:cNvSpPr>
            <a:spLocks noGrp="1"/>
          </p:cNvSpPr>
          <p:nvPr>
            <p:ph type="dt" sz="half" idx="10"/>
          </p:nvPr>
        </p:nvSpPr>
        <p:spPr/>
        <p:txBody>
          <a:bodyPr/>
          <a:lstStyle/>
          <a:p>
            <a:fld id="{99EB23E6-81BA-4693-91E4-EDC5FC946EFF}" type="datetimeFigureOut">
              <a:rPr lang="en-US" smtClean="0"/>
              <a:t>3/3/2012</a:t>
            </a:fld>
            <a:endParaRPr lang="en-US"/>
          </a:p>
        </p:txBody>
      </p:sp>
      <p:sp>
        <p:nvSpPr>
          <p:cNvPr id="9" name="Slide Number Placeholder 8"/>
          <p:cNvSpPr>
            <a:spLocks noGrp="1"/>
          </p:cNvSpPr>
          <p:nvPr>
            <p:ph type="sldNum" sz="quarter" idx="11"/>
          </p:nvPr>
        </p:nvSpPr>
        <p:spPr/>
        <p:txBody>
          <a:bodyPr/>
          <a:lstStyle/>
          <a:p>
            <a:fld id="{2F613B99-C1EE-4021-AE95-A9B0CAF3309E}" type="slidenum">
              <a:rPr lang="en-US" smtClean="0"/>
              <a:t>‹#›</a:t>
            </a:fld>
            <a:endParaRPr lang="en-US"/>
          </a:p>
        </p:txBody>
      </p:sp>
      <p:sp>
        <p:nvSpPr>
          <p:cNvPr id="10" name="Footer Placeholder 9"/>
          <p:cNvSpPr>
            <a:spLocks noGrp="1"/>
          </p:cNvSpPr>
          <p:nvPr>
            <p:ph type="ftr" sz="quarter" idx="12"/>
          </p:nvPr>
        </p:nvSpPr>
        <p:spPr/>
        <p:txBody>
          <a:bodyPr/>
          <a:lstStyle/>
          <a:p>
            <a:endParaRPr lang="en-US"/>
          </a:p>
        </p:txBody>
      </p:sp>
    </p:spTree>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9EB23E6-81BA-4693-91E4-EDC5FC946EFF}" type="datetimeFigureOut">
              <a:rPr lang="en-US" smtClean="0"/>
              <a:t>3/3/2012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F613B99-C1EE-4021-AE95-A9B0CAF3309E}" type="slidenum">
              <a:rPr lang="en-US" smtClean="0"/>
              <a:t>‹#›</a:t>
            </a:fld>
            <a:endParaRPr lang="en-US"/>
          </a:p>
        </p:txBody>
      </p:sp>
    </p:spTree>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1752600" cy="5851525"/>
          </a:xfrm>
        </p:spPr>
        <p:txBody>
          <a:bodyPr vert="eaVert" anchor="b" anchorCtr="0"/>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9EB23E6-81BA-4693-91E4-EDC5FC946EFF}" type="datetimeFigureOut">
              <a:rPr lang="en-US" smtClean="0"/>
              <a:t>3/3/2012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F613B99-C1EE-4021-AE95-A9B0CAF3309E}" type="slidenum">
              <a:rPr lang="en-US" smtClean="0"/>
              <a:t>‹#›</a:t>
            </a:fld>
            <a:endParaRPr lang="en-US"/>
          </a:p>
        </p:txBody>
      </p:sp>
    </p:spTree>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7620000" cy="1143000"/>
          </a:xfrm>
          <a:prstGeom prst="rect">
            <a:avLst/>
          </a:prstGeom>
        </p:spPr>
        <p:txBody>
          <a:bodyPr vert="horz" lIns="91440" tIns="45720" rIns="91440" bIns="45720" rtlCol="0" anchor="ctr">
            <a:noAutofit/>
          </a:bodyPr>
          <a:lstStyle/>
          <a:p>
            <a:r>
              <a:rPr lang="en-US" smtClean="0"/>
              <a:t>Click to edit Master title style</a:t>
            </a:r>
            <a:endParaRPr lang="en-US" dirty="0"/>
          </a:p>
        </p:txBody>
      </p:sp>
      <p:sp>
        <p:nvSpPr>
          <p:cNvPr id="3" name="Text Placeholder 2"/>
          <p:cNvSpPr>
            <a:spLocks noGrp="1"/>
          </p:cNvSpPr>
          <p:nvPr>
            <p:ph type="body" idx="1"/>
          </p:nvPr>
        </p:nvSpPr>
        <p:spPr>
          <a:xfrm>
            <a:off x="457200" y="1600200"/>
            <a:ext cx="7620000" cy="48006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Rectangle 6"/>
          <p:cNvSpPr/>
          <p:nvPr/>
        </p:nvSpPr>
        <p:spPr>
          <a:xfrm>
            <a:off x="8458200" y="0"/>
            <a:ext cx="6858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8458200" y="5486400"/>
            <a:ext cx="685800" cy="6858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p:cNvSpPr>
            <a:spLocks noGrp="1"/>
          </p:cNvSpPr>
          <p:nvPr>
            <p:ph type="sldNum" sz="quarter" idx="4"/>
          </p:nvPr>
        </p:nvSpPr>
        <p:spPr>
          <a:xfrm>
            <a:off x="8531788" y="5648960"/>
            <a:ext cx="548640" cy="396240"/>
          </a:xfrm>
          <a:prstGeom prst="bracketPair">
            <a:avLst>
              <a:gd name="adj" fmla="val 17949"/>
            </a:avLst>
          </a:prstGeom>
          <a:ln w="19050">
            <a:solidFill>
              <a:srgbClr val="FFFFFF"/>
            </a:solidFill>
          </a:ln>
        </p:spPr>
        <p:txBody>
          <a:bodyPr vert="horz" lIns="0" tIns="0" rIns="0" bIns="0" rtlCol="0" anchor="ctr"/>
          <a:lstStyle>
            <a:lvl1pPr algn="ctr">
              <a:defRPr sz="1800">
                <a:solidFill>
                  <a:srgbClr val="FFFFFF"/>
                </a:solidFill>
              </a:defRPr>
            </a:lvl1pPr>
          </a:lstStyle>
          <a:p>
            <a:fld id="{2F613B99-C1EE-4021-AE95-A9B0CAF3309E}" type="slidenum">
              <a:rPr lang="en-US" smtClean="0"/>
              <a:t>‹#›</a:t>
            </a:fld>
            <a:endParaRPr lang="en-US"/>
          </a:p>
        </p:txBody>
      </p:sp>
      <p:sp>
        <p:nvSpPr>
          <p:cNvPr id="5" name="Footer Placeholder 4"/>
          <p:cNvSpPr>
            <a:spLocks noGrp="1"/>
          </p:cNvSpPr>
          <p:nvPr>
            <p:ph type="ftr" sz="quarter" idx="3"/>
          </p:nvPr>
        </p:nvSpPr>
        <p:spPr>
          <a:xfrm rot="16200000">
            <a:off x="7586910" y="4048760"/>
            <a:ext cx="2367281" cy="365760"/>
          </a:xfrm>
          <a:prstGeom prst="rect">
            <a:avLst/>
          </a:prstGeom>
        </p:spPr>
        <p:txBody>
          <a:bodyPr vert="horz" lIns="91440" tIns="45720" rIns="91440" bIns="45720" rtlCol="0" anchor="ctr"/>
          <a:lstStyle>
            <a:lvl1pPr algn="r">
              <a:defRPr sz="1200">
                <a:solidFill>
                  <a:schemeClr val="bg2"/>
                </a:solidFill>
              </a:defRPr>
            </a:lvl1pPr>
          </a:lstStyle>
          <a:p>
            <a:endParaRPr lang="en-US"/>
          </a:p>
        </p:txBody>
      </p:sp>
      <p:sp>
        <p:nvSpPr>
          <p:cNvPr id="4" name="Date Placeholder 3"/>
          <p:cNvSpPr>
            <a:spLocks noGrp="1"/>
          </p:cNvSpPr>
          <p:nvPr>
            <p:ph type="dt" sz="half" idx="2"/>
          </p:nvPr>
        </p:nvSpPr>
        <p:spPr>
          <a:xfrm rot="16200000">
            <a:off x="7551351" y="1645920"/>
            <a:ext cx="2438399" cy="365760"/>
          </a:xfrm>
          <a:prstGeom prst="rect">
            <a:avLst/>
          </a:prstGeom>
        </p:spPr>
        <p:txBody>
          <a:bodyPr vert="horz" lIns="91440" tIns="45720" rIns="91440" bIns="45720" rtlCol="0" anchor="ctr"/>
          <a:lstStyle>
            <a:lvl1pPr algn="l">
              <a:defRPr sz="1200">
                <a:solidFill>
                  <a:schemeClr val="bg2"/>
                </a:solidFill>
              </a:defRPr>
            </a:lvl1pPr>
          </a:lstStyle>
          <a:p>
            <a:fld id="{99EB23E6-81BA-4693-91E4-EDC5FC946EFF}" type="datetimeFigureOut">
              <a:rPr lang="en-US" smtClean="0"/>
              <a:t>3/3/2012</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xStyles>
    <p:titleStyle>
      <a:lvl1pPr algn="l" defTabSz="914400" rtl="0" eaLnBrk="1" latinLnBrk="0" hangingPunct="1">
        <a:spcBef>
          <a:spcPct val="0"/>
        </a:spcBef>
        <a:buNone/>
        <a:defRPr sz="4600" kern="1200" cap="none" spc="-100" baseline="0">
          <a:ln>
            <a:noFill/>
          </a:ln>
          <a:solidFill>
            <a:schemeClr val="tx2"/>
          </a:solidFill>
          <a:effectLst/>
          <a:latin typeface="+mj-lt"/>
          <a:ea typeface="+mj-ea"/>
          <a:cs typeface="+mj-cs"/>
        </a:defRPr>
      </a:lvl1pPr>
    </p:titleStyle>
    <p:body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www.themainebladerunners.net/"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hyperlink" Target="http://www.maine.gov/ifw/fishing/regional_information/region_c.htm" TargetMode="Externa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hyperlink" Target="http://www.mainesportsman.com/forum/viewtopic.php?f=7&amp;t=606&amp;sid=277c37d95adea2eeba27630dcf163e38&amp;start=30" TargetMode="Externa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chart" Target="../charts/chart5.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chart" Target="../charts/chart6.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chart" Target="../charts/chart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hyperlink" Target="http://www.themainebladerunners.net/blog.html" TargetMode="External"/><Relationship Id="rId2" Type="http://schemas.openxmlformats.org/officeDocument/2006/relationships/hyperlink" Target="http://www.mainesportsman.com/forum/viewtopic.php?f=7&amp;t=606" TargetMode="External"/><Relationship Id="rId1" Type="http://schemas.openxmlformats.org/officeDocument/2006/relationships/slideLayout" Target="../slideLayouts/slideLayout5.xml"/><Relationship Id="rId4" Type="http://schemas.openxmlformats.org/officeDocument/2006/relationships/hyperlink" Target="http://www.maine.gov/ifw/commissioners_office/advisorycouncil/minutes/index.htm"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www.themainebladerunners.net/" TargetMode="Externa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09600" y="2819400"/>
            <a:ext cx="7543800" cy="2593975"/>
          </a:xfrm>
        </p:spPr>
        <p:txBody>
          <a:bodyPr/>
          <a:lstStyle/>
          <a:p>
            <a:r>
              <a:rPr lang="en-US" dirty="0" smtClean="0"/>
              <a:t>Grand Falls Flowage </a:t>
            </a:r>
            <a:endParaRPr lang="en-US" dirty="0"/>
          </a:p>
        </p:txBody>
      </p:sp>
      <p:sp>
        <p:nvSpPr>
          <p:cNvPr id="3" name="Subtitle 2"/>
          <p:cNvSpPr>
            <a:spLocks noGrp="1"/>
          </p:cNvSpPr>
          <p:nvPr>
            <p:ph type="subTitle" idx="1"/>
          </p:nvPr>
        </p:nvSpPr>
        <p:spPr>
          <a:xfrm>
            <a:off x="609600" y="5562600"/>
            <a:ext cx="7239000" cy="1066800"/>
          </a:xfrm>
        </p:spPr>
        <p:txBody>
          <a:bodyPr/>
          <a:lstStyle/>
          <a:p>
            <a:pPr algn="ctr"/>
            <a:r>
              <a:rPr lang="en-US" dirty="0" smtClean="0"/>
              <a:t>The Maine Blade Runners</a:t>
            </a:r>
          </a:p>
          <a:p>
            <a:pPr algn="ctr"/>
            <a:r>
              <a:rPr lang="en-US" dirty="0">
                <a:hlinkClick r:id="rId2"/>
              </a:rPr>
              <a:t>http://www.themainebladerunners.net</a:t>
            </a:r>
            <a:r>
              <a:rPr lang="en-US" dirty="0" smtClean="0">
                <a:hlinkClick r:id="rId2"/>
              </a:rPr>
              <a:t>/</a:t>
            </a:r>
            <a:r>
              <a:rPr lang="en-US" dirty="0" smtClean="0"/>
              <a:t>  </a:t>
            </a:r>
            <a:endParaRPr lang="en-US" dirty="0"/>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54036" y="762000"/>
            <a:ext cx="2586052" cy="2362200"/>
          </a:xfrm>
          <a:prstGeom prst="rect">
            <a:avLst/>
          </a:prstGeom>
        </p:spPr>
      </p:pic>
    </p:spTree>
    <p:extLst>
      <p:ext uri="{BB962C8B-B14F-4D97-AF65-F5344CB8AC3E}">
        <p14:creationId xmlns:p14="http://schemas.microsoft.com/office/powerpoint/2010/main" val="3385662531"/>
      </p:ext>
    </p:extLst>
  </p:cSld>
  <p:clrMapOvr>
    <a:masterClrMapping/>
  </p:clrMapOvr>
  <mc:AlternateContent xmlns:mc="http://schemas.openxmlformats.org/markup-compatibility/2006" xmlns:p14="http://schemas.microsoft.com/office/powerpoint/2010/main">
    <mc:Choice Requires="p14">
      <p:transition spd="slow" p14:dur="3000">
        <p14:flythrough/>
      </p:transition>
    </mc:Choice>
    <mc:Fallback xmlns="">
      <p:transition spd="slow">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Content Placeholder 2"/>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533400" y="762000"/>
            <a:ext cx="7324453" cy="5410200"/>
          </a:xfrm>
        </p:spPr>
      </p:pic>
    </p:spTree>
    <p:extLst>
      <p:ext uri="{BB962C8B-B14F-4D97-AF65-F5344CB8AC3E}">
        <p14:creationId xmlns:p14="http://schemas.microsoft.com/office/powerpoint/2010/main" val="796375800"/>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914400"/>
            <a:ext cx="7620000" cy="5181600"/>
          </a:xfrm>
        </p:spPr>
        <p:txBody>
          <a:bodyPr/>
          <a:lstStyle/>
          <a:p>
            <a:pPr algn="ctr"/>
            <a:r>
              <a:rPr lang="en-US" sz="4800" b="1" dirty="0" smtClean="0"/>
              <a:t>The issue:</a:t>
            </a:r>
            <a:r>
              <a:rPr lang="en-US" sz="2800" b="1" dirty="0" smtClean="0"/>
              <a:t/>
            </a:r>
            <a:br>
              <a:rPr lang="en-US" sz="2800" b="1" dirty="0" smtClean="0"/>
            </a:br>
            <a:r>
              <a:rPr lang="en-US" sz="2000" dirty="0" smtClean="0"/>
              <a:t/>
            </a:r>
            <a:br>
              <a:rPr lang="en-US" sz="2000" dirty="0" smtClean="0"/>
            </a:br>
            <a:r>
              <a:rPr lang="en-US" sz="2800" dirty="0" smtClean="0"/>
              <a:t>On February 9, 2012, the Maine Blade Runners received notice that ALL permits  on Grand Falls Flowage were being denied after years of successful events on this body of water  </a:t>
            </a:r>
            <a:r>
              <a:rPr lang="en-US" sz="2000" dirty="0" smtClean="0"/>
              <a:t/>
            </a:r>
            <a:br>
              <a:rPr lang="en-US" sz="2000" dirty="0" smtClean="0"/>
            </a:br>
            <a:r>
              <a:rPr lang="en-US" sz="2000" dirty="0"/>
              <a:t/>
            </a:r>
            <a:br>
              <a:rPr lang="en-US" sz="2000" dirty="0"/>
            </a:br>
            <a:r>
              <a:rPr lang="en-US" sz="6600" b="1" dirty="0" smtClean="0"/>
              <a:t>Why?</a:t>
            </a:r>
            <a:endParaRPr lang="en-US" sz="5400" b="1" dirty="0"/>
          </a:p>
        </p:txBody>
      </p:sp>
    </p:spTree>
    <p:extLst>
      <p:ext uri="{BB962C8B-B14F-4D97-AF65-F5344CB8AC3E}">
        <p14:creationId xmlns:p14="http://schemas.microsoft.com/office/powerpoint/2010/main" val="628510223"/>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457200"/>
            <a:ext cx="7848600" cy="6172200"/>
          </a:xfrm>
        </p:spPr>
        <p:txBody>
          <a:bodyPr/>
          <a:lstStyle/>
          <a:p>
            <a:r>
              <a:rPr lang="en-US" sz="2000" dirty="0" smtClean="0">
                <a:solidFill>
                  <a:schemeClr val="tx1"/>
                </a:solidFill>
              </a:rPr>
              <a:t>Maine Blade Runners President Matt Mitchell:</a:t>
            </a:r>
            <a:br>
              <a:rPr lang="en-US" sz="2000" dirty="0" smtClean="0">
                <a:solidFill>
                  <a:schemeClr val="tx1"/>
                </a:solidFill>
              </a:rPr>
            </a:br>
            <a:r>
              <a:rPr lang="en-US" sz="2000" dirty="0" smtClean="0">
                <a:solidFill>
                  <a:schemeClr val="tx1"/>
                </a:solidFill>
              </a:rPr>
              <a:t/>
            </a:r>
            <a:br>
              <a:rPr lang="en-US" sz="2000" dirty="0" smtClean="0">
                <a:solidFill>
                  <a:schemeClr val="tx1"/>
                </a:solidFill>
              </a:rPr>
            </a:br>
            <a:r>
              <a:rPr lang="en-US" sz="2000" dirty="0" smtClean="0">
                <a:solidFill>
                  <a:schemeClr val="tx1"/>
                </a:solidFill>
              </a:rPr>
              <a:t>“</a:t>
            </a:r>
            <a:r>
              <a:rPr lang="en-US" sz="1600" dirty="0" smtClean="0">
                <a:solidFill>
                  <a:schemeClr val="tx1"/>
                </a:solidFill>
              </a:rPr>
              <a:t>If </a:t>
            </a:r>
            <a:r>
              <a:rPr lang="en-US" sz="1600" dirty="0">
                <a:solidFill>
                  <a:schemeClr val="tx1"/>
                </a:solidFill>
              </a:rPr>
              <a:t>I, or any of my members truly felt this was a needed decision, we </a:t>
            </a:r>
            <a:r>
              <a:rPr lang="en-US" sz="1600" dirty="0" smtClean="0">
                <a:solidFill>
                  <a:schemeClr val="tx1"/>
                </a:solidFill>
              </a:rPr>
              <a:t>definitely </a:t>
            </a:r>
            <a:r>
              <a:rPr lang="en-US" sz="1600" dirty="0">
                <a:solidFill>
                  <a:schemeClr val="tx1"/>
                </a:solidFill>
              </a:rPr>
              <a:t>would back IFW on this. I and many others surely can see that this decision was based completely </a:t>
            </a:r>
            <a:r>
              <a:rPr lang="en-US" sz="1600" dirty="0" smtClean="0">
                <a:solidFill>
                  <a:schemeClr val="tx1"/>
                </a:solidFill>
              </a:rPr>
              <a:t>on the desires of special interests.  </a:t>
            </a:r>
            <a:r>
              <a:rPr lang="en-US" sz="1600" dirty="0">
                <a:solidFill>
                  <a:schemeClr val="tx1"/>
                </a:solidFill>
              </a:rPr>
              <a:t>I have no issue with anyone trying to make a living off the waters of the state of Maine. </a:t>
            </a:r>
            <a:r>
              <a:rPr lang="en-US" sz="1600" dirty="0" smtClean="0">
                <a:solidFill>
                  <a:schemeClr val="tx1"/>
                </a:solidFill>
              </a:rPr>
              <a:t> I </a:t>
            </a:r>
            <a:r>
              <a:rPr lang="en-US" sz="1600" dirty="0">
                <a:solidFill>
                  <a:schemeClr val="tx1"/>
                </a:solidFill>
              </a:rPr>
              <a:t>always have been a strong promoter of catch and release, but </a:t>
            </a:r>
            <a:r>
              <a:rPr lang="en-US" sz="1600" dirty="0" smtClean="0">
                <a:solidFill>
                  <a:schemeClr val="tx1"/>
                </a:solidFill>
              </a:rPr>
              <a:t>that's </a:t>
            </a:r>
            <a:r>
              <a:rPr lang="en-US" sz="1600" dirty="0">
                <a:solidFill>
                  <a:schemeClr val="tx1"/>
                </a:solidFill>
              </a:rPr>
              <a:t>my </a:t>
            </a:r>
            <a:r>
              <a:rPr lang="en-US" sz="1600" dirty="0" smtClean="0">
                <a:solidFill>
                  <a:schemeClr val="tx1"/>
                </a:solidFill>
              </a:rPr>
              <a:t>choice.  On </a:t>
            </a:r>
            <a:r>
              <a:rPr lang="en-US" sz="1600" dirty="0">
                <a:solidFill>
                  <a:schemeClr val="tx1"/>
                </a:solidFill>
              </a:rPr>
              <a:t>the other hand, I do not condemn people for eating what they catch, </a:t>
            </a:r>
            <a:r>
              <a:rPr lang="en-US" sz="1600" dirty="0" smtClean="0">
                <a:solidFill>
                  <a:schemeClr val="tx1"/>
                </a:solidFill>
              </a:rPr>
              <a:t>that's </a:t>
            </a:r>
            <a:r>
              <a:rPr lang="en-US" sz="1600" dirty="0">
                <a:solidFill>
                  <a:schemeClr val="tx1"/>
                </a:solidFill>
              </a:rPr>
              <a:t>their choice. </a:t>
            </a:r>
            <a:r>
              <a:rPr lang="en-US" sz="1600" dirty="0" smtClean="0">
                <a:solidFill>
                  <a:schemeClr val="tx1"/>
                </a:solidFill>
              </a:rPr>
              <a:t> </a:t>
            </a:r>
            <a:br>
              <a:rPr lang="en-US" sz="1600" dirty="0" smtClean="0">
                <a:solidFill>
                  <a:schemeClr val="tx1"/>
                </a:solidFill>
              </a:rPr>
            </a:br>
            <a:r>
              <a:rPr lang="en-US" sz="1600" dirty="0">
                <a:solidFill>
                  <a:schemeClr val="tx1"/>
                </a:solidFill>
              </a:rPr>
              <a:t/>
            </a:r>
            <a:br>
              <a:rPr lang="en-US" sz="1600" dirty="0">
                <a:solidFill>
                  <a:schemeClr val="tx1"/>
                </a:solidFill>
              </a:rPr>
            </a:br>
            <a:r>
              <a:rPr lang="en-US" sz="1600" dirty="0" smtClean="0">
                <a:solidFill>
                  <a:schemeClr val="tx1"/>
                </a:solidFill>
              </a:rPr>
              <a:t>Bottom </a:t>
            </a:r>
            <a:r>
              <a:rPr lang="en-US" sz="1600" dirty="0">
                <a:solidFill>
                  <a:schemeClr val="tx1"/>
                </a:solidFill>
              </a:rPr>
              <a:t>line of this issue is, why does catch and release mean NO BASS </a:t>
            </a:r>
            <a:r>
              <a:rPr lang="en-US" sz="1600" dirty="0" smtClean="0">
                <a:solidFill>
                  <a:schemeClr val="tx1"/>
                </a:solidFill>
              </a:rPr>
              <a:t>TOURNAMENTS?  We </a:t>
            </a:r>
            <a:r>
              <a:rPr lang="en-US" sz="1600" dirty="0">
                <a:solidFill>
                  <a:schemeClr val="tx1"/>
                </a:solidFill>
              </a:rPr>
              <a:t>may not release our fish immediately after they're caught, but </a:t>
            </a:r>
            <a:r>
              <a:rPr lang="en-US" sz="1600" dirty="0" smtClean="0">
                <a:solidFill>
                  <a:schemeClr val="tx1"/>
                </a:solidFill>
              </a:rPr>
              <a:t>they all are </a:t>
            </a:r>
            <a:r>
              <a:rPr lang="en-US" sz="1600" dirty="0">
                <a:solidFill>
                  <a:schemeClr val="tx1"/>
                </a:solidFill>
              </a:rPr>
              <a:t>released alive at the end of the day</a:t>
            </a:r>
            <a:r>
              <a:rPr lang="en-US" sz="1600" dirty="0" smtClean="0">
                <a:solidFill>
                  <a:schemeClr val="tx1"/>
                </a:solidFill>
              </a:rPr>
              <a:t>.  </a:t>
            </a:r>
            <a:r>
              <a:rPr lang="en-US" sz="1600" dirty="0">
                <a:solidFill>
                  <a:schemeClr val="tx1"/>
                </a:solidFill>
              </a:rPr>
              <a:t>I cannot make the connection between the two issues. </a:t>
            </a:r>
            <a:r>
              <a:rPr lang="en-US" sz="1600" dirty="0" smtClean="0">
                <a:solidFill>
                  <a:schemeClr val="tx1"/>
                </a:solidFill>
              </a:rPr>
              <a:t> I </a:t>
            </a:r>
            <a:r>
              <a:rPr lang="en-US" sz="1600" dirty="0">
                <a:solidFill>
                  <a:schemeClr val="tx1"/>
                </a:solidFill>
              </a:rPr>
              <a:t>was first told </a:t>
            </a:r>
            <a:r>
              <a:rPr lang="en-US" sz="1600" dirty="0" smtClean="0">
                <a:solidFill>
                  <a:schemeClr val="tx1"/>
                </a:solidFill>
              </a:rPr>
              <a:t>by MDIFW Fisheries Director </a:t>
            </a:r>
            <a:r>
              <a:rPr lang="en-US" sz="1600" dirty="0">
                <a:solidFill>
                  <a:schemeClr val="tx1"/>
                </a:solidFill>
              </a:rPr>
              <a:t>Mike </a:t>
            </a:r>
            <a:r>
              <a:rPr lang="en-US" sz="1600" dirty="0" smtClean="0">
                <a:solidFill>
                  <a:schemeClr val="tx1"/>
                </a:solidFill>
              </a:rPr>
              <a:t>Brown that this </a:t>
            </a:r>
            <a:r>
              <a:rPr lang="en-US" sz="1600" dirty="0">
                <a:solidFill>
                  <a:schemeClr val="tx1"/>
                </a:solidFill>
              </a:rPr>
              <a:t>was a small fish issue, then it went to </a:t>
            </a:r>
            <a:r>
              <a:rPr lang="en-US" sz="1600" dirty="0" smtClean="0">
                <a:solidFill>
                  <a:schemeClr val="tx1"/>
                </a:solidFill>
              </a:rPr>
              <a:t>fisherman's </a:t>
            </a:r>
            <a:r>
              <a:rPr lang="en-US" sz="1600" dirty="0">
                <a:solidFill>
                  <a:schemeClr val="tx1"/>
                </a:solidFill>
              </a:rPr>
              <a:t>input, then a habitat concern because of the re-introduction of alewives. </a:t>
            </a:r>
            <a:r>
              <a:rPr lang="en-US" sz="1600" dirty="0" smtClean="0">
                <a:solidFill>
                  <a:schemeClr val="tx1"/>
                </a:solidFill>
              </a:rPr>
              <a:t> We </a:t>
            </a:r>
            <a:r>
              <a:rPr lang="en-US" sz="1600" dirty="0">
                <a:solidFill>
                  <a:schemeClr val="tx1"/>
                </a:solidFill>
              </a:rPr>
              <a:t>fish </a:t>
            </a:r>
            <a:r>
              <a:rPr lang="en-US" sz="1600" dirty="0" smtClean="0">
                <a:solidFill>
                  <a:schemeClr val="tx1"/>
                </a:solidFill>
              </a:rPr>
              <a:t>a lot </a:t>
            </a:r>
            <a:r>
              <a:rPr lang="en-US" sz="1600" dirty="0">
                <a:solidFill>
                  <a:schemeClr val="tx1"/>
                </a:solidFill>
              </a:rPr>
              <a:t>of lakes that contain alewives. Its a major food source for bass. </a:t>
            </a:r>
            <a:r>
              <a:rPr lang="en-US" sz="1600" dirty="0" smtClean="0">
                <a:solidFill>
                  <a:schemeClr val="tx1"/>
                </a:solidFill>
              </a:rPr>
              <a:t> Mr</a:t>
            </a:r>
            <a:r>
              <a:rPr lang="en-US" sz="1600" dirty="0">
                <a:solidFill>
                  <a:schemeClr val="tx1"/>
                </a:solidFill>
              </a:rPr>
              <a:t>. Brown stated alewives ruined </a:t>
            </a:r>
            <a:r>
              <a:rPr lang="en-US" sz="1600" dirty="0" err="1">
                <a:solidFill>
                  <a:schemeClr val="tx1"/>
                </a:solidFill>
              </a:rPr>
              <a:t>Spednik</a:t>
            </a:r>
            <a:r>
              <a:rPr lang="en-US" sz="1600" dirty="0">
                <a:solidFill>
                  <a:schemeClr val="tx1"/>
                </a:solidFill>
              </a:rPr>
              <a:t> </a:t>
            </a:r>
            <a:r>
              <a:rPr lang="en-US" sz="1600" dirty="0" smtClean="0">
                <a:solidFill>
                  <a:schemeClr val="tx1"/>
                </a:solidFill>
              </a:rPr>
              <a:t>Lake.  </a:t>
            </a:r>
            <a:r>
              <a:rPr lang="en-US" sz="1600" dirty="0">
                <a:solidFill>
                  <a:schemeClr val="tx1"/>
                </a:solidFill>
              </a:rPr>
              <a:t>I stated that alewives did not ruin that lake but when IFW took out the dam to allow alewives back into that fishery, the water level dropped below the spawning beds of the bass and killed all the spawn. </a:t>
            </a:r>
            <a:r>
              <a:rPr lang="en-US" sz="1600" dirty="0" smtClean="0">
                <a:solidFill>
                  <a:schemeClr val="tx1"/>
                </a:solidFill>
              </a:rPr>
              <a:t> Mr</a:t>
            </a:r>
            <a:r>
              <a:rPr lang="en-US" sz="1600" dirty="0">
                <a:solidFill>
                  <a:schemeClr val="tx1"/>
                </a:solidFill>
              </a:rPr>
              <a:t>. Brown admitted this was true, but only </a:t>
            </a:r>
            <a:r>
              <a:rPr lang="en-US" sz="1600" dirty="0" smtClean="0">
                <a:solidFill>
                  <a:schemeClr val="tx1"/>
                </a:solidFill>
              </a:rPr>
              <a:t>one </a:t>
            </a:r>
            <a:r>
              <a:rPr lang="en-US" sz="1600" dirty="0">
                <a:solidFill>
                  <a:schemeClr val="tx1"/>
                </a:solidFill>
              </a:rPr>
              <a:t>factor on the bass decline in that lake. </a:t>
            </a:r>
            <a:r>
              <a:rPr lang="en-US" sz="1600" dirty="0" smtClean="0">
                <a:solidFill>
                  <a:schemeClr val="tx1"/>
                </a:solidFill>
              </a:rPr>
              <a:t> </a:t>
            </a:r>
            <a:br>
              <a:rPr lang="en-US" sz="1600" dirty="0" smtClean="0">
                <a:solidFill>
                  <a:schemeClr val="tx1"/>
                </a:solidFill>
              </a:rPr>
            </a:br>
            <a:r>
              <a:rPr lang="en-US" sz="1600" dirty="0">
                <a:solidFill>
                  <a:schemeClr val="tx1"/>
                </a:solidFill>
              </a:rPr>
              <a:t/>
            </a:r>
            <a:br>
              <a:rPr lang="en-US" sz="1600" dirty="0">
                <a:solidFill>
                  <a:schemeClr val="tx1"/>
                </a:solidFill>
              </a:rPr>
            </a:br>
            <a:r>
              <a:rPr lang="en-US" sz="1600" dirty="0" smtClean="0">
                <a:solidFill>
                  <a:schemeClr val="tx1"/>
                </a:solidFill>
              </a:rPr>
              <a:t>I </a:t>
            </a:r>
            <a:r>
              <a:rPr lang="en-US" sz="1600" dirty="0">
                <a:solidFill>
                  <a:schemeClr val="tx1"/>
                </a:solidFill>
              </a:rPr>
              <a:t>also find it very interesting that I was told this on the deadline day of bass tournament permits being issued. </a:t>
            </a:r>
            <a:r>
              <a:rPr lang="en-US" sz="1600" dirty="0" smtClean="0">
                <a:solidFill>
                  <a:schemeClr val="tx1"/>
                </a:solidFill>
              </a:rPr>
              <a:t> It </a:t>
            </a:r>
            <a:r>
              <a:rPr lang="en-US" sz="1600" dirty="0">
                <a:solidFill>
                  <a:schemeClr val="tx1"/>
                </a:solidFill>
              </a:rPr>
              <a:t>was no secret that we were drawing permits on GFF, our club has done it for years. Plus, we drew them at an open meeting held every winter just for bass tournament permits. </a:t>
            </a:r>
            <a:r>
              <a:rPr lang="en-US" sz="1600" dirty="0" smtClean="0">
                <a:solidFill>
                  <a:schemeClr val="tx1"/>
                </a:solidFill>
              </a:rPr>
              <a:t> This </a:t>
            </a:r>
            <a:r>
              <a:rPr lang="en-US" sz="1600" dirty="0">
                <a:solidFill>
                  <a:schemeClr val="tx1"/>
                </a:solidFill>
              </a:rPr>
              <a:t>was on Jan. 12, 2012 in Augusta. Seems to me if this was a real issue, they would have known before Jan. 12, 2012. They knew Feb. </a:t>
            </a:r>
            <a:r>
              <a:rPr lang="en-US" sz="1600" dirty="0" smtClean="0">
                <a:solidFill>
                  <a:schemeClr val="tx1"/>
                </a:solidFill>
              </a:rPr>
              <a:t>9, </a:t>
            </a:r>
            <a:r>
              <a:rPr lang="en-US" sz="1600" dirty="0">
                <a:solidFill>
                  <a:schemeClr val="tx1"/>
                </a:solidFill>
              </a:rPr>
              <a:t>2012, the day my applications were denied. </a:t>
            </a:r>
            <a:r>
              <a:rPr lang="en-US" sz="1600" dirty="0" smtClean="0">
                <a:solidFill>
                  <a:schemeClr val="tx1"/>
                </a:solidFill>
              </a:rPr>
              <a:t>“</a:t>
            </a:r>
            <a:endParaRPr lang="en-US" sz="1600" dirty="0">
              <a:solidFill>
                <a:schemeClr val="tx1"/>
              </a:solidFill>
            </a:endParaRPr>
          </a:p>
        </p:txBody>
      </p:sp>
    </p:spTree>
    <p:extLst>
      <p:ext uri="{BB962C8B-B14F-4D97-AF65-F5344CB8AC3E}">
        <p14:creationId xmlns:p14="http://schemas.microsoft.com/office/powerpoint/2010/main" val="2797244801"/>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914400"/>
            <a:ext cx="7620000" cy="5181600"/>
          </a:xfrm>
        </p:spPr>
        <p:txBody>
          <a:bodyPr/>
          <a:lstStyle/>
          <a:p>
            <a:pPr algn="ctr"/>
            <a:r>
              <a:rPr lang="en-US" dirty="0" smtClean="0"/>
              <a:t>Is there another reason?</a:t>
            </a:r>
            <a:endParaRPr lang="en-US" dirty="0"/>
          </a:p>
        </p:txBody>
      </p:sp>
    </p:spTree>
    <p:extLst>
      <p:ext uri="{BB962C8B-B14F-4D97-AF65-F5344CB8AC3E}">
        <p14:creationId xmlns:p14="http://schemas.microsoft.com/office/powerpoint/2010/main" val="3668290360"/>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sz="half" idx="2"/>
          </p:nvPr>
        </p:nvSpPr>
        <p:spPr>
          <a:xfrm>
            <a:off x="228600" y="1143000"/>
            <a:ext cx="7924800" cy="5410200"/>
          </a:xfrm>
        </p:spPr>
        <p:txBody>
          <a:bodyPr>
            <a:normAutofit fontScale="85000" lnSpcReduction="20000"/>
          </a:bodyPr>
          <a:lstStyle/>
          <a:p>
            <a:r>
              <a:rPr lang="en-US" dirty="0" smtClean="0"/>
              <a:t>“The </a:t>
            </a:r>
            <a:r>
              <a:rPr lang="en-US" dirty="0"/>
              <a:t>flowage, it was the first time our biologists and the Indian biologist had worked together. </a:t>
            </a:r>
            <a:r>
              <a:rPr lang="en-US" dirty="0" smtClean="0"/>
              <a:t>“</a:t>
            </a:r>
          </a:p>
          <a:p>
            <a:r>
              <a:rPr lang="en-US" dirty="0" smtClean="0"/>
              <a:t>“Mr</a:t>
            </a:r>
            <a:r>
              <a:rPr lang="en-US" dirty="0"/>
              <a:t>. Wheaton presented a letter from Long Lake Camps. On the St. Croix watershed on the West Branch we had Big Lake, Long Lake, Louis Lake and the flowage. The bass fishery is world renowned on the flowage. He belonged to the Grand Lake Guide’s Association, the Maine State Guide Association, etc. </a:t>
            </a:r>
            <a:r>
              <a:rPr lang="en-US" b="1" u="sng" dirty="0"/>
              <a:t>Recently, the fishing on the flowage had gotten so bad (1/2 the water was Passamaquoddy water) </a:t>
            </a:r>
            <a:r>
              <a:rPr lang="en-US" dirty="0"/>
              <a:t>leading into Louis Lake and Long Lake where the reservation was. They recently voted to go to no kill. Many years ago </a:t>
            </a:r>
            <a:r>
              <a:rPr lang="en-US" dirty="0" err="1"/>
              <a:t>Spednik</a:t>
            </a:r>
            <a:r>
              <a:rPr lang="en-US" dirty="0"/>
              <a:t> Lake had many articles written (that’s on the East Branch of the St. Croix river) about the fabulous fishery. Then came the introduction of alewives. They were stocked without any input from IF&amp;W. They did not have to prove they were detrimental to the fishery. Finally through legislation the people there fought and got alewives stopped from running above Grand Falls. The fish had deteriorated in </a:t>
            </a:r>
            <a:r>
              <a:rPr lang="en-US" dirty="0" err="1"/>
              <a:t>Spednik</a:t>
            </a:r>
            <a:r>
              <a:rPr lang="en-US" dirty="0"/>
              <a:t> Lake while the alewives were there. Mr. Wheaton stated he had fished there for 50 years. The land trusts had bought all the land around the lake, so it was complete wilderness. The fishing was so bad he went from 80 to 100 fish per day, down to 1 and some days none. </a:t>
            </a:r>
            <a:r>
              <a:rPr lang="en-US" dirty="0" smtClean="0"/>
              <a:t>“</a:t>
            </a:r>
            <a:endParaRPr lang="en-US" dirty="0"/>
          </a:p>
        </p:txBody>
      </p:sp>
      <p:sp>
        <p:nvSpPr>
          <p:cNvPr id="2" name="Title 1"/>
          <p:cNvSpPr>
            <a:spLocks noGrp="1"/>
          </p:cNvSpPr>
          <p:nvPr>
            <p:ph type="title"/>
          </p:nvPr>
        </p:nvSpPr>
        <p:spPr>
          <a:xfrm>
            <a:off x="381000" y="152400"/>
            <a:ext cx="7620000" cy="1143000"/>
          </a:xfrm>
        </p:spPr>
        <p:txBody>
          <a:bodyPr/>
          <a:lstStyle/>
          <a:p>
            <a:pPr algn="ctr"/>
            <a:r>
              <a:rPr lang="en-US" sz="3200" dirty="0" smtClean="0"/>
              <a:t>IFW Advisory Committee Minutes 9/28/11:</a:t>
            </a:r>
            <a:endParaRPr lang="en-US" sz="3200" dirty="0"/>
          </a:p>
        </p:txBody>
      </p:sp>
    </p:spTree>
    <p:extLst>
      <p:ext uri="{BB962C8B-B14F-4D97-AF65-F5344CB8AC3E}">
        <p14:creationId xmlns:p14="http://schemas.microsoft.com/office/powerpoint/2010/main" val="2633530265"/>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sz="half" idx="2"/>
          </p:nvPr>
        </p:nvSpPr>
        <p:spPr>
          <a:xfrm>
            <a:off x="457200" y="1295400"/>
            <a:ext cx="7696200" cy="5257800"/>
          </a:xfrm>
        </p:spPr>
        <p:txBody>
          <a:bodyPr>
            <a:normAutofit fontScale="92500" lnSpcReduction="10000"/>
          </a:bodyPr>
          <a:lstStyle/>
          <a:p>
            <a:r>
              <a:rPr lang="en-US" dirty="0"/>
              <a:t>Mr. Wheaton stated most of them had read about alewives getting into the St. Croix and going to </a:t>
            </a:r>
            <a:r>
              <a:rPr lang="en-US" dirty="0" err="1"/>
              <a:t>Spednik</a:t>
            </a:r>
            <a:r>
              <a:rPr lang="en-US" dirty="0"/>
              <a:t> Lake and annihilating the fishery. With diving biologists there were so few fish that we had to bring in fish from other lakes to restock the lake. It was determined to go to a catch and release program so the population could rebuild. The fishery was now starting to come back. </a:t>
            </a:r>
            <a:r>
              <a:rPr lang="en-US" b="1" u="sng" dirty="0"/>
              <a:t>For some reason, the flowage had gone down hill. The catch rate was almost zero. The Indians wanted to close it to catch and release. Greg Burr, regional fishery biologist decided that might be a good idea and everyone in the region was in favor. It had been brought to Mr. Wheaton by many guides and camp owners on Long Lake and Big Lake that they would like to see the regulation brought to Big, Long and Louis Lakes. </a:t>
            </a:r>
            <a:r>
              <a:rPr lang="en-US" dirty="0"/>
              <a:t>This was what Mr. Wheaton had wanted to address in the catch and release portion of his request.</a:t>
            </a:r>
          </a:p>
        </p:txBody>
      </p:sp>
      <p:sp>
        <p:nvSpPr>
          <p:cNvPr id="2" name="Title 1"/>
          <p:cNvSpPr>
            <a:spLocks noGrp="1"/>
          </p:cNvSpPr>
          <p:nvPr>
            <p:ph type="title"/>
          </p:nvPr>
        </p:nvSpPr>
        <p:spPr/>
        <p:txBody>
          <a:bodyPr/>
          <a:lstStyle/>
          <a:p>
            <a:pPr algn="ctr"/>
            <a:r>
              <a:rPr lang="en-US" sz="3200" dirty="0"/>
              <a:t>IFW Advisory Committee Minutes 9/28/11:</a:t>
            </a:r>
          </a:p>
        </p:txBody>
      </p:sp>
    </p:spTree>
    <p:extLst>
      <p:ext uri="{BB962C8B-B14F-4D97-AF65-F5344CB8AC3E}">
        <p14:creationId xmlns:p14="http://schemas.microsoft.com/office/powerpoint/2010/main" val="1907218793"/>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sz="half" idx="2"/>
          </p:nvPr>
        </p:nvSpPr>
        <p:spPr>
          <a:xfrm>
            <a:off x="228600" y="1295400"/>
            <a:ext cx="7924800" cy="5334000"/>
          </a:xfrm>
        </p:spPr>
        <p:txBody>
          <a:bodyPr>
            <a:normAutofit fontScale="85000" lnSpcReduction="10000"/>
          </a:bodyPr>
          <a:lstStyle/>
          <a:p>
            <a:r>
              <a:rPr lang="en-US" dirty="0"/>
              <a:t>Mr. Wheaton stated in talking with IF&amp;W biologists of Enfield and Jonesboro they did health studies on Meddybemps Lake and </a:t>
            </a:r>
            <a:r>
              <a:rPr lang="en-US" dirty="0" err="1"/>
              <a:t>Baskehegan</a:t>
            </a:r>
            <a:r>
              <a:rPr lang="en-US" dirty="0"/>
              <a:t> Lake and the fish were put into tanks and transported to </a:t>
            </a:r>
            <a:r>
              <a:rPr lang="en-US" dirty="0" err="1"/>
              <a:t>Spednik</a:t>
            </a:r>
            <a:r>
              <a:rPr lang="en-US" dirty="0"/>
              <a:t> Lake to restock it. On Meddybemps approximately 1400 bass were taken and released and the following year they went to </a:t>
            </a:r>
            <a:r>
              <a:rPr lang="en-US" dirty="0" err="1"/>
              <a:t>Baskahegan</a:t>
            </a:r>
            <a:r>
              <a:rPr lang="en-US" dirty="0"/>
              <a:t> Lake and another 1200 were caught and released. </a:t>
            </a:r>
            <a:r>
              <a:rPr lang="en-US" dirty="0" err="1"/>
              <a:t>Spednik</a:t>
            </a:r>
            <a:r>
              <a:rPr lang="en-US" dirty="0"/>
              <a:t> Lake had been made catch and release only. The large class of fish was not there yet. The 4-5 lb. class of smallmouth was not there, but it took 25 years to get a fish that big. They were catching fish. The guides of Grand Lake Stream, Big Lake, Long Lake, Louis Lake and the flowage had decreased because they were keeping fish. Many sports were going to </a:t>
            </a:r>
            <a:r>
              <a:rPr lang="en-US" dirty="0" err="1"/>
              <a:t>Spednik</a:t>
            </a:r>
            <a:r>
              <a:rPr lang="en-US" dirty="0"/>
              <a:t> Lake. The lake would support catch and release. People did not want to travel. License revenues were coming in to fish </a:t>
            </a:r>
            <a:r>
              <a:rPr lang="en-US" dirty="0" err="1"/>
              <a:t>Spednik</a:t>
            </a:r>
            <a:r>
              <a:rPr lang="en-US" dirty="0"/>
              <a:t> Lake 50 miles away. The Indians voted to go to catch and release. </a:t>
            </a:r>
            <a:r>
              <a:rPr lang="en-US" b="1" u="sng" dirty="0"/>
              <a:t>Long Lake camps would like to see a few lakes in the area go catch and release. They believed we would see increased revenue and increased work for guides. Mr. Wheaton stated he had talked to fish biologist Greg Burr and he was supportive.</a:t>
            </a:r>
          </a:p>
        </p:txBody>
      </p:sp>
      <p:sp>
        <p:nvSpPr>
          <p:cNvPr id="2" name="Title 1"/>
          <p:cNvSpPr>
            <a:spLocks noGrp="1"/>
          </p:cNvSpPr>
          <p:nvPr>
            <p:ph type="title"/>
          </p:nvPr>
        </p:nvSpPr>
        <p:spPr>
          <a:xfrm>
            <a:off x="457200" y="0"/>
            <a:ext cx="7620000" cy="1143000"/>
          </a:xfrm>
        </p:spPr>
        <p:txBody>
          <a:bodyPr/>
          <a:lstStyle/>
          <a:p>
            <a:pPr algn="ctr"/>
            <a:r>
              <a:rPr lang="en-US" sz="3200" dirty="0"/>
              <a:t>IFW Advisory Committee Minutes 9/28/11:</a:t>
            </a:r>
          </a:p>
        </p:txBody>
      </p:sp>
    </p:spTree>
    <p:extLst>
      <p:ext uri="{BB962C8B-B14F-4D97-AF65-F5344CB8AC3E}">
        <p14:creationId xmlns:p14="http://schemas.microsoft.com/office/powerpoint/2010/main" val="2066856534"/>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914400"/>
            <a:ext cx="7620000" cy="5181600"/>
          </a:xfrm>
        </p:spPr>
        <p:txBody>
          <a:bodyPr/>
          <a:lstStyle/>
          <a:p>
            <a:pPr algn="ctr"/>
            <a:r>
              <a:rPr lang="en-US" dirty="0" smtClean="0"/>
              <a:t>Information from MDIFW</a:t>
            </a:r>
            <a:endParaRPr lang="en-US" dirty="0"/>
          </a:p>
        </p:txBody>
      </p:sp>
    </p:spTree>
    <p:extLst>
      <p:ext uri="{BB962C8B-B14F-4D97-AF65-F5344CB8AC3E}">
        <p14:creationId xmlns:p14="http://schemas.microsoft.com/office/powerpoint/2010/main" val="4080099274"/>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sz="half" idx="2"/>
          </p:nvPr>
        </p:nvSpPr>
        <p:spPr>
          <a:xfrm>
            <a:off x="228600" y="1295400"/>
            <a:ext cx="7924800" cy="5334000"/>
          </a:xfrm>
        </p:spPr>
        <p:txBody>
          <a:bodyPr>
            <a:normAutofit/>
          </a:bodyPr>
          <a:lstStyle/>
          <a:p>
            <a:r>
              <a:rPr lang="en-US" b="1" dirty="0"/>
              <a:t>Big Lake and Grand Falls Flowage</a:t>
            </a:r>
            <a:r>
              <a:rPr lang="en-US" dirty="0"/>
              <a:t> </a:t>
            </a:r>
          </a:p>
          <a:p>
            <a:r>
              <a:rPr lang="en-US" dirty="0"/>
              <a:t>Two other waters, Big Lake and Grand Falls Flowage, in this part of the region provide outstanding smallmouth bass fisheries. Both waters attract numerous “sports” who fish these waters each June to do battle with feisty smallmouths. These waters have responded well to the slot limits adopted in 1992. </a:t>
            </a:r>
            <a:r>
              <a:rPr lang="en-US" b="1" u="sng" dirty="0"/>
              <a:t>Although Grand Falls Flowage has historically been a consistent producer of 16-18” bass, it seems it’s ready to yield even more fish of this highly desirable size. </a:t>
            </a:r>
            <a:r>
              <a:rPr lang="en-US" dirty="0"/>
              <a:t>Anglers need to use caution when boating due to numerous slightly submerged deadheads. </a:t>
            </a:r>
            <a:endParaRPr lang="en-US" dirty="0" smtClean="0"/>
          </a:p>
          <a:p>
            <a:endParaRPr lang="en-US" dirty="0"/>
          </a:p>
          <a:p>
            <a:r>
              <a:rPr lang="en-US" sz="2000" dirty="0" smtClean="0"/>
              <a:t>Retrieved on 2-19-12 from: </a:t>
            </a:r>
            <a:r>
              <a:rPr lang="en-US" sz="2000" dirty="0" smtClean="0">
                <a:hlinkClick r:id="rId2"/>
              </a:rPr>
              <a:t>http</a:t>
            </a:r>
            <a:r>
              <a:rPr lang="en-US" sz="2000" dirty="0">
                <a:hlinkClick r:id="rId2"/>
              </a:rPr>
              <a:t>://</a:t>
            </a:r>
            <a:r>
              <a:rPr lang="en-US" sz="2000" dirty="0" smtClean="0">
                <a:hlinkClick r:id="rId2"/>
              </a:rPr>
              <a:t>www.maine.gov/ifw/fishing/regional_information/region_c.htm</a:t>
            </a:r>
            <a:r>
              <a:rPr lang="en-US" sz="2000" dirty="0" smtClean="0"/>
              <a:t> </a:t>
            </a:r>
            <a:endParaRPr lang="en-US" sz="2000" dirty="0"/>
          </a:p>
        </p:txBody>
      </p:sp>
      <p:sp>
        <p:nvSpPr>
          <p:cNvPr id="2" name="Title 1"/>
          <p:cNvSpPr>
            <a:spLocks noGrp="1"/>
          </p:cNvSpPr>
          <p:nvPr>
            <p:ph type="title"/>
          </p:nvPr>
        </p:nvSpPr>
        <p:spPr>
          <a:xfrm>
            <a:off x="457200" y="0"/>
            <a:ext cx="7620000" cy="1143000"/>
          </a:xfrm>
        </p:spPr>
        <p:txBody>
          <a:bodyPr/>
          <a:lstStyle/>
          <a:p>
            <a:r>
              <a:rPr lang="en-US" sz="3200" b="1" dirty="0"/>
              <a:t>Regional Fishing Information - Region C</a:t>
            </a:r>
          </a:p>
        </p:txBody>
      </p:sp>
    </p:spTree>
    <p:extLst>
      <p:ext uri="{BB962C8B-B14F-4D97-AF65-F5344CB8AC3E}">
        <p14:creationId xmlns:p14="http://schemas.microsoft.com/office/powerpoint/2010/main" val="1383136129"/>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sz="half" idx="2"/>
          </p:nvPr>
        </p:nvSpPr>
        <p:spPr>
          <a:xfrm>
            <a:off x="228600" y="1295400"/>
            <a:ext cx="7924800" cy="5257800"/>
          </a:xfrm>
        </p:spPr>
        <p:txBody>
          <a:bodyPr>
            <a:normAutofit fontScale="85000" lnSpcReduction="10000"/>
          </a:bodyPr>
          <a:lstStyle/>
          <a:p>
            <a:r>
              <a:rPr lang="en-US" dirty="0"/>
              <a:t>"Numbers of bass have declined since the days when we started going there but they seem to be coming back as of late. The bass on that water need a higher level of protection, it's a unique type of water to all the other types of waters in Maine. It doesn't have a lot of spawning areas with good depths so the harvest limits should be restricted. </a:t>
            </a:r>
            <a:r>
              <a:rPr lang="en-US" b="1" u="sng" dirty="0"/>
              <a:t>Having said that, I see no reason to eliminate bass tournaments. They have been ongoing for a number a years with good bags being weighed in. The new rule of continuous running of the live well will greatly, if not virtually, eliminate bass mortality during tournaments. </a:t>
            </a:r>
            <a:r>
              <a:rPr lang="en-US" dirty="0"/>
              <a:t>In my opinion, a 'no harvest rule' should not point to an elimination of weigh-in- then release bass tournaments. The number of anglers participating in these events is just a tiny fraction of the total number of anglers that fish for bass throughout the open water season. </a:t>
            </a:r>
            <a:r>
              <a:rPr lang="en-US" b="1" u="sng" dirty="0"/>
              <a:t>Again, I don't understand the elimination bass tournaments there</a:t>
            </a:r>
            <a:r>
              <a:rPr lang="en-US" b="1" u="sng" dirty="0" smtClean="0"/>
              <a:t>.</a:t>
            </a:r>
            <a:r>
              <a:rPr lang="en-US" dirty="0" smtClean="0"/>
              <a:t>“</a:t>
            </a:r>
          </a:p>
          <a:p>
            <a:endParaRPr lang="en-US" dirty="0"/>
          </a:p>
          <a:p>
            <a:r>
              <a:rPr lang="en-US" dirty="0" smtClean="0"/>
              <a:t>Retrieved on February 12,2012 from:</a:t>
            </a:r>
          </a:p>
          <a:p>
            <a:r>
              <a:rPr lang="en-US" dirty="0">
                <a:hlinkClick r:id="rId2"/>
              </a:rPr>
              <a:t>http://</a:t>
            </a:r>
            <a:r>
              <a:rPr lang="en-US" dirty="0" smtClean="0">
                <a:hlinkClick r:id="rId2"/>
              </a:rPr>
              <a:t>www.mainesportsman.com/forum/viewtopic.php?f=7&amp;t=606&amp;sid=277c37d95adea2eeba27630dcf163e38&amp;start=30</a:t>
            </a:r>
            <a:r>
              <a:rPr lang="en-US" dirty="0" smtClean="0"/>
              <a:t> </a:t>
            </a:r>
          </a:p>
        </p:txBody>
      </p:sp>
      <p:sp>
        <p:nvSpPr>
          <p:cNvPr id="2" name="Title 1"/>
          <p:cNvSpPr>
            <a:spLocks noGrp="1"/>
          </p:cNvSpPr>
          <p:nvPr>
            <p:ph type="title"/>
          </p:nvPr>
        </p:nvSpPr>
        <p:spPr>
          <a:xfrm>
            <a:off x="457200" y="0"/>
            <a:ext cx="7620000" cy="1143000"/>
          </a:xfrm>
        </p:spPr>
        <p:txBody>
          <a:bodyPr/>
          <a:lstStyle/>
          <a:p>
            <a:r>
              <a:rPr lang="en-US" sz="3200" dirty="0"/>
              <a:t>Retired </a:t>
            </a:r>
            <a:r>
              <a:rPr lang="en-US" sz="3200" dirty="0" smtClean="0"/>
              <a:t>MDIFW Biologist Rick </a:t>
            </a:r>
            <a:r>
              <a:rPr lang="en-US" sz="3200" dirty="0"/>
              <a:t>Jordon</a:t>
            </a:r>
          </a:p>
        </p:txBody>
      </p:sp>
    </p:spTree>
    <p:extLst>
      <p:ext uri="{BB962C8B-B14F-4D97-AF65-F5344CB8AC3E}">
        <p14:creationId xmlns:p14="http://schemas.microsoft.com/office/powerpoint/2010/main" val="3362225581"/>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3657600"/>
            <a:ext cx="7620000" cy="2895600"/>
          </a:xfrm>
        </p:spPr>
        <p:txBody>
          <a:bodyPr/>
          <a:lstStyle/>
          <a:p>
            <a:pPr algn="ctr"/>
            <a:r>
              <a:rPr lang="en-US" sz="2400" dirty="0">
                <a:solidFill>
                  <a:srgbClr val="675E47"/>
                </a:solidFill>
              </a:rPr>
              <a:t>Note: The following tournament data is based on a total catch of only 5 fish because of the tournament rules.  In actuality, many more fish are caught and released in a day’s fishing, but are not included in these results</a:t>
            </a:r>
            <a:r>
              <a:rPr lang="en-US" sz="2400" dirty="0"/>
              <a:t/>
            </a:r>
            <a:br>
              <a:rPr lang="en-US" sz="2400" dirty="0"/>
            </a:br>
            <a:endParaRPr lang="en-US" dirty="0"/>
          </a:p>
        </p:txBody>
      </p:sp>
      <p:sp>
        <p:nvSpPr>
          <p:cNvPr id="3" name="TextBox 2"/>
          <p:cNvSpPr txBox="1"/>
          <p:nvPr/>
        </p:nvSpPr>
        <p:spPr>
          <a:xfrm>
            <a:off x="585439" y="1371600"/>
            <a:ext cx="7315200" cy="1508105"/>
          </a:xfrm>
          <a:prstGeom prst="rect">
            <a:avLst/>
          </a:prstGeom>
          <a:noFill/>
        </p:spPr>
        <p:txBody>
          <a:bodyPr wrap="square" rtlCol="0">
            <a:spAutoFit/>
          </a:bodyPr>
          <a:lstStyle/>
          <a:p>
            <a:pPr algn="ctr"/>
            <a:r>
              <a:rPr lang="en-US" sz="4600" spc="-100" dirty="0">
                <a:solidFill>
                  <a:srgbClr val="675E47"/>
                </a:solidFill>
                <a:latin typeface="Cambria"/>
                <a:ea typeface="+mj-ea"/>
                <a:cs typeface="+mj-cs"/>
              </a:rPr>
              <a:t>What we have seen in our tournaments</a:t>
            </a:r>
            <a:endParaRPr lang="en-US" dirty="0"/>
          </a:p>
        </p:txBody>
      </p:sp>
    </p:spTree>
    <p:extLst>
      <p:ext uri="{BB962C8B-B14F-4D97-AF65-F5344CB8AC3E}">
        <p14:creationId xmlns:p14="http://schemas.microsoft.com/office/powerpoint/2010/main" val="864584731"/>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620000" cy="1325562"/>
          </a:xfrm>
        </p:spPr>
        <p:txBody>
          <a:bodyPr/>
          <a:lstStyle/>
          <a:p>
            <a:pPr algn="ctr"/>
            <a:r>
              <a:rPr lang="en-US" dirty="0" smtClean="0"/>
              <a:t> GFF  Bag Weight (lbs.) Trends</a:t>
            </a:r>
            <a:br>
              <a:rPr lang="en-US" dirty="0" smtClean="0"/>
            </a:br>
            <a:r>
              <a:rPr lang="en-US" sz="2400" dirty="0" smtClean="0"/>
              <a:t>SP=spring / SU=summer/ F=fall</a:t>
            </a:r>
            <a:br>
              <a:rPr lang="en-US" sz="2400" dirty="0" smtClean="0"/>
            </a:br>
            <a:r>
              <a:rPr lang="en-US" sz="2400" dirty="0" smtClean="0"/>
              <a:t>(five fish)</a:t>
            </a:r>
            <a:endParaRPr lang="en-US" sz="2400" dirty="0"/>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430842752"/>
              </p:ext>
            </p:extLst>
          </p:nvPr>
        </p:nvGraphicFramePr>
        <p:xfrm>
          <a:off x="304800" y="1600200"/>
          <a:ext cx="7848600" cy="49530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996606719"/>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274638"/>
            <a:ext cx="7696200" cy="1143000"/>
          </a:xfrm>
        </p:spPr>
        <p:txBody>
          <a:bodyPr/>
          <a:lstStyle/>
          <a:p>
            <a:pPr algn="ctr"/>
            <a:r>
              <a:rPr lang="en-US" sz="4400" dirty="0" smtClean="0"/>
              <a:t>GFF   </a:t>
            </a:r>
            <a:r>
              <a:rPr lang="en-US" sz="4400" dirty="0" err="1" smtClean="0"/>
              <a:t>Lunker</a:t>
            </a:r>
            <a:r>
              <a:rPr lang="en-US" sz="4400" dirty="0" smtClean="0"/>
              <a:t> trends</a:t>
            </a:r>
            <a:br>
              <a:rPr lang="en-US" sz="4400" dirty="0" smtClean="0"/>
            </a:br>
            <a:r>
              <a:rPr lang="en-US" sz="2000" dirty="0" smtClean="0"/>
              <a:t>(single </a:t>
            </a:r>
            <a:r>
              <a:rPr lang="en-US" sz="2000" dirty="0"/>
              <a:t>fish wt</a:t>
            </a:r>
            <a:r>
              <a:rPr lang="en-US" sz="2000" dirty="0" smtClean="0"/>
              <a:t>. in lbs.) </a:t>
            </a:r>
            <a:endParaRPr lang="en-US" sz="4400" dirty="0"/>
          </a:p>
        </p:txBody>
      </p:sp>
      <p:graphicFrame>
        <p:nvGraphicFramePr>
          <p:cNvPr id="3" name="Chart 2"/>
          <p:cNvGraphicFramePr/>
          <p:nvPr>
            <p:extLst>
              <p:ext uri="{D42A27DB-BD31-4B8C-83A1-F6EECF244321}">
                <p14:modId xmlns:p14="http://schemas.microsoft.com/office/powerpoint/2010/main" val="318328351"/>
              </p:ext>
            </p:extLst>
          </p:nvPr>
        </p:nvGraphicFramePr>
        <p:xfrm>
          <a:off x="381000" y="1371600"/>
          <a:ext cx="7772400" cy="50292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889497113"/>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7620000" cy="1189038"/>
          </a:xfrm>
        </p:spPr>
        <p:txBody>
          <a:bodyPr/>
          <a:lstStyle/>
          <a:p>
            <a:pPr algn="ctr"/>
            <a:r>
              <a:rPr lang="en-US" sz="3600" dirty="0"/>
              <a:t>GFF  </a:t>
            </a:r>
            <a:r>
              <a:rPr lang="en-US" sz="3600" dirty="0" smtClean="0"/>
              <a:t>Spring Bag Weight (lbs.) Trends</a:t>
            </a:r>
            <a:r>
              <a:rPr lang="en-US" dirty="0"/>
              <a:t/>
            </a:r>
            <a:br>
              <a:rPr lang="en-US" dirty="0"/>
            </a:br>
            <a:r>
              <a:rPr lang="en-US" sz="2800" dirty="0" smtClean="0"/>
              <a:t>(</a:t>
            </a:r>
            <a:r>
              <a:rPr lang="en-US" sz="2800" dirty="0"/>
              <a:t>five fish)</a:t>
            </a:r>
            <a:endParaRPr lang="en-US" sz="3200" dirty="0"/>
          </a:p>
        </p:txBody>
      </p:sp>
      <p:graphicFrame>
        <p:nvGraphicFramePr>
          <p:cNvPr id="3" name="Chart 2"/>
          <p:cNvGraphicFramePr/>
          <p:nvPr>
            <p:extLst>
              <p:ext uri="{D42A27DB-BD31-4B8C-83A1-F6EECF244321}">
                <p14:modId xmlns:p14="http://schemas.microsoft.com/office/powerpoint/2010/main" val="2269517125"/>
              </p:ext>
            </p:extLst>
          </p:nvPr>
        </p:nvGraphicFramePr>
        <p:xfrm>
          <a:off x="304800" y="1371600"/>
          <a:ext cx="7772400" cy="51816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148674172"/>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4000" dirty="0" smtClean="0"/>
              <a:t>GFF Fall  Bag Weight (lbs.) Trends</a:t>
            </a:r>
            <a:r>
              <a:rPr lang="en-US" dirty="0" smtClean="0"/>
              <a:t/>
            </a:r>
            <a:br>
              <a:rPr lang="en-US" dirty="0" smtClean="0"/>
            </a:br>
            <a:r>
              <a:rPr lang="en-US" sz="2800" dirty="0">
                <a:solidFill>
                  <a:srgbClr val="675E47"/>
                </a:solidFill>
              </a:rPr>
              <a:t>(five fish)</a:t>
            </a:r>
            <a:endParaRPr lang="en-US" dirty="0"/>
          </a:p>
        </p:txBody>
      </p:sp>
      <p:graphicFrame>
        <p:nvGraphicFramePr>
          <p:cNvPr id="3" name="Chart 2"/>
          <p:cNvGraphicFramePr/>
          <p:nvPr>
            <p:extLst>
              <p:ext uri="{D42A27DB-BD31-4B8C-83A1-F6EECF244321}">
                <p14:modId xmlns:p14="http://schemas.microsoft.com/office/powerpoint/2010/main" val="612665608"/>
              </p:ext>
            </p:extLst>
          </p:nvPr>
        </p:nvGraphicFramePr>
        <p:xfrm>
          <a:off x="228600" y="1371600"/>
          <a:ext cx="7772400" cy="50292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828148135"/>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3600" dirty="0" smtClean="0"/>
              <a:t>Average Single Fish Weight Trend in lbs.</a:t>
            </a:r>
            <a:endParaRPr lang="en-US" sz="3600" dirty="0"/>
          </a:p>
        </p:txBody>
      </p:sp>
      <p:graphicFrame>
        <p:nvGraphicFramePr>
          <p:cNvPr id="3" name="Chart 2"/>
          <p:cNvGraphicFramePr/>
          <p:nvPr>
            <p:extLst>
              <p:ext uri="{D42A27DB-BD31-4B8C-83A1-F6EECF244321}">
                <p14:modId xmlns:p14="http://schemas.microsoft.com/office/powerpoint/2010/main" val="3917263439"/>
              </p:ext>
            </p:extLst>
          </p:nvPr>
        </p:nvGraphicFramePr>
        <p:xfrm>
          <a:off x="304800" y="1447800"/>
          <a:ext cx="7772400" cy="48006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358237196"/>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28600"/>
            <a:ext cx="7086600" cy="993775"/>
          </a:xfrm>
        </p:spPr>
        <p:txBody>
          <a:bodyPr/>
          <a:lstStyle/>
          <a:p>
            <a:pPr algn="ctr"/>
            <a:r>
              <a:rPr lang="en-US" sz="4400" dirty="0" smtClean="0"/>
              <a:t>GFF 2004-2010 Bass/HR </a:t>
            </a:r>
            <a:endParaRPr lang="en-US" sz="4400" dirty="0"/>
          </a:p>
        </p:txBody>
      </p:sp>
      <p:graphicFrame>
        <p:nvGraphicFramePr>
          <p:cNvPr id="4" name="Chart 3"/>
          <p:cNvGraphicFramePr/>
          <p:nvPr>
            <p:extLst>
              <p:ext uri="{D42A27DB-BD31-4B8C-83A1-F6EECF244321}">
                <p14:modId xmlns:p14="http://schemas.microsoft.com/office/powerpoint/2010/main" val="2439421880"/>
              </p:ext>
            </p:extLst>
          </p:nvPr>
        </p:nvGraphicFramePr>
        <p:xfrm>
          <a:off x="228600" y="1219200"/>
          <a:ext cx="7848600" cy="48768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694516297"/>
      </p:ext>
    </p:extLst>
  </p:cSld>
  <p:clrMapOvr>
    <a:masterClrMapping/>
  </p:clrMapOvr>
  <mc:AlternateContent xmlns:mc="http://schemas.openxmlformats.org/markup-compatibility/2006">
    <mc:Choice xmlns:p14="http://schemas.microsoft.com/office/powerpoint/2010/main" Requires="p14">
      <p:transition spd="slow" p14:dur="2000">
        <p14:prism isContent="1"/>
      </p:transition>
    </mc:Choice>
    <mc:Fallback>
      <p:transition spd="slow">
        <p:fade/>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GFF 2004-2010 </a:t>
            </a:r>
            <a:r>
              <a:rPr lang="en-US" dirty="0" smtClean="0"/>
              <a:t>Bass/Day </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261076237"/>
              </p:ext>
            </p:extLst>
          </p:nvPr>
        </p:nvGraphicFramePr>
        <p:xfrm>
          <a:off x="228600" y="1219200"/>
          <a:ext cx="7924800" cy="53340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76035011"/>
      </p:ext>
    </p:extLst>
  </p:cSld>
  <p:clrMapOvr>
    <a:masterClrMapping/>
  </p:clrMapOvr>
  <mc:AlternateContent xmlns:mc="http://schemas.openxmlformats.org/markup-compatibility/2006">
    <mc:Choice xmlns:p14="http://schemas.microsoft.com/office/powerpoint/2010/main" Requires="p14">
      <p:transition spd="slow" p14:dur="2000">
        <p14:prism isContent="1"/>
      </p:transition>
    </mc:Choice>
    <mc:Fallback>
      <p:transition spd="slow">
        <p:fade/>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685800"/>
            <a:ext cx="7620000" cy="1143000"/>
          </a:xfrm>
        </p:spPr>
        <p:txBody>
          <a:bodyPr/>
          <a:lstStyle/>
          <a:p>
            <a:pPr algn="ctr"/>
            <a:r>
              <a:rPr lang="en-US" dirty="0" smtClean="0"/>
              <a:t>See what others are saying…</a:t>
            </a:r>
            <a:endParaRPr lang="en-US" dirty="0"/>
          </a:p>
        </p:txBody>
      </p:sp>
      <p:sp>
        <p:nvSpPr>
          <p:cNvPr id="4" name="Content Placeholder 3"/>
          <p:cNvSpPr>
            <a:spLocks noGrp="1"/>
          </p:cNvSpPr>
          <p:nvPr>
            <p:ph sz="half" idx="2"/>
          </p:nvPr>
        </p:nvSpPr>
        <p:spPr>
          <a:xfrm>
            <a:off x="228600" y="2286000"/>
            <a:ext cx="7772400" cy="3962400"/>
          </a:xfrm>
        </p:spPr>
        <p:txBody>
          <a:bodyPr>
            <a:normAutofit/>
          </a:bodyPr>
          <a:lstStyle/>
          <a:p>
            <a:endParaRPr lang="en-US" sz="1800" dirty="0" smtClean="0"/>
          </a:p>
          <a:p>
            <a:pPr marL="114300" indent="0">
              <a:buNone/>
            </a:pPr>
            <a:r>
              <a:rPr lang="en-US" sz="1800" dirty="0" smtClean="0"/>
              <a:t>The Maine Sportsman Forum:</a:t>
            </a:r>
            <a:endParaRPr lang="en-US" sz="1800" dirty="0"/>
          </a:p>
          <a:p>
            <a:pPr marL="114300" indent="0">
              <a:buNone/>
            </a:pPr>
            <a:r>
              <a:rPr lang="en-US" sz="1800" dirty="0" smtClean="0"/>
              <a:t>	</a:t>
            </a:r>
            <a:r>
              <a:rPr lang="en-US" sz="1800" dirty="0" smtClean="0">
                <a:hlinkClick r:id="rId2"/>
              </a:rPr>
              <a:t>http</a:t>
            </a:r>
            <a:r>
              <a:rPr lang="en-US" sz="1800" dirty="0">
                <a:hlinkClick r:id="rId2"/>
              </a:rPr>
              <a:t>://</a:t>
            </a:r>
            <a:r>
              <a:rPr lang="en-US" sz="1800" dirty="0" smtClean="0">
                <a:hlinkClick r:id="rId2"/>
              </a:rPr>
              <a:t>www.mainesportsman.com/forum/viewtopic.php?f=7&amp;t=606</a:t>
            </a:r>
            <a:endParaRPr lang="en-US" sz="1800" dirty="0" smtClean="0"/>
          </a:p>
          <a:p>
            <a:pPr marL="114300" indent="0">
              <a:buNone/>
            </a:pPr>
            <a:r>
              <a:rPr lang="en-US" sz="1800" dirty="0" smtClean="0"/>
              <a:t>The Maine Blade Runners Forum: </a:t>
            </a:r>
          </a:p>
          <a:p>
            <a:pPr marL="114300" indent="0">
              <a:buNone/>
            </a:pPr>
            <a:r>
              <a:rPr lang="en-US" sz="1800" dirty="0"/>
              <a:t>	</a:t>
            </a:r>
            <a:r>
              <a:rPr lang="en-US" sz="1800" dirty="0">
                <a:hlinkClick r:id="rId3"/>
              </a:rPr>
              <a:t>http://</a:t>
            </a:r>
            <a:r>
              <a:rPr lang="en-US" sz="1800" dirty="0" smtClean="0">
                <a:hlinkClick r:id="rId3"/>
              </a:rPr>
              <a:t>www.themainebladerunners.net/blog.html</a:t>
            </a:r>
            <a:endParaRPr lang="en-US" sz="1800" dirty="0" smtClean="0"/>
          </a:p>
          <a:p>
            <a:pPr marL="114300" indent="0">
              <a:buNone/>
            </a:pPr>
            <a:r>
              <a:rPr lang="en-US" sz="1800" dirty="0" smtClean="0"/>
              <a:t>Advisory Board Minutes on DIFW:</a:t>
            </a:r>
          </a:p>
          <a:p>
            <a:pPr marL="114300" indent="0">
              <a:buNone/>
            </a:pPr>
            <a:r>
              <a:rPr lang="en-US" sz="1600" dirty="0" smtClean="0">
                <a:hlinkClick r:id="rId4"/>
              </a:rPr>
              <a:t>http://www.maine.gov/ifw/commissioners_office/advisorycouncil/minutes/index.htm</a:t>
            </a:r>
            <a:endParaRPr lang="en-US" sz="1600" dirty="0" smtClean="0"/>
          </a:p>
          <a:p>
            <a:pPr marL="114300" indent="0">
              <a:buNone/>
            </a:pPr>
            <a:endParaRPr lang="en-US" sz="1600" dirty="0" smtClean="0"/>
          </a:p>
        </p:txBody>
      </p:sp>
    </p:spTree>
    <p:extLst>
      <p:ext uri="{BB962C8B-B14F-4D97-AF65-F5344CB8AC3E}">
        <p14:creationId xmlns:p14="http://schemas.microsoft.com/office/powerpoint/2010/main" val="587574228"/>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1676400"/>
            <a:ext cx="7620000" cy="3429000"/>
          </a:xfrm>
        </p:spPr>
        <p:txBody>
          <a:bodyPr/>
          <a:lstStyle/>
          <a:p>
            <a:pPr algn="ctr"/>
            <a:r>
              <a:rPr lang="en-US" dirty="0" smtClean="0"/>
              <a:t>We want answers, and we </a:t>
            </a:r>
            <a:br>
              <a:rPr lang="en-US" dirty="0" smtClean="0"/>
            </a:br>
            <a:r>
              <a:rPr lang="en-US" dirty="0" smtClean="0"/>
              <a:t>need your help.</a:t>
            </a:r>
            <a:br>
              <a:rPr lang="en-US" dirty="0" smtClean="0"/>
            </a:br>
            <a:endParaRPr lang="en-US" dirty="0"/>
          </a:p>
        </p:txBody>
      </p:sp>
    </p:spTree>
    <p:extLst>
      <p:ext uri="{BB962C8B-B14F-4D97-AF65-F5344CB8AC3E}">
        <p14:creationId xmlns:p14="http://schemas.microsoft.com/office/powerpoint/2010/main" val="2284226986"/>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Who we have contacted</a:t>
            </a:r>
            <a:endParaRPr lang="en-US" dirty="0"/>
          </a:p>
        </p:txBody>
      </p:sp>
      <p:sp>
        <p:nvSpPr>
          <p:cNvPr id="4" name="Content Placeholder 3"/>
          <p:cNvSpPr>
            <a:spLocks noGrp="1"/>
          </p:cNvSpPr>
          <p:nvPr>
            <p:ph sz="half" idx="2"/>
          </p:nvPr>
        </p:nvSpPr>
        <p:spPr>
          <a:xfrm>
            <a:off x="304800" y="1524000"/>
            <a:ext cx="4114800" cy="4800600"/>
          </a:xfrm>
        </p:spPr>
        <p:txBody>
          <a:bodyPr>
            <a:normAutofit lnSpcReduction="10000"/>
          </a:bodyPr>
          <a:lstStyle/>
          <a:p>
            <a:endParaRPr lang="en-US" dirty="0"/>
          </a:p>
          <a:p>
            <a:pPr marL="114300" indent="0">
              <a:buNone/>
            </a:pPr>
            <a:r>
              <a:rPr lang="en-US" dirty="0" smtClean="0"/>
              <a:t>•</a:t>
            </a:r>
            <a:r>
              <a:rPr lang="en-US" dirty="0"/>
              <a:t>Governor Paul </a:t>
            </a:r>
            <a:r>
              <a:rPr lang="en-US" dirty="0" err="1"/>
              <a:t>LePage</a:t>
            </a:r>
            <a:r>
              <a:rPr lang="en-US" dirty="0"/>
              <a:t> 	</a:t>
            </a:r>
            <a:r>
              <a:rPr lang="en-US" dirty="0" smtClean="0"/>
              <a:t>Senator Kevin </a:t>
            </a:r>
            <a:r>
              <a:rPr lang="en-US" dirty="0" err="1" smtClean="0"/>
              <a:t>Raye</a:t>
            </a:r>
            <a:endParaRPr lang="en-US" dirty="0" smtClean="0"/>
          </a:p>
          <a:p>
            <a:pPr marL="114300" indent="0">
              <a:buNone/>
            </a:pPr>
            <a:endParaRPr lang="en-US" dirty="0"/>
          </a:p>
          <a:p>
            <a:pPr marL="114300" indent="0">
              <a:buNone/>
            </a:pPr>
            <a:r>
              <a:rPr lang="en-US" dirty="0"/>
              <a:t>•MDIFW Commissioner Chandler Woodcock </a:t>
            </a:r>
            <a:endParaRPr lang="en-US" dirty="0" smtClean="0"/>
          </a:p>
          <a:p>
            <a:pPr marL="114300" indent="0">
              <a:buNone/>
            </a:pPr>
            <a:endParaRPr lang="en-US" dirty="0" smtClean="0"/>
          </a:p>
          <a:p>
            <a:pPr marL="114300" indent="0">
              <a:buNone/>
            </a:pPr>
            <a:r>
              <a:rPr lang="en-US" dirty="0" smtClean="0"/>
              <a:t>•</a:t>
            </a:r>
            <a:r>
              <a:rPr lang="en-US" dirty="0"/>
              <a:t>MDIFW Fisheries Director Michael Brown </a:t>
            </a:r>
            <a:endParaRPr lang="en-US" dirty="0" smtClean="0"/>
          </a:p>
          <a:p>
            <a:pPr marL="114300" indent="0">
              <a:buNone/>
            </a:pPr>
            <a:endParaRPr lang="en-US" dirty="0"/>
          </a:p>
          <a:p>
            <a:pPr marL="114300" indent="0">
              <a:buNone/>
            </a:pPr>
            <a:r>
              <a:rPr lang="en-US" dirty="0"/>
              <a:t>•MDIFW Fisheries Biologist Gregg Burr </a:t>
            </a:r>
          </a:p>
          <a:p>
            <a:endParaRPr lang="en-US" dirty="0"/>
          </a:p>
          <a:p>
            <a:endParaRPr lang="en-US" dirty="0"/>
          </a:p>
        </p:txBody>
      </p:sp>
      <p:sp>
        <p:nvSpPr>
          <p:cNvPr id="6" name="Content Placeholder 5"/>
          <p:cNvSpPr>
            <a:spLocks noGrp="1"/>
          </p:cNvSpPr>
          <p:nvPr>
            <p:ph sz="quarter" idx="4"/>
          </p:nvPr>
        </p:nvSpPr>
        <p:spPr>
          <a:xfrm>
            <a:off x="4343400" y="1752600"/>
            <a:ext cx="3733800" cy="4373563"/>
          </a:xfrm>
        </p:spPr>
        <p:txBody>
          <a:bodyPr/>
          <a:lstStyle/>
          <a:p>
            <a:endParaRPr lang="en-US" dirty="0"/>
          </a:p>
          <a:p>
            <a:pPr marL="114300" indent="0">
              <a:buNone/>
            </a:pPr>
            <a:r>
              <a:rPr lang="en-US" dirty="0"/>
              <a:t>•</a:t>
            </a:r>
            <a:r>
              <a:rPr lang="en-US" dirty="0" smtClean="0"/>
              <a:t>ALL DIFW </a:t>
            </a:r>
            <a:r>
              <a:rPr lang="en-US" dirty="0"/>
              <a:t>advisory Board members </a:t>
            </a:r>
            <a:endParaRPr lang="en-US" dirty="0" smtClean="0"/>
          </a:p>
          <a:p>
            <a:pPr marL="114300" indent="0">
              <a:buNone/>
            </a:pPr>
            <a:endParaRPr lang="en-US" dirty="0"/>
          </a:p>
          <a:p>
            <a:pPr marL="114300" indent="0">
              <a:buNone/>
            </a:pPr>
            <a:r>
              <a:rPr lang="en-US" dirty="0"/>
              <a:t>•Bangor Daily news </a:t>
            </a:r>
            <a:endParaRPr lang="en-US" dirty="0" smtClean="0"/>
          </a:p>
          <a:p>
            <a:pPr marL="114300" indent="0">
              <a:buNone/>
            </a:pPr>
            <a:endParaRPr lang="en-US" dirty="0"/>
          </a:p>
          <a:p>
            <a:pPr marL="114300" indent="0">
              <a:buNone/>
            </a:pPr>
            <a:r>
              <a:rPr lang="en-US" dirty="0"/>
              <a:t>•Calais Advertiser </a:t>
            </a:r>
          </a:p>
          <a:p>
            <a:endParaRPr lang="en-US" dirty="0"/>
          </a:p>
        </p:txBody>
      </p:sp>
    </p:spTree>
    <p:extLst>
      <p:ext uri="{BB962C8B-B14F-4D97-AF65-F5344CB8AC3E}">
        <p14:creationId xmlns:p14="http://schemas.microsoft.com/office/powerpoint/2010/main" val="4154962908"/>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1676400"/>
            <a:ext cx="7620000" cy="3429000"/>
          </a:xfrm>
        </p:spPr>
        <p:txBody>
          <a:bodyPr/>
          <a:lstStyle/>
          <a:p>
            <a:pPr algn="ctr"/>
            <a:r>
              <a:rPr lang="en-US" dirty="0" smtClean="0"/>
              <a:t>Please contact these people and others and ask for answers.  </a:t>
            </a:r>
            <a:endParaRPr lang="en-US" dirty="0"/>
          </a:p>
        </p:txBody>
      </p:sp>
    </p:spTree>
    <p:extLst>
      <p:ext uri="{BB962C8B-B14F-4D97-AF65-F5344CB8AC3E}">
        <p14:creationId xmlns:p14="http://schemas.microsoft.com/office/powerpoint/2010/main" val="3753045575"/>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912465" y="5562600"/>
            <a:ext cx="6461760" cy="1066800"/>
          </a:xfrm>
        </p:spPr>
        <p:txBody>
          <a:bodyPr/>
          <a:lstStyle/>
          <a:p>
            <a:pPr algn="ctr"/>
            <a:r>
              <a:rPr lang="en-US" dirty="0" smtClean="0"/>
              <a:t>The Maine Blade Runners </a:t>
            </a:r>
          </a:p>
          <a:p>
            <a:pPr algn="ctr"/>
            <a:r>
              <a:rPr lang="en-US" dirty="0">
                <a:hlinkClick r:id="rId2"/>
              </a:rPr>
              <a:t>http://www.themainebladerunners.net</a:t>
            </a:r>
            <a:r>
              <a:rPr lang="en-US" dirty="0" smtClean="0">
                <a:hlinkClick r:id="rId2"/>
              </a:rPr>
              <a:t>/</a:t>
            </a:r>
            <a:r>
              <a:rPr lang="en-US" dirty="0" smtClean="0"/>
              <a:t> </a:t>
            </a:r>
            <a:endParaRPr lang="en-US" dirty="0"/>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50319" y="1943100"/>
            <a:ext cx="2586052" cy="2362200"/>
          </a:xfrm>
          <a:prstGeom prst="rect">
            <a:avLst/>
          </a:prstGeom>
        </p:spPr>
      </p:pic>
    </p:spTree>
    <p:extLst>
      <p:ext uri="{BB962C8B-B14F-4D97-AF65-F5344CB8AC3E}">
        <p14:creationId xmlns:p14="http://schemas.microsoft.com/office/powerpoint/2010/main" val="2909734951"/>
      </p:ext>
    </p:extLst>
  </p:cSld>
  <p:clrMapOvr>
    <a:masterClrMapping/>
  </p:clrMapOvr>
  <mc:AlternateContent xmlns:mc="http://schemas.openxmlformats.org/markup-compatibility/2006" xmlns:p14="http://schemas.microsoft.com/office/powerpoint/2010/main">
    <mc:Choice Requires="p14">
      <p:transition spd="slow" p14:dur="3000">
        <p14:flythrough/>
      </p:transition>
    </mc:Choice>
    <mc:Fallback xmlns="">
      <p:transition spd="slow">
        <p:fade/>
      </p:transition>
    </mc:Fallback>
  </mc:AlternateContent>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Adjacency">
  <a:themeElements>
    <a:clrScheme name="Adjacency">
      <a:dk1>
        <a:srgbClr val="2F2B20"/>
      </a:dk1>
      <a:lt1>
        <a:srgbClr val="FFFFFF"/>
      </a:lt1>
      <a:dk2>
        <a:srgbClr val="675E47"/>
      </a:dk2>
      <a:lt2>
        <a:srgbClr val="DFDCB7"/>
      </a:lt2>
      <a:accent1>
        <a:srgbClr val="A9A57C"/>
      </a:accent1>
      <a:accent2>
        <a:srgbClr val="9CBEBD"/>
      </a:accent2>
      <a:accent3>
        <a:srgbClr val="D2CB6C"/>
      </a:accent3>
      <a:accent4>
        <a:srgbClr val="95A39D"/>
      </a:accent4>
      <a:accent5>
        <a:srgbClr val="C89F5D"/>
      </a:accent5>
      <a:accent6>
        <a:srgbClr val="B1A089"/>
      </a:accent6>
      <a:hlink>
        <a:srgbClr val="D25814"/>
      </a:hlink>
      <a:folHlink>
        <a:srgbClr val="849A0A"/>
      </a:folHlink>
    </a:clrScheme>
    <a:fontScheme name="Office">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Adjacency">
      <a:fillStyleLst>
        <a:solidFill>
          <a:schemeClr val="phClr"/>
        </a:solidFill>
        <a:solidFill>
          <a:schemeClr val="phClr">
            <a:tint val="55000"/>
          </a:schemeClr>
        </a:solidFill>
        <a:solidFill>
          <a:schemeClr val="phClr"/>
        </a:soli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outerShdw blurRad="50800" dist="25400" algn="bl" rotWithShape="0">
              <a:srgbClr val="000000">
                <a:alpha val="60000"/>
              </a:srgbClr>
            </a:outerShdw>
          </a:effectLst>
        </a:effectStyle>
        <a:effectStyle>
          <a:effectLst/>
          <a:scene3d>
            <a:camera prst="orthographicFront">
              <a:rot lat="0" lon="0" rev="0"/>
            </a:camera>
            <a:lightRig rig="brightRoom" dir="tl">
              <a:rot lat="0" lon="0" rev="1800000"/>
            </a:lightRig>
          </a:scene3d>
          <a:sp3d contourW="10160" prstMaterial="dkEdge">
            <a:bevelT w="38100" h="50800" prst="angle"/>
            <a:contourClr>
              <a:schemeClr val="phClr">
                <a:shade val="40000"/>
                <a:satMod val="150000"/>
              </a:schemeClr>
            </a:contourClr>
          </a:sp3d>
        </a:effectStyle>
      </a:effectStyleLst>
      <a:bgFillStyleLst>
        <a:solidFill>
          <a:schemeClr val="phClr"/>
        </a:solidFill>
        <a:gradFill rotWithShape="1">
          <a:gsLst>
            <a:gs pos="0">
              <a:schemeClr val="phClr">
                <a:tint val="90000"/>
              </a:schemeClr>
            </a:gs>
            <a:gs pos="75000">
              <a:schemeClr val="phClr">
                <a:shade val="100000"/>
                <a:satMod val="115000"/>
              </a:schemeClr>
            </a:gs>
            <a:gs pos="100000">
              <a:schemeClr val="phClr">
                <a:shade val="70000"/>
                <a:satMod val="130000"/>
              </a:schemeClr>
            </a:gs>
          </a:gsLst>
          <a:path path="circle">
            <a:fillToRect l="20000" t="50000" r="100000" b="50000"/>
          </a:path>
        </a:gradFill>
        <a:blipFill rotWithShape="1">
          <a:blip xmlns:r="http://schemas.openxmlformats.org/officeDocument/2006/relationships" r:embed="rId1">
            <a:duotone>
              <a:schemeClr val="phClr">
                <a:tint val="97000"/>
              </a:schemeClr>
              <a:schemeClr val="phClr">
                <a:shade val="96000"/>
              </a:schemeClr>
            </a:duotone>
          </a:blip>
          <a:tile tx="0" ty="0" sx="32000" sy="32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Adjacency</Template>
  <TotalTime>254</TotalTime>
  <Words>1196</Words>
  <Application>Microsoft Office PowerPoint</Application>
  <PresentationFormat>On-screen Show (4:3)</PresentationFormat>
  <Paragraphs>60</Paragraphs>
  <Slides>24</Slides>
  <Notes>0</Notes>
  <HiddenSlides>0</HiddenSlides>
  <MMClips>0</MMClips>
  <ScaleCrop>false</ScaleCrop>
  <HeadingPairs>
    <vt:vector size="4" baseType="variant">
      <vt:variant>
        <vt:lpstr>Theme</vt:lpstr>
      </vt:variant>
      <vt:variant>
        <vt:i4>1</vt:i4>
      </vt:variant>
      <vt:variant>
        <vt:lpstr>Slide Titles</vt:lpstr>
      </vt:variant>
      <vt:variant>
        <vt:i4>24</vt:i4>
      </vt:variant>
    </vt:vector>
  </HeadingPairs>
  <TitlesOfParts>
    <vt:vector size="25" baseType="lpstr">
      <vt:lpstr>Adjacency</vt:lpstr>
      <vt:lpstr>Grand Falls Flowage </vt:lpstr>
      <vt:lpstr>PowerPoint Presentation</vt:lpstr>
      <vt:lpstr>The issue:  On February 9, 2012, the Maine Blade Runners received notice that ALL permits  on Grand Falls Flowage were being denied after years of successful events on this body of water    Why?</vt:lpstr>
      <vt:lpstr>Maine Blade Runners President Matt Mitchell:  “If I, or any of my members truly felt this was a needed decision, we definitely would back IFW on this. I and many others surely can see that this decision was based completely on the desires of special interests.  I have no issue with anyone trying to make a living off the waters of the state of Maine.  I always have been a strong promoter of catch and release, but that's my choice.  On the other hand, I do not condemn people for eating what they catch, that's their choice.    Bottom line of this issue is, why does catch and release mean NO BASS TOURNAMENTS?  We may not release our fish immediately after they're caught, but they all are released alive at the end of the day.  I cannot make the connection between the two issues.  I was first told by MDIFW Fisheries Director Mike Brown that this was a small fish issue, then it went to fisherman's input, then a habitat concern because of the re-introduction of alewives.  We fish a lot of lakes that contain alewives. Its a major food source for bass.  Mr. Brown stated alewives ruined Spednik Lake.  I stated that alewives did not ruin that lake but when IFW took out the dam to allow alewives back into that fishery, the water level dropped below the spawning beds of the bass and killed all the spawn.  Mr. Brown admitted this was true, but only one factor on the bass decline in that lake.    I also find it very interesting that I was told this on the deadline day of bass tournament permits being issued.  It was no secret that we were drawing permits on GFF, our club has done it for years. Plus, we drew them at an open meeting held every winter just for bass tournament permits.  This was on Jan. 12, 2012 in Augusta. Seems to me if this was a real issue, they would have known before Jan. 12, 2012. They knew Feb. 9, 2012, the day my applications were denied. “</vt:lpstr>
      <vt:lpstr>Is there another reason?</vt:lpstr>
      <vt:lpstr>IFW Advisory Committee Minutes 9/28/11:</vt:lpstr>
      <vt:lpstr>IFW Advisory Committee Minutes 9/28/11:</vt:lpstr>
      <vt:lpstr>IFW Advisory Committee Minutes 9/28/11:</vt:lpstr>
      <vt:lpstr>Information from MDIFW</vt:lpstr>
      <vt:lpstr>Regional Fishing Information - Region C</vt:lpstr>
      <vt:lpstr>Retired MDIFW Biologist Rick Jordon</vt:lpstr>
      <vt:lpstr>Note: The following tournament data is based on a total catch of only 5 fish because of the tournament rules.  In actuality, many more fish are caught and released in a day’s fishing, but are not included in these results </vt:lpstr>
      <vt:lpstr> GFF  Bag Weight (lbs.) Trends SP=spring / SU=summer/ F=fall (five fish)</vt:lpstr>
      <vt:lpstr>GFF   Lunker trends (single fish wt. in lbs.) </vt:lpstr>
      <vt:lpstr>GFF  Spring Bag Weight (lbs.) Trends (five fish)</vt:lpstr>
      <vt:lpstr>GFF Fall  Bag Weight (lbs.) Trends (five fish)</vt:lpstr>
      <vt:lpstr>Average Single Fish Weight Trend in lbs.</vt:lpstr>
      <vt:lpstr>GFF 2004-2010 Bass/HR </vt:lpstr>
      <vt:lpstr>GFF 2004-2010 Bass/Day </vt:lpstr>
      <vt:lpstr>See what others are saying…</vt:lpstr>
      <vt:lpstr>We want answers, and we  need your help. </vt:lpstr>
      <vt:lpstr>Who we have contacted</vt:lpstr>
      <vt:lpstr>Please contact these people and others and ask for answers.  </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Grand Falls Flowage</dc:title>
  <dc:creator>mattynkaren</dc:creator>
  <cp:lastModifiedBy>mattynkaren</cp:lastModifiedBy>
  <cp:revision>48</cp:revision>
  <dcterms:created xsi:type="dcterms:W3CDTF">2012-02-17T00:46:01Z</dcterms:created>
  <dcterms:modified xsi:type="dcterms:W3CDTF">2012-03-03T19:44:38Z</dcterms:modified>
</cp:coreProperties>
</file>