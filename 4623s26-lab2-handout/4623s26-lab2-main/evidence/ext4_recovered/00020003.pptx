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75" r:id="rId4"/>
    <p:sldId id="273" r:id="rId5"/>
    <p:sldId id="258" r:id="rId6"/>
    <p:sldId id="262" r:id="rId7"/>
    <p:sldId id="261" r:id="rId8"/>
    <p:sldId id="259" r:id="rId9"/>
    <p:sldId id="264" r:id="rId10"/>
    <p:sldId id="270" r:id="rId11"/>
    <p:sldId id="265" r:id="rId12"/>
    <p:sldId id="260" r:id="rId13"/>
    <p:sldId id="276" r:id="rId14"/>
    <p:sldId id="272" r:id="rId15"/>
    <p:sldId id="277" r:id="rId16"/>
    <p:sldId id="266" r:id="rId17"/>
    <p:sldId id="278" r:id="rId18"/>
    <p:sldId id="267" r:id="rId19"/>
    <p:sldId id="271" r:id="rId20"/>
    <p:sldId id="268" r:id="rId21"/>
  </p:sldIdLst>
  <p:sldSz cx="9144000" cy="6858000" type="screen4x3"/>
  <p:notesSz cx="6797675" cy="9928225"/>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rgbClr val="FF0000"/>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11" autoAdjust="0"/>
    <p:restoredTop sz="97509" autoAdjust="0"/>
  </p:normalViewPr>
  <p:slideViewPr>
    <p:cSldViewPr>
      <p:cViewPr>
        <p:scale>
          <a:sx n="80" d="100"/>
          <a:sy n="80" d="100"/>
        </p:scale>
        <p:origin x="-1378" y="-317"/>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5AD4A857-5C43-4807-A4E9-5869E31D526C}" type="datetimeFigureOut">
              <a:rPr lang="nl-NL" smtClean="0"/>
              <a:pPr/>
              <a:t>10-1-2012</a:t>
            </a:fld>
            <a:endParaRPr lang="nl-NL"/>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79768" y="4715907"/>
            <a:ext cx="5438140" cy="446770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6" name="Footer Placeholder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89191D41-C5FC-4C0C-B4B5-3582C93E8A12}" type="slidenum">
              <a:rPr lang="nl-NL" smtClean="0"/>
              <a:pPr/>
              <a:t>‹#›</a:t>
            </a:fld>
            <a:endParaRPr lang="nl-NL"/>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berkeley.edu/"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Risk-sharing benefits: It</a:t>
            </a:r>
            <a:r>
              <a:rPr lang="en-US" baseline="0" dirty="0" smtClean="0"/>
              <a:t> would allocate risk in a more efficient way, passing on the risk to the agents that are in a best position to bear them. </a:t>
            </a:r>
          </a:p>
          <a:p>
            <a:r>
              <a:rPr lang="en-US" baseline="0" dirty="0" smtClean="0"/>
              <a:t>Risk-taking incentives: They allow financial institutions to extend a larger volume of loans, increasing banks exposures. </a:t>
            </a:r>
            <a:endParaRPr lang="nl-NL" dirty="0" smtClean="0"/>
          </a:p>
          <a:p>
            <a:endParaRPr lang="nl-NL" dirty="0" smtClean="0"/>
          </a:p>
          <a:p>
            <a:r>
              <a:rPr lang="nl-NL" dirty="0" smtClean="0"/>
              <a:t>Citation </a:t>
            </a:r>
            <a:r>
              <a:rPr lang="nl-NL" baseline="0" dirty="0" smtClean="0"/>
              <a:t>Bernanke: </a:t>
            </a:r>
            <a:r>
              <a:rPr lang="nl-NL" dirty="0" smtClean="0"/>
              <a:t>http://www.wallstreetandtech.com/articles/227000512 </a:t>
            </a:r>
            <a:r>
              <a:rPr lang="en-US" dirty="0" smtClean="0">
                <a:hlinkClick r:id="rId3"/>
              </a:rPr>
              <a:t>University of California at Berkeley</a:t>
            </a:r>
            <a:r>
              <a:rPr lang="en-US" dirty="0" smtClean="0"/>
              <a:t> (2008)</a:t>
            </a:r>
            <a:endParaRPr lang="nl-NL" dirty="0"/>
          </a:p>
        </p:txBody>
      </p:sp>
      <p:sp>
        <p:nvSpPr>
          <p:cNvPr id="4" name="Slide Number Placeholder 3"/>
          <p:cNvSpPr>
            <a:spLocks noGrp="1"/>
          </p:cNvSpPr>
          <p:nvPr>
            <p:ph type="sldNum" sz="quarter" idx="10"/>
          </p:nvPr>
        </p:nvSpPr>
        <p:spPr/>
        <p:txBody>
          <a:bodyPr/>
          <a:lstStyle/>
          <a:p>
            <a:fld id="{89191D41-C5FC-4C0C-B4B5-3582C93E8A12}" type="slidenum">
              <a:rPr lang="nl-NL" smtClean="0"/>
              <a:pPr/>
              <a:t>2</a:t>
            </a:fld>
            <a:endParaRPr lang="nl-N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89191D41-C5FC-4C0C-B4B5-3582C93E8A12}" type="slidenum">
              <a:rPr lang="nl-NL" smtClean="0"/>
              <a:pPr/>
              <a:t>5</a:t>
            </a:fld>
            <a:endParaRPr lang="nl-N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So</a:t>
            </a:r>
            <a:r>
              <a:rPr lang="en-US" baseline="0" dirty="0" smtClean="0"/>
              <a:t> far, no clear mechanism through which financial innovations affect loan interest rates. </a:t>
            </a:r>
            <a:endParaRPr lang="nl-NL" dirty="0"/>
          </a:p>
        </p:txBody>
      </p:sp>
      <p:sp>
        <p:nvSpPr>
          <p:cNvPr id="4" name="Slide Number Placeholder 3"/>
          <p:cNvSpPr>
            <a:spLocks noGrp="1"/>
          </p:cNvSpPr>
          <p:nvPr>
            <p:ph type="sldNum" sz="quarter" idx="10"/>
          </p:nvPr>
        </p:nvSpPr>
        <p:spPr/>
        <p:txBody>
          <a:bodyPr/>
          <a:lstStyle/>
          <a:p>
            <a:fld id="{89191D41-C5FC-4C0C-B4B5-3582C93E8A12}" type="slidenum">
              <a:rPr lang="nl-NL" smtClean="0"/>
              <a:pPr/>
              <a:t>6</a:t>
            </a:fld>
            <a:endParaRPr lang="nl-NL"/>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89191D41-C5FC-4C0C-B4B5-3582C93E8A12}" type="slidenum">
              <a:rPr lang="nl-NL" smtClean="0"/>
              <a:pPr/>
              <a:t>7</a:t>
            </a:fld>
            <a:endParaRPr lang="nl-NL"/>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Dependent variable: spread over LIBOR.</a:t>
            </a:r>
          </a:p>
          <a:p>
            <a:r>
              <a:rPr lang="en-US" dirty="0" smtClean="0"/>
              <a:t>Variables of interest: Gross and Net over total assets.</a:t>
            </a:r>
          </a:p>
          <a:p>
            <a:endParaRPr lang="en-US" dirty="0" smtClean="0"/>
          </a:p>
          <a:p>
            <a:pPr marL="228600" indent="-228600">
              <a:buAutoNum type="arabicParenBoth"/>
            </a:pPr>
            <a:r>
              <a:rPr lang="en-US" dirty="0" smtClean="0"/>
              <a:t>All controls , Net +Gross</a:t>
            </a:r>
          </a:p>
          <a:p>
            <a:pPr marL="228600" indent="-228600">
              <a:buNone/>
            </a:pPr>
            <a:endParaRPr lang="en-US" dirty="0" smtClean="0"/>
          </a:p>
          <a:p>
            <a:pPr marL="228600" indent="-228600">
              <a:buNone/>
            </a:pPr>
            <a:r>
              <a:rPr lang="en-US" dirty="0" smtClean="0"/>
              <a:t>****Gross</a:t>
            </a:r>
            <a:r>
              <a:rPr lang="en-US" baseline="0" dirty="0" smtClean="0"/>
              <a:t> negative and significant: Consistent with Risk Management Channel. </a:t>
            </a:r>
          </a:p>
          <a:p>
            <a:pPr marL="228600" indent="-228600">
              <a:buNone/>
            </a:pPr>
            <a:endParaRPr lang="en-US" dirty="0" smtClean="0"/>
          </a:p>
          <a:p>
            <a:r>
              <a:rPr lang="en-US" dirty="0" smtClean="0"/>
              <a:t>(2)</a:t>
            </a:r>
            <a:r>
              <a:rPr lang="en-US" baseline="0" dirty="0" smtClean="0"/>
              <a:t> </a:t>
            </a:r>
            <a:r>
              <a:rPr lang="en-US" dirty="0" smtClean="0"/>
              <a:t>Because</a:t>
            </a:r>
            <a:r>
              <a:rPr lang="en-US" baseline="0" dirty="0" smtClean="0"/>
              <a:t> of possible banks </a:t>
            </a:r>
            <a:r>
              <a:rPr lang="en-US" baseline="0" dirty="0" err="1" smtClean="0"/>
              <a:t>unob</a:t>
            </a:r>
            <a:r>
              <a:rPr lang="en-US" baseline="0" dirty="0" smtClean="0"/>
              <a:t>. Chars: Exclude Bank Controls , Include Bank FE. </a:t>
            </a:r>
          </a:p>
          <a:p>
            <a:r>
              <a:rPr lang="en-US" baseline="0" dirty="0" smtClean="0"/>
              <a:t>(3) Because of possible </a:t>
            </a:r>
            <a:r>
              <a:rPr lang="en-US" baseline="0" dirty="0" err="1" smtClean="0"/>
              <a:t>collinearity</a:t>
            </a:r>
            <a:r>
              <a:rPr lang="en-US" baseline="0" dirty="0" smtClean="0"/>
              <a:t> among two variables, we exclude gross.</a:t>
            </a:r>
          </a:p>
          <a:p>
            <a:r>
              <a:rPr lang="en-US" baseline="0" dirty="0" smtClean="0"/>
              <a:t>(4) Because loan determinants and spreads usually jointly determined we exclude these controls. </a:t>
            </a:r>
          </a:p>
          <a:p>
            <a:endParaRPr lang="nl-NL" dirty="0"/>
          </a:p>
        </p:txBody>
      </p:sp>
      <p:sp>
        <p:nvSpPr>
          <p:cNvPr id="4" name="Slide Number Placeholder 3"/>
          <p:cNvSpPr>
            <a:spLocks noGrp="1"/>
          </p:cNvSpPr>
          <p:nvPr>
            <p:ph type="sldNum" sz="quarter" idx="10"/>
          </p:nvPr>
        </p:nvSpPr>
        <p:spPr/>
        <p:txBody>
          <a:bodyPr/>
          <a:lstStyle/>
          <a:p>
            <a:fld id="{89191D41-C5FC-4C0C-B4B5-3582C93E8A12}" type="slidenum">
              <a:rPr lang="nl-NL" smtClean="0"/>
              <a:pPr/>
              <a:t>12</a:t>
            </a:fld>
            <a:endParaRPr lang="nl-N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None/>
            </a:pPr>
            <a:endParaRPr lang="en-US" dirty="0" smtClean="0"/>
          </a:p>
          <a:p>
            <a:r>
              <a:rPr lang="en-US" baseline="0" dirty="0" smtClean="0"/>
              <a:t>(5) To control for the fact that the effect might be driven by the bank general sophistication in hedging. We include also the sum of the stock of other derivatives for hedging.</a:t>
            </a:r>
          </a:p>
          <a:p>
            <a:r>
              <a:rPr lang="en-US" baseline="0" dirty="0" smtClean="0"/>
              <a:t>(6) Other possible source of bias in our model could arise if banks become more aggressive in a given period increasing the amount of derivatives held and also lowering spreads (negative bias). To control for this bias, we instrument the Gross position variable using derivatives held for trading: interest rate contracts, foreign exchange contracts, equity derivative contracts and commodity contracts. </a:t>
            </a:r>
          </a:p>
          <a:p>
            <a:r>
              <a:rPr lang="en-US" baseline="0" dirty="0" smtClean="0"/>
              <a:t>Relevant instrument (Minton, 2009) F=613</a:t>
            </a:r>
          </a:p>
          <a:p>
            <a:r>
              <a:rPr lang="en-US" baseline="0" dirty="0" smtClean="0"/>
              <a:t>Exogenous: trading activities are not related to pricing policy.</a:t>
            </a:r>
          </a:p>
          <a:p>
            <a:r>
              <a:rPr lang="en-US" baseline="0" dirty="0" smtClean="0"/>
              <a:t>(7) We also test our hypothesis with the variables of interest lagged in order to account for other possible contemporaneous sources of biases. </a:t>
            </a:r>
          </a:p>
          <a:p>
            <a:endParaRPr lang="nl-NL" dirty="0"/>
          </a:p>
        </p:txBody>
      </p:sp>
      <p:sp>
        <p:nvSpPr>
          <p:cNvPr id="4" name="Slide Number Placeholder 3"/>
          <p:cNvSpPr>
            <a:spLocks noGrp="1"/>
          </p:cNvSpPr>
          <p:nvPr>
            <p:ph type="sldNum" sz="quarter" idx="10"/>
          </p:nvPr>
        </p:nvSpPr>
        <p:spPr/>
        <p:txBody>
          <a:bodyPr/>
          <a:lstStyle/>
          <a:p>
            <a:fld id="{89191D41-C5FC-4C0C-B4B5-3582C93E8A12}" type="slidenum">
              <a:rPr lang="nl-NL" smtClean="0"/>
              <a:pPr/>
              <a:t>14</a:t>
            </a:fld>
            <a:endParaRPr lang="nl-NL"/>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 expect risk management benefits</a:t>
            </a:r>
            <a:r>
              <a:rPr lang="en-US" baseline="0" dirty="0" smtClean="0"/>
              <a:t> to persist during the crisis.</a:t>
            </a:r>
            <a:endParaRPr lang="en-US" dirty="0" smtClean="0"/>
          </a:p>
          <a:p>
            <a:pPr marL="228600" indent="-228600">
              <a:buAutoNum type="arabicParenBoth"/>
            </a:pPr>
            <a:r>
              <a:rPr lang="en-US" baseline="0" dirty="0" smtClean="0"/>
              <a:t>Just include the crisis dummy, equal to one after IV07 . We show that spreads increased across the board.</a:t>
            </a:r>
          </a:p>
          <a:p>
            <a:pPr marL="228600" indent="-228600">
              <a:buAutoNum type="arabicParenBoth"/>
            </a:pPr>
            <a:r>
              <a:rPr lang="en-US" baseline="0" dirty="0" smtClean="0"/>
              <a:t> The benefit of risk management stays unchanged for this period.  CRT banks do not have a different effect on spreads after the crisis. </a:t>
            </a:r>
          </a:p>
          <a:p>
            <a:pPr marL="228600" indent="-228600">
              <a:buAutoNum type="arabicParenBoth"/>
            </a:pPr>
            <a:r>
              <a:rPr lang="en-US" baseline="0" dirty="0" smtClean="0"/>
              <a:t> It could be argued that the interaction term is insignificant because markets for financial innovations broke down during the crisis, to tackle this problem we use the gross position held by banks at the third quarter of 2007. So we check whether banks holding a larger amount of gross position before the crisis asked higher interest rate after the crisis. </a:t>
            </a:r>
          </a:p>
          <a:p>
            <a:pPr marL="228600" indent="-228600">
              <a:buAutoNum type="arabicParenBoth"/>
            </a:pPr>
            <a:r>
              <a:rPr lang="en-US" baseline="0" dirty="0" smtClean="0"/>
              <a:t> We include net position. As expected, RR are unchanged. The effect of net is not significant.</a:t>
            </a:r>
          </a:p>
          <a:p>
            <a:pPr marL="228600" indent="-228600">
              <a:buAutoNum type="arabicParenBoth"/>
            </a:pPr>
            <a:endParaRPr lang="nl-NL" dirty="0"/>
          </a:p>
        </p:txBody>
      </p:sp>
      <p:sp>
        <p:nvSpPr>
          <p:cNvPr id="4" name="Slide Number Placeholder 3"/>
          <p:cNvSpPr>
            <a:spLocks noGrp="1"/>
          </p:cNvSpPr>
          <p:nvPr>
            <p:ph type="sldNum" sz="quarter" idx="10"/>
          </p:nvPr>
        </p:nvSpPr>
        <p:spPr/>
        <p:txBody>
          <a:bodyPr/>
          <a:lstStyle/>
          <a:p>
            <a:fld id="{89191D41-C5FC-4C0C-B4B5-3582C93E8A12}" type="slidenum">
              <a:rPr lang="nl-NL" smtClean="0"/>
              <a:pPr/>
              <a:t>16</a:t>
            </a:fld>
            <a:endParaRPr lang="nl-NL"/>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Charge offs: debt</a:t>
            </a:r>
            <a:r>
              <a:rPr lang="en-US" baseline="0" dirty="0" smtClean="0"/>
              <a:t> that is deemed </a:t>
            </a:r>
            <a:r>
              <a:rPr lang="nl-NL" dirty="0" smtClean="0"/>
              <a:t>uncollectable </a:t>
            </a:r>
            <a:r>
              <a:rPr lang="en-US" baseline="0" dirty="0" smtClean="0"/>
              <a:t>and charged as expenses in the income statement. </a:t>
            </a:r>
            <a:endParaRPr lang="nl-NL" dirty="0"/>
          </a:p>
        </p:txBody>
      </p:sp>
      <p:sp>
        <p:nvSpPr>
          <p:cNvPr id="4" name="Slide Number Placeholder 3"/>
          <p:cNvSpPr>
            <a:spLocks noGrp="1"/>
          </p:cNvSpPr>
          <p:nvPr>
            <p:ph type="sldNum" sz="quarter" idx="10"/>
          </p:nvPr>
        </p:nvSpPr>
        <p:spPr/>
        <p:txBody>
          <a:bodyPr/>
          <a:lstStyle/>
          <a:p>
            <a:fld id="{89191D41-C5FC-4C0C-B4B5-3582C93E8A12}" type="slidenum">
              <a:rPr lang="nl-NL" smtClean="0"/>
              <a:pPr/>
              <a:t>18</a:t>
            </a:fld>
            <a:endParaRPr lang="nl-NL"/>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a:t>
            </a:r>
            <a:r>
              <a:rPr lang="en-US" baseline="0" dirty="0" smtClean="0"/>
              <a:t> expect banks managing their risk to have less losses because of success of risk management. Also, we expect these banks to be able to isolate from liquidity variability in a more effective manner, therefore we expect them </a:t>
            </a:r>
            <a:r>
              <a:rPr lang="en-US" dirty="0" smtClean="0"/>
              <a:t>to have been less constrained during the crisis.</a:t>
            </a:r>
            <a:r>
              <a:rPr lang="en-US" baseline="0" dirty="0" smtClean="0"/>
              <a:t> Therefore, facing a lower contraction in loan volumes after the crisis. </a:t>
            </a:r>
          </a:p>
          <a:p>
            <a:endParaRPr lang="en-US" baseline="0" dirty="0" smtClean="0"/>
          </a:p>
          <a:p>
            <a:r>
              <a:rPr lang="en-US" baseline="0" dirty="0" smtClean="0"/>
              <a:t>(1) Dependent variable: Net charge-offs minus net gains of credit derivatives. If banks are being effective in managing their risks, charge-offs of loans should be offset by gains in CDS. </a:t>
            </a:r>
          </a:p>
          <a:p>
            <a:r>
              <a:rPr lang="en-US" baseline="0" dirty="0" smtClean="0"/>
              <a:t>On average all banks experienced losses during the crisis. However, banks managing risk have less charge-offs than other banks, and they did not suffer more after the crisis.</a:t>
            </a:r>
          </a:p>
          <a:p>
            <a:endParaRPr lang="en-US" baseline="0" dirty="0" smtClean="0"/>
          </a:p>
          <a:p>
            <a:r>
              <a:rPr lang="en-US" baseline="0" dirty="0" smtClean="0"/>
              <a:t>(2) Dependent variable: Commercial Loans over total assets. </a:t>
            </a:r>
          </a:p>
          <a:p>
            <a:r>
              <a:rPr lang="en-US" baseline="0" dirty="0" smtClean="0"/>
              <a:t>On average all banks cut their lending after the crisis.  But, after the crisis banks managing risk cut their lending in a less amount.</a:t>
            </a:r>
            <a:endParaRPr lang="nl-NL" dirty="0"/>
          </a:p>
        </p:txBody>
      </p:sp>
      <p:sp>
        <p:nvSpPr>
          <p:cNvPr id="4" name="Slide Number Placeholder 3"/>
          <p:cNvSpPr>
            <a:spLocks noGrp="1"/>
          </p:cNvSpPr>
          <p:nvPr>
            <p:ph type="sldNum" sz="quarter" idx="10"/>
          </p:nvPr>
        </p:nvSpPr>
        <p:spPr/>
        <p:txBody>
          <a:bodyPr/>
          <a:lstStyle/>
          <a:p>
            <a:fld id="{89191D41-C5FC-4C0C-B4B5-3582C93E8A12}" type="slidenum">
              <a:rPr lang="nl-NL" smtClean="0"/>
              <a:pPr/>
              <a:t>19</a:t>
            </a:fld>
            <a:endParaRPr lang="nl-NL"/>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89191D41-C5FC-4C0C-B4B5-3582C93E8A12}" type="slidenum">
              <a:rPr lang="nl-NL" smtClean="0"/>
              <a:pPr/>
              <a:t>20</a:t>
            </a:fld>
            <a:endParaRPr lang="nl-NL"/>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710712" y="1674813"/>
            <a:ext cx="7722577" cy="1160462"/>
          </a:xfrm>
        </p:spPr>
        <p:txBody>
          <a:bodyPr/>
          <a:lstStyle>
            <a:lvl1pPr>
              <a:defRPr/>
            </a:lvl1pPr>
          </a:lstStyle>
          <a:p>
            <a:r>
              <a:rPr lang="en-US" smtClean="0"/>
              <a:t>Click to edit Master title style</a:t>
            </a:r>
            <a:endParaRPr lang="en-US"/>
          </a:p>
        </p:txBody>
      </p:sp>
      <p:sp>
        <p:nvSpPr>
          <p:cNvPr id="5123" name="Rectangle 3"/>
          <p:cNvSpPr>
            <a:spLocks noGrp="1" noChangeArrowheads="1"/>
          </p:cNvSpPr>
          <p:nvPr>
            <p:ph type="subTitle" idx="1"/>
          </p:nvPr>
        </p:nvSpPr>
        <p:spPr>
          <a:xfrm>
            <a:off x="1422889" y="3113088"/>
            <a:ext cx="6400800" cy="2532062"/>
          </a:xfrm>
        </p:spPr>
        <p:txBody>
          <a:bodyPr/>
          <a:lstStyle>
            <a:lvl1pPr marL="0" indent="0" algn="ctr">
              <a:buFontTx/>
              <a:buNone/>
              <a:defRPr/>
            </a:lvl1pPr>
          </a:lstStyle>
          <a:p>
            <a:r>
              <a:rPr lang="en-US" smtClean="0"/>
              <a:t>Click to edit Master subtitle style</a:t>
            </a:r>
            <a:endParaRPr lang="en-US"/>
          </a:p>
        </p:txBody>
      </p:sp>
      <p:sp>
        <p:nvSpPr>
          <p:cNvPr id="5124" name="Rectangle 4"/>
          <p:cNvSpPr>
            <a:spLocks noGrp="1" noChangeArrowheads="1"/>
          </p:cNvSpPr>
          <p:nvPr>
            <p:ph type="dt" sz="half" idx="2"/>
          </p:nvPr>
        </p:nvSpPr>
        <p:spPr>
          <a:xfrm>
            <a:off x="710712" y="6276975"/>
            <a:ext cx="1931377" cy="476250"/>
          </a:xfrm>
        </p:spPr>
        <p:txBody>
          <a:bodyPr/>
          <a:lstStyle>
            <a:lvl1pPr>
              <a:defRPr/>
            </a:lvl1pPr>
          </a:lstStyle>
          <a:p>
            <a:fld id="{96048A1B-3CE8-4FD8-A61B-565D4FDF2AF9}" type="datetimeFigureOut">
              <a:rPr lang="nl-NL" smtClean="0"/>
              <a:pPr/>
              <a:t>10-1-2012</a:t>
            </a:fld>
            <a:endParaRPr lang="nl-NL"/>
          </a:p>
        </p:txBody>
      </p:sp>
      <p:sp>
        <p:nvSpPr>
          <p:cNvPr id="5125" name="Rectangle 5"/>
          <p:cNvSpPr>
            <a:spLocks noGrp="1" noChangeArrowheads="1"/>
          </p:cNvSpPr>
          <p:nvPr>
            <p:ph type="sldNum" sz="quarter" idx="4"/>
          </p:nvPr>
        </p:nvSpPr>
        <p:spPr>
          <a:xfrm>
            <a:off x="6604489" y="6276975"/>
            <a:ext cx="1828800" cy="476250"/>
          </a:xfrm>
        </p:spPr>
        <p:txBody>
          <a:bodyPr/>
          <a:lstStyle>
            <a:lvl1pPr>
              <a:defRPr/>
            </a:lvl1pPr>
          </a:lstStyle>
          <a:p>
            <a:fld id="{6FD3ACAB-59A3-4132-92D8-6E47F11D96AE}" type="slidenum">
              <a:rPr lang="nl-NL" smtClean="0"/>
              <a:pPr/>
              <a:t>‹#›</a:t>
            </a:fld>
            <a:endParaRPr lang="nl-NL"/>
          </a:p>
        </p:txBody>
      </p:sp>
      <p:grpSp>
        <p:nvGrpSpPr>
          <p:cNvPr id="2" name="Group 11"/>
          <p:cNvGrpSpPr>
            <a:grpSpLocks/>
          </p:cNvGrpSpPr>
          <p:nvPr/>
        </p:nvGrpSpPr>
        <p:grpSpPr bwMode="auto">
          <a:xfrm>
            <a:off x="710712" y="211139"/>
            <a:ext cx="7722577" cy="841375"/>
            <a:chOff x="485" y="142"/>
            <a:chExt cx="5270" cy="530"/>
          </a:xfrm>
        </p:grpSpPr>
        <p:sp>
          <p:nvSpPr>
            <p:cNvPr id="5132" name="Line 12"/>
            <p:cNvSpPr>
              <a:spLocks noChangeShapeType="1"/>
            </p:cNvSpPr>
            <p:nvPr/>
          </p:nvSpPr>
          <p:spPr bwMode="black">
            <a:xfrm>
              <a:off x="485" y="672"/>
              <a:ext cx="5270" cy="0"/>
            </a:xfrm>
            <a:prstGeom prst="line">
              <a:avLst/>
            </a:prstGeom>
            <a:noFill/>
            <a:ln w="12700">
              <a:solidFill>
                <a:schemeClr val="tx1"/>
              </a:solidFill>
              <a:round/>
              <a:headEnd/>
              <a:tailEnd/>
            </a:ln>
            <a:effectLst/>
          </p:spPr>
          <p:txBody>
            <a:bodyPr/>
            <a:lstStyle/>
            <a:p>
              <a:endParaRPr lang="en-US"/>
            </a:p>
          </p:txBody>
        </p:sp>
        <p:pic>
          <p:nvPicPr>
            <p:cNvPr id="5133" name="Picture 13" descr="E:\ruud\My Documents\powerpoint\ppbackground\1#UvT_eng_PMS1200.bmp"/>
            <p:cNvPicPr>
              <a:picLocks noChangeAspect="1" noChangeArrowheads="1"/>
            </p:cNvPicPr>
            <p:nvPr userDrawn="1"/>
          </p:nvPicPr>
          <p:blipFill>
            <a:blip r:embed="rId2" cstate="print"/>
            <a:srcRect/>
            <a:stretch>
              <a:fillRect/>
            </a:stretch>
          </p:blipFill>
          <p:spPr bwMode="gray">
            <a:xfrm>
              <a:off x="2376" y="142"/>
              <a:ext cx="1494" cy="418"/>
            </a:xfrm>
            <a:prstGeom prst="rect">
              <a:avLst/>
            </a:prstGeom>
            <a:noFill/>
            <a:ln w="9525">
              <a:noFill/>
              <a:miter lim="800000"/>
              <a:headEnd/>
              <a:tailEnd/>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96048A1B-3CE8-4FD8-A61B-565D4FDF2AF9}" type="datetimeFigureOut">
              <a:rPr lang="nl-NL" smtClean="0"/>
              <a:pPr/>
              <a:t>10-1-2012</a:t>
            </a:fld>
            <a:endParaRPr lang="nl-NL"/>
          </a:p>
        </p:txBody>
      </p:sp>
      <p:sp>
        <p:nvSpPr>
          <p:cNvPr id="5" name="Slide Number Placeholder 4"/>
          <p:cNvSpPr>
            <a:spLocks noGrp="1"/>
          </p:cNvSpPr>
          <p:nvPr>
            <p:ph type="sldNum" sz="quarter" idx="11"/>
          </p:nvPr>
        </p:nvSpPr>
        <p:spPr/>
        <p:txBody>
          <a:bodyPr/>
          <a:lstStyle>
            <a:lvl1pPr>
              <a:defRPr/>
            </a:lvl1pPr>
          </a:lstStyle>
          <a:p>
            <a:fld id="{6FD3ACAB-59A3-4132-92D8-6E47F11D96AE}" type="slidenum">
              <a:rPr lang="nl-NL" smtClean="0"/>
              <a:pPr/>
              <a:t>‹#›</a:t>
            </a:fld>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435" y="4406901"/>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435"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96048A1B-3CE8-4FD8-A61B-565D4FDF2AF9}" type="datetimeFigureOut">
              <a:rPr lang="nl-NL" smtClean="0"/>
              <a:pPr/>
              <a:t>10-1-2012</a:t>
            </a:fld>
            <a:endParaRPr lang="nl-NL"/>
          </a:p>
        </p:txBody>
      </p:sp>
      <p:sp>
        <p:nvSpPr>
          <p:cNvPr id="5" name="Slide Number Placeholder 4"/>
          <p:cNvSpPr>
            <a:spLocks noGrp="1"/>
          </p:cNvSpPr>
          <p:nvPr>
            <p:ph type="sldNum" sz="quarter" idx="11"/>
          </p:nvPr>
        </p:nvSpPr>
        <p:spPr/>
        <p:txBody>
          <a:bodyPr/>
          <a:lstStyle>
            <a:lvl1pPr>
              <a:defRPr/>
            </a:lvl1pPr>
          </a:lstStyle>
          <a:p>
            <a:fld id="{6FD3ACAB-59A3-4132-92D8-6E47F11D96AE}" type="slidenum">
              <a:rPr lang="nl-NL" smtClean="0"/>
              <a:pPr/>
              <a:t>‹#›</a:t>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2057400"/>
            <a:ext cx="3815862"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2338" y="2057400"/>
            <a:ext cx="3815862"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fld id="{96048A1B-3CE8-4FD8-A61B-565D4FDF2AF9}" type="datetimeFigureOut">
              <a:rPr lang="nl-NL" smtClean="0"/>
              <a:pPr/>
              <a:t>10-1-2012</a:t>
            </a:fld>
            <a:endParaRPr lang="nl-NL"/>
          </a:p>
        </p:txBody>
      </p:sp>
      <p:sp>
        <p:nvSpPr>
          <p:cNvPr id="6" name="Slide Number Placeholder 5"/>
          <p:cNvSpPr>
            <a:spLocks noGrp="1"/>
          </p:cNvSpPr>
          <p:nvPr>
            <p:ph type="sldNum" sz="quarter" idx="11"/>
          </p:nvPr>
        </p:nvSpPr>
        <p:spPr/>
        <p:txBody>
          <a:bodyPr/>
          <a:lstStyle>
            <a:lvl1pPr>
              <a:defRPr/>
            </a:lvl1pPr>
          </a:lstStyle>
          <a:p>
            <a:fld id="{6FD3ACAB-59A3-4132-92D8-6E47F11D96AE}" type="slidenum">
              <a:rPr lang="nl-NL" smtClean="0"/>
              <a:pPr/>
              <a:t>‹#›</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06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06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270" y="1535113"/>
            <a:ext cx="40415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270" y="2174875"/>
            <a:ext cx="40415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fld id="{96048A1B-3CE8-4FD8-A61B-565D4FDF2AF9}" type="datetimeFigureOut">
              <a:rPr lang="nl-NL" smtClean="0"/>
              <a:pPr/>
              <a:t>10-1-2012</a:t>
            </a:fld>
            <a:endParaRPr lang="nl-NL"/>
          </a:p>
        </p:txBody>
      </p:sp>
      <p:sp>
        <p:nvSpPr>
          <p:cNvPr id="8" name="Slide Number Placeholder 7"/>
          <p:cNvSpPr>
            <a:spLocks noGrp="1"/>
          </p:cNvSpPr>
          <p:nvPr>
            <p:ph type="sldNum" sz="quarter" idx="11"/>
          </p:nvPr>
        </p:nvSpPr>
        <p:spPr/>
        <p:txBody>
          <a:bodyPr/>
          <a:lstStyle>
            <a:lvl1pPr>
              <a:defRPr/>
            </a:lvl1pPr>
          </a:lstStyle>
          <a:p>
            <a:fld id="{6FD3ACAB-59A3-4132-92D8-6E47F11D96AE}" type="slidenum">
              <a:rPr lang="nl-NL" smtClean="0"/>
              <a:pPr/>
              <a:t>‹#›</a:t>
            </a:fld>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fld id="{96048A1B-3CE8-4FD8-A61B-565D4FDF2AF9}" type="datetimeFigureOut">
              <a:rPr lang="nl-NL" smtClean="0"/>
              <a:pPr/>
              <a:t>10-1-2012</a:t>
            </a:fld>
            <a:endParaRPr lang="nl-NL"/>
          </a:p>
        </p:txBody>
      </p:sp>
      <p:sp>
        <p:nvSpPr>
          <p:cNvPr id="4" name="Slide Number Placeholder 3"/>
          <p:cNvSpPr>
            <a:spLocks noGrp="1"/>
          </p:cNvSpPr>
          <p:nvPr>
            <p:ph type="sldNum" sz="quarter" idx="11"/>
          </p:nvPr>
        </p:nvSpPr>
        <p:spPr/>
        <p:txBody>
          <a:bodyPr/>
          <a:lstStyle>
            <a:lvl1pPr>
              <a:defRPr/>
            </a:lvl1pPr>
          </a:lstStyle>
          <a:p>
            <a:fld id="{6FD3ACAB-59A3-4132-92D8-6E47F11D96AE}" type="slidenum">
              <a:rPr lang="nl-NL" smtClean="0"/>
              <a:pPr/>
              <a:t>‹#›</a:t>
            </a:fld>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96048A1B-3CE8-4FD8-A61B-565D4FDF2AF9}" type="datetimeFigureOut">
              <a:rPr lang="nl-NL" smtClean="0"/>
              <a:pPr/>
              <a:t>10-1-2012</a:t>
            </a:fld>
            <a:endParaRPr lang="nl-NL"/>
          </a:p>
        </p:txBody>
      </p:sp>
      <p:sp>
        <p:nvSpPr>
          <p:cNvPr id="3" name="Slide Number Placeholder 2"/>
          <p:cNvSpPr>
            <a:spLocks noGrp="1"/>
          </p:cNvSpPr>
          <p:nvPr>
            <p:ph type="sldNum" sz="quarter" idx="11"/>
          </p:nvPr>
        </p:nvSpPr>
        <p:spPr/>
        <p:txBody>
          <a:bodyPr/>
          <a:lstStyle>
            <a:lvl1pPr>
              <a:defRPr/>
            </a:lvl1pPr>
          </a:lstStyle>
          <a:p>
            <a:fld id="{6FD3ACAB-59A3-4132-92D8-6E47F11D96AE}" type="slidenum">
              <a:rPr lang="nl-NL" smtClean="0"/>
              <a:pPr/>
              <a:t>‹#›</a:t>
            </a:fld>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435"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538" y="273051"/>
            <a:ext cx="511126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1"/>
            <a:ext cx="300843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96048A1B-3CE8-4FD8-A61B-565D4FDF2AF9}" type="datetimeFigureOut">
              <a:rPr lang="nl-NL" smtClean="0"/>
              <a:pPr/>
              <a:t>10-1-2012</a:t>
            </a:fld>
            <a:endParaRPr lang="nl-NL"/>
          </a:p>
        </p:txBody>
      </p:sp>
      <p:sp>
        <p:nvSpPr>
          <p:cNvPr id="6" name="Slide Number Placeholder 5"/>
          <p:cNvSpPr>
            <a:spLocks noGrp="1"/>
          </p:cNvSpPr>
          <p:nvPr>
            <p:ph type="sldNum" sz="quarter" idx="11"/>
          </p:nvPr>
        </p:nvSpPr>
        <p:spPr/>
        <p:txBody>
          <a:bodyPr/>
          <a:lstStyle>
            <a:lvl1pPr>
              <a:defRPr/>
            </a:lvl1pPr>
          </a:lstStyle>
          <a:p>
            <a:fld id="{6FD3ACAB-59A3-4132-92D8-6E47F11D96AE}" type="slidenum">
              <a:rPr lang="nl-NL" smtClean="0"/>
              <a:pPr/>
              <a:t>‹#›</a:t>
            </a:fld>
            <a:endParaRPr lang="nl-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166"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166"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166"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96048A1B-3CE8-4FD8-A61B-565D4FDF2AF9}" type="datetimeFigureOut">
              <a:rPr lang="nl-NL" smtClean="0"/>
              <a:pPr/>
              <a:t>10-1-2012</a:t>
            </a:fld>
            <a:endParaRPr lang="nl-NL"/>
          </a:p>
        </p:txBody>
      </p:sp>
      <p:sp>
        <p:nvSpPr>
          <p:cNvPr id="6" name="Slide Number Placeholder 5"/>
          <p:cNvSpPr>
            <a:spLocks noGrp="1"/>
          </p:cNvSpPr>
          <p:nvPr>
            <p:ph type="sldNum" sz="quarter" idx="11"/>
          </p:nvPr>
        </p:nvSpPr>
        <p:spPr/>
        <p:txBody>
          <a:bodyPr/>
          <a:lstStyle>
            <a:lvl1pPr>
              <a:defRPr/>
            </a:lvl1pPr>
          </a:lstStyle>
          <a:p>
            <a:fld id="{6FD3ACAB-59A3-4132-92D8-6E47F11D96AE}" type="slidenum">
              <a:rPr lang="nl-NL" smtClean="0"/>
              <a:pPr/>
              <a:t>‹#›</a:t>
            </a:fld>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96048A1B-3CE8-4FD8-A61B-565D4FDF2AF9}" type="datetimeFigureOut">
              <a:rPr lang="nl-NL" smtClean="0"/>
              <a:pPr/>
              <a:t>10-1-2012</a:t>
            </a:fld>
            <a:endParaRPr lang="nl-NL"/>
          </a:p>
        </p:txBody>
      </p:sp>
      <p:sp>
        <p:nvSpPr>
          <p:cNvPr id="5" name="Slide Number Placeholder 4"/>
          <p:cNvSpPr>
            <a:spLocks noGrp="1"/>
          </p:cNvSpPr>
          <p:nvPr>
            <p:ph type="sldNum" sz="quarter" idx="11"/>
          </p:nvPr>
        </p:nvSpPr>
        <p:spPr/>
        <p:txBody>
          <a:bodyPr/>
          <a:lstStyle>
            <a:lvl1pPr>
              <a:defRPr/>
            </a:lvl1pPr>
          </a:lstStyle>
          <a:p>
            <a:fld id="{6FD3ACAB-59A3-4132-92D8-6E47F11D96AE}" type="slidenum">
              <a:rPr lang="nl-NL" smtClean="0"/>
              <a:pPr/>
              <a:t>‹#›</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1271588"/>
            <a:ext cx="1943100" cy="48244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1271588"/>
            <a:ext cx="5688623" cy="48244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96048A1B-3CE8-4FD8-A61B-565D4FDF2AF9}" type="datetimeFigureOut">
              <a:rPr lang="nl-NL" smtClean="0"/>
              <a:pPr/>
              <a:t>10-1-2012</a:t>
            </a:fld>
            <a:endParaRPr lang="nl-NL"/>
          </a:p>
        </p:txBody>
      </p:sp>
      <p:sp>
        <p:nvSpPr>
          <p:cNvPr id="5" name="Slide Number Placeholder 4"/>
          <p:cNvSpPr>
            <a:spLocks noGrp="1"/>
          </p:cNvSpPr>
          <p:nvPr>
            <p:ph type="sldNum" sz="quarter" idx="11"/>
          </p:nvPr>
        </p:nvSpPr>
        <p:spPr/>
        <p:txBody>
          <a:bodyPr/>
          <a:lstStyle>
            <a:lvl1pPr>
              <a:defRPr/>
            </a:lvl1pPr>
          </a:lstStyle>
          <a:p>
            <a:fld id="{6FD3ACAB-59A3-4132-92D8-6E47F11D96AE}" type="slidenum">
              <a:rPr lang="nl-NL" smtClean="0"/>
              <a:pPr/>
              <a:t>‹#›</a:t>
            </a:fld>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14"/>
          <p:cNvGrpSpPr>
            <a:grpSpLocks/>
          </p:cNvGrpSpPr>
          <p:nvPr/>
        </p:nvGrpSpPr>
        <p:grpSpPr bwMode="auto">
          <a:xfrm>
            <a:off x="710712" y="225426"/>
            <a:ext cx="7722577" cy="841375"/>
            <a:chOff x="485" y="142"/>
            <a:chExt cx="5270" cy="530"/>
          </a:xfrm>
        </p:grpSpPr>
        <p:sp>
          <p:nvSpPr>
            <p:cNvPr id="1032" name="Line 8"/>
            <p:cNvSpPr>
              <a:spLocks noChangeShapeType="1"/>
            </p:cNvSpPr>
            <p:nvPr/>
          </p:nvSpPr>
          <p:spPr bwMode="black">
            <a:xfrm>
              <a:off x="485" y="672"/>
              <a:ext cx="5270" cy="0"/>
            </a:xfrm>
            <a:prstGeom prst="line">
              <a:avLst/>
            </a:prstGeom>
            <a:noFill/>
            <a:ln w="12700">
              <a:solidFill>
                <a:schemeClr val="tx1"/>
              </a:solidFill>
              <a:round/>
              <a:headEnd/>
              <a:tailEnd/>
            </a:ln>
            <a:effectLst/>
          </p:spPr>
          <p:txBody>
            <a:bodyPr/>
            <a:lstStyle/>
            <a:p>
              <a:endParaRPr lang="en-US"/>
            </a:p>
          </p:txBody>
        </p:sp>
        <p:pic>
          <p:nvPicPr>
            <p:cNvPr id="1037" name="Picture 13" descr="E:\ruud\My Documents\powerpoint\ppbackground\1#UvT_eng_PMS1200.bmp"/>
            <p:cNvPicPr>
              <a:picLocks noChangeAspect="1" noChangeArrowheads="1"/>
            </p:cNvPicPr>
            <p:nvPr userDrawn="1"/>
          </p:nvPicPr>
          <p:blipFill>
            <a:blip r:embed="rId13" cstate="print"/>
            <a:srcRect/>
            <a:stretch>
              <a:fillRect/>
            </a:stretch>
          </p:blipFill>
          <p:spPr bwMode="gray">
            <a:xfrm>
              <a:off x="2376" y="142"/>
              <a:ext cx="1494" cy="418"/>
            </a:xfrm>
            <a:prstGeom prst="rect">
              <a:avLst/>
            </a:prstGeom>
            <a:noFill/>
            <a:ln w="9525">
              <a:noFill/>
              <a:miter lim="800000"/>
              <a:headEnd/>
              <a:tailEnd/>
            </a:ln>
          </p:spPr>
        </p:pic>
      </p:grpSp>
      <p:sp>
        <p:nvSpPr>
          <p:cNvPr id="1026" name="Rectangle 2"/>
          <p:cNvSpPr>
            <a:spLocks noGrp="1" noChangeArrowheads="1"/>
          </p:cNvSpPr>
          <p:nvPr>
            <p:ph type="title"/>
          </p:nvPr>
        </p:nvSpPr>
        <p:spPr bwMode="auto">
          <a:xfrm>
            <a:off x="685800" y="1271588"/>
            <a:ext cx="7772400" cy="6334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2057400"/>
            <a:ext cx="7772400" cy="403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fld id="{96048A1B-3CE8-4FD8-A61B-565D4FDF2AF9}" type="datetimeFigureOut">
              <a:rPr lang="nl-NL" smtClean="0"/>
              <a:pPr/>
              <a:t>10-1-2012</a:t>
            </a:fld>
            <a:endParaRPr lang="nl-NL"/>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fld id="{6FD3ACAB-59A3-4132-92D8-6E47F11D96AE}" type="slidenum">
              <a:rPr lang="nl-NL" smtClean="0"/>
              <a:pPr/>
              <a:t>‹#›</a:t>
            </a:fld>
            <a:endParaRPr lang="nl-NL"/>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fontAlgn="base" hangingPunct="1">
        <a:spcBef>
          <a:spcPct val="0"/>
        </a:spcBef>
        <a:spcAft>
          <a:spcPct val="0"/>
        </a:spcAft>
        <a:defRPr sz="3000">
          <a:solidFill>
            <a:schemeClr val="tx2"/>
          </a:solidFill>
          <a:latin typeface="+mj-lt"/>
          <a:ea typeface="+mj-ea"/>
          <a:cs typeface="+mj-cs"/>
        </a:defRPr>
      </a:lvl1pPr>
      <a:lvl2pPr algn="ctr" rtl="0" eaLnBrk="1" fontAlgn="base" hangingPunct="1">
        <a:spcBef>
          <a:spcPct val="0"/>
        </a:spcBef>
        <a:spcAft>
          <a:spcPct val="0"/>
        </a:spcAft>
        <a:defRPr sz="3000">
          <a:solidFill>
            <a:schemeClr val="tx2"/>
          </a:solidFill>
          <a:latin typeface="Arial" charset="0"/>
        </a:defRPr>
      </a:lvl2pPr>
      <a:lvl3pPr algn="ctr" rtl="0" eaLnBrk="1" fontAlgn="base" hangingPunct="1">
        <a:spcBef>
          <a:spcPct val="0"/>
        </a:spcBef>
        <a:spcAft>
          <a:spcPct val="0"/>
        </a:spcAft>
        <a:defRPr sz="3000">
          <a:solidFill>
            <a:schemeClr val="tx2"/>
          </a:solidFill>
          <a:latin typeface="Arial" charset="0"/>
        </a:defRPr>
      </a:lvl3pPr>
      <a:lvl4pPr algn="ctr" rtl="0" eaLnBrk="1" fontAlgn="base" hangingPunct="1">
        <a:spcBef>
          <a:spcPct val="0"/>
        </a:spcBef>
        <a:spcAft>
          <a:spcPct val="0"/>
        </a:spcAft>
        <a:defRPr sz="3000">
          <a:solidFill>
            <a:schemeClr val="tx2"/>
          </a:solidFill>
          <a:latin typeface="Arial" charset="0"/>
        </a:defRPr>
      </a:lvl4pPr>
      <a:lvl5pPr algn="ctr" rtl="0" eaLnBrk="1" fontAlgn="base" hangingPunct="1">
        <a:spcBef>
          <a:spcPct val="0"/>
        </a:spcBef>
        <a:spcAft>
          <a:spcPct val="0"/>
        </a:spcAft>
        <a:defRPr sz="3000">
          <a:solidFill>
            <a:schemeClr val="tx2"/>
          </a:solidFill>
          <a:latin typeface="Arial" charset="0"/>
        </a:defRPr>
      </a:lvl5pPr>
      <a:lvl6pPr marL="457200" algn="ctr" rtl="0" eaLnBrk="1" fontAlgn="base" hangingPunct="1">
        <a:spcBef>
          <a:spcPct val="0"/>
        </a:spcBef>
        <a:spcAft>
          <a:spcPct val="0"/>
        </a:spcAft>
        <a:defRPr sz="3000">
          <a:solidFill>
            <a:schemeClr val="tx2"/>
          </a:solidFill>
          <a:latin typeface="Arial" charset="0"/>
        </a:defRPr>
      </a:lvl6pPr>
      <a:lvl7pPr marL="914400" algn="ctr" rtl="0" eaLnBrk="1" fontAlgn="base" hangingPunct="1">
        <a:spcBef>
          <a:spcPct val="0"/>
        </a:spcBef>
        <a:spcAft>
          <a:spcPct val="0"/>
        </a:spcAft>
        <a:defRPr sz="3000">
          <a:solidFill>
            <a:schemeClr val="tx2"/>
          </a:solidFill>
          <a:latin typeface="Arial" charset="0"/>
        </a:defRPr>
      </a:lvl7pPr>
      <a:lvl8pPr marL="1371600" algn="ctr" rtl="0" eaLnBrk="1" fontAlgn="base" hangingPunct="1">
        <a:spcBef>
          <a:spcPct val="0"/>
        </a:spcBef>
        <a:spcAft>
          <a:spcPct val="0"/>
        </a:spcAft>
        <a:defRPr sz="3000">
          <a:solidFill>
            <a:schemeClr val="tx2"/>
          </a:solidFill>
          <a:latin typeface="Arial" charset="0"/>
        </a:defRPr>
      </a:lvl8pPr>
      <a:lvl9pPr marL="1828800" algn="ctr" rtl="0" eaLnBrk="1" fontAlgn="base" hangingPunct="1">
        <a:spcBef>
          <a:spcPct val="0"/>
        </a:spcBef>
        <a:spcAft>
          <a:spcPct val="0"/>
        </a:spcAft>
        <a:defRPr sz="3000">
          <a:solidFill>
            <a:schemeClr val="tx2"/>
          </a:solidFill>
          <a:latin typeface="Arial" charset="0"/>
        </a:defRPr>
      </a:lvl9pPr>
    </p:titleStyle>
    <p:bodyStyle>
      <a:lvl1pPr marL="342900" indent="-342900" algn="l" rtl="0" eaLnBrk="1" fontAlgn="base" hangingPunct="1">
        <a:spcBef>
          <a:spcPct val="20000"/>
        </a:spcBef>
        <a:spcAft>
          <a:spcPct val="0"/>
        </a:spcAft>
        <a:buChar char="•"/>
        <a:defRPr sz="20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0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981200"/>
            <a:ext cx="8433289" cy="1160462"/>
          </a:xfrm>
        </p:spPr>
        <p:txBody>
          <a:bodyPr/>
          <a:lstStyle/>
          <a:p>
            <a:r>
              <a:rPr lang="en-US" sz="3600" dirty="0" smtClean="0">
                <a:latin typeface="Perpetua"/>
              </a:rPr>
              <a:t>How does financial innovation affect bank behavior? Evidence from credit markets</a:t>
            </a:r>
            <a:endParaRPr lang="nl-NL" sz="3600" dirty="0">
              <a:latin typeface="Perpetua"/>
            </a:endParaRPr>
          </a:p>
        </p:txBody>
      </p:sp>
      <p:sp>
        <p:nvSpPr>
          <p:cNvPr id="3" name="Subtitle 2"/>
          <p:cNvSpPr>
            <a:spLocks noGrp="1"/>
          </p:cNvSpPr>
          <p:nvPr>
            <p:ph type="subTitle" idx="1"/>
          </p:nvPr>
        </p:nvSpPr>
        <p:spPr>
          <a:xfrm>
            <a:off x="1371600" y="3962400"/>
            <a:ext cx="6400800" cy="2532062"/>
          </a:xfrm>
        </p:spPr>
        <p:txBody>
          <a:bodyPr/>
          <a:lstStyle/>
          <a:p>
            <a:r>
              <a:rPr lang="en-US" dirty="0" smtClean="0">
                <a:latin typeface="Perpetua" pitchFamily="18" charset="0"/>
              </a:rPr>
              <a:t>Lars </a:t>
            </a:r>
            <a:r>
              <a:rPr lang="en-US" dirty="0" err="1" smtClean="0">
                <a:latin typeface="Perpetua" pitchFamily="18" charset="0"/>
              </a:rPr>
              <a:t>Norden</a:t>
            </a:r>
            <a:endParaRPr lang="en-US" dirty="0" smtClean="0">
              <a:latin typeface="Perpetua" pitchFamily="18" charset="0"/>
            </a:endParaRPr>
          </a:p>
          <a:p>
            <a:r>
              <a:rPr lang="en-US" dirty="0" smtClean="0">
                <a:latin typeface="Perpetua" pitchFamily="18" charset="0"/>
              </a:rPr>
              <a:t>Consuelo Silva </a:t>
            </a:r>
            <a:r>
              <a:rPr lang="en-US" dirty="0" err="1" smtClean="0">
                <a:latin typeface="Perpetua" pitchFamily="18" charset="0"/>
              </a:rPr>
              <a:t>Buston</a:t>
            </a:r>
            <a:endParaRPr lang="en-US" dirty="0" smtClean="0">
              <a:latin typeface="Perpetua" pitchFamily="18" charset="0"/>
            </a:endParaRPr>
          </a:p>
          <a:p>
            <a:r>
              <a:rPr lang="en-US" dirty="0" smtClean="0">
                <a:latin typeface="Perpetua" pitchFamily="18" charset="0"/>
              </a:rPr>
              <a:t>Wolf Wagner</a:t>
            </a:r>
            <a:endParaRPr lang="nl-NL" dirty="0">
              <a:latin typeface="Perpetua"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66800"/>
            <a:ext cx="7772400" cy="633412"/>
          </a:xfrm>
        </p:spPr>
        <p:txBody>
          <a:bodyPr/>
          <a:lstStyle/>
          <a:p>
            <a:r>
              <a:rPr lang="en-US" sz="3200" dirty="0" smtClean="0">
                <a:latin typeface="Perpetua" pitchFamily="18" charset="0"/>
              </a:rPr>
              <a:t>Motivation</a:t>
            </a:r>
            <a:endParaRPr lang="nl-NL" sz="3200" dirty="0">
              <a:latin typeface="Perpetua" pitchFamily="18" charset="0"/>
            </a:endParaRPr>
          </a:p>
        </p:txBody>
      </p:sp>
      <p:sp>
        <p:nvSpPr>
          <p:cNvPr id="3" name="Content Placeholder 2"/>
          <p:cNvSpPr>
            <a:spLocks noGrp="1"/>
          </p:cNvSpPr>
          <p:nvPr>
            <p:ph idx="1"/>
          </p:nvPr>
        </p:nvSpPr>
        <p:spPr>
          <a:xfrm>
            <a:off x="685800" y="1752600"/>
            <a:ext cx="7772400" cy="4953000"/>
          </a:xfrm>
        </p:spPr>
        <p:txBody>
          <a:bodyPr/>
          <a:lstStyle/>
          <a:p>
            <a:pPr algn="just"/>
            <a:endParaRPr lang="en-US" dirty="0" smtClean="0">
              <a:latin typeface="Perpetua" pitchFamily="18" charset="0"/>
            </a:endParaRPr>
          </a:p>
          <a:p>
            <a:pPr algn="just">
              <a:buNone/>
            </a:pPr>
            <a:r>
              <a:rPr lang="en-US" dirty="0" smtClean="0">
                <a:latin typeface="Perpetua" pitchFamily="18" charset="0"/>
              </a:rPr>
              <a:t>There is an ongoing debate about the effect of financial innovations on financial institutions: </a:t>
            </a:r>
            <a:r>
              <a:rPr lang="en-US" b="1" dirty="0" smtClean="0">
                <a:latin typeface="Perpetua" pitchFamily="18" charset="0"/>
              </a:rPr>
              <a:t>risk-sharing  benefits </a:t>
            </a:r>
            <a:r>
              <a:rPr lang="en-US" dirty="0" smtClean="0">
                <a:latin typeface="Perpetua" pitchFamily="18" charset="0"/>
              </a:rPr>
              <a:t>versus </a:t>
            </a:r>
            <a:r>
              <a:rPr lang="en-US" b="1" dirty="0" smtClean="0">
                <a:latin typeface="Perpetua" pitchFamily="18" charset="0"/>
              </a:rPr>
              <a:t>costs of risk-taking </a:t>
            </a:r>
            <a:r>
              <a:rPr lang="en-US" dirty="0" smtClean="0">
                <a:latin typeface="Perpetua" pitchFamily="18" charset="0"/>
              </a:rPr>
              <a:t>incentives</a:t>
            </a:r>
          </a:p>
          <a:p>
            <a:pPr algn="just">
              <a:buNone/>
            </a:pPr>
            <a:endParaRPr lang="en-US" dirty="0" smtClean="0">
              <a:latin typeface="Perpetua" pitchFamily="18" charset="0"/>
            </a:endParaRPr>
          </a:p>
          <a:p>
            <a:pPr algn="just">
              <a:buNone/>
            </a:pPr>
            <a:endParaRPr lang="en-US" dirty="0" smtClean="0">
              <a:latin typeface="Perpetua" pitchFamily="18" charset="0"/>
            </a:endParaRPr>
          </a:p>
          <a:p>
            <a:pPr algn="ctr">
              <a:buNone/>
            </a:pPr>
            <a:r>
              <a:rPr lang="en-US" i="1" dirty="0" smtClean="0">
                <a:latin typeface="Perpetua" pitchFamily="18" charset="0"/>
              </a:rPr>
              <a:t>“Credit derivatives [have] contributed to the stability of the banking system by allowing banks . . . to measure and manage their credit risks more effectively. …”</a:t>
            </a:r>
          </a:p>
          <a:p>
            <a:pPr algn="ctr">
              <a:buNone/>
            </a:pPr>
            <a:r>
              <a:rPr lang="en-US" i="1" smtClean="0">
                <a:latin typeface="Perpetua" pitchFamily="18" charset="0"/>
              </a:rPr>
              <a:t>Alan Greenspan, </a:t>
            </a:r>
            <a:r>
              <a:rPr lang="en-US" i="1" dirty="0" smtClean="0">
                <a:latin typeface="Perpetua" pitchFamily="18" charset="0"/>
              </a:rPr>
              <a:t>2005</a:t>
            </a:r>
          </a:p>
          <a:p>
            <a:pPr algn="ctr">
              <a:buNone/>
            </a:pPr>
            <a:endParaRPr lang="en-US" i="1" dirty="0" smtClean="0">
              <a:latin typeface="Perpetua" pitchFamily="18" charset="0"/>
            </a:endParaRPr>
          </a:p>
          <a:p>
            <a:pPr algn="ctr">
              <a:buNone/>
            </a:pPr>
            <a:r>
              <a:rPr lang="en-US" i="1" dirty="0" smtClean="0">
                <a:latin typeface="Perpetua"/>
              </a:rPr>
              <a:t>"The boom in subprime mortgage lending was only a part of a much broader credit boom characterized by an </a:t>
            </a:r>
            <a:r>
              <a:rPr lang="en-US" i="1" dirty="0" err="1" smtClean="0">
                <a:latin typeface="Perpetua"/>
              </a:rPr>
              <a:t>underpricing</a:t>
            </a:r>
            <a:r>
              <a:rPr lang="en-US" i="1" dirty="0" smtClean="0">
                <a:latin typeface="Perpetua"/>
              </a:rPr>
              <a:t> of risk, excessive leverage, and the creation of complex and opaque financial instruments that proved fragile under stress,"</a:t>
            </a:r>
          </a:p>
          <a:p>
            <a:pPr algn="ctr">
              <a:buNone/>
            </a:pPr>
            <a:r>
              <a:rPr lang="en-US" i="1" dirty="0" smtClean="0">
                <a:latin typeface="Perpetua" pitchFamily="18" charset="0"/>
              </a:rPr>
              <a:t>Ben Bernanke, 2008 </a:t>
            </a:r>
          </a:p>
          <a:p>
            <a:pPr algn="ctr">
              <a:buNone/>
            </a:pPr>
            <a:endParaRPr lang="en-US" i="1" dirty="0" smtClean="0">
              <a:latin typeface="Perpetua" pitchFamily="18" charset="0"/>
            </a:endParaRPr>
          </a:p>
          <a:p>
            <a:pPr algn="ctr">
              <a:buNone/>
            </a:pPr>
            <a:endParaRPr lang="en-US" i="1" dirty="0" smtClean="0">
              <a:latin typeface="Perpetua" pitchFamily="18" charset="0"/>
            </a:endParaRPr>
          </a:p>
          <a:p>
            <a:pPr algn="ctr">
              <a:buNone/>
            </a:pPr>
            <a:endParaRPr lang="en-US" i="1" dirty="0" smtClean="0">
              <a:latin typeface="Perpetua"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Perpetua" pitchFamily="18" charset="0"/>
              </a:rPr>
              <a:t>Effects may depend on economic conditions:</a:t>
            </a:r>
          </a:p>
        </p:txBody>
      </p:sp>
      <p:sp>
        <p:nvSpPr>
          <p:cNvPr id="3" name="Content Placeholder 2"/>
          <p:cNvSpPr>
            <a:spLocks noGrp="1"/>
          </p:cNvSpPr>
          <p:nvPr>
            <p:ph idx="1"/>
          </p:nvPr>
        </p:nvSpPr>
        <p:spPr/>
        <p:txBody>
          <a:bodyPr/>
          <a:lstStyle/>
          <a:p>
            <a:endParaRPr lang="en-US" dirty="0" smtClean="0">
              <a:latin typeface="Perpetua"/>
            </a:endParaRPr>
          </a:p>
          <a:p>
            <a:r>
              <a:rPr lang="en-US" dirty="0" smtClean="0">
                <a:latin typeface="Perpetua"/>
              </a:rPr>
              <a:t>There is the concern that financial innovation, although beneficial under normal market circumstances, are exacerbating problems in crisis times. Thus, innovations fail precisely when they are most needed.</a:t>
            </a:r>
          </a:p>
          <a:p>
            <a:r>
              <a:rPr lang="en-US" dirty="0" smtClean="0">
                <a:latin typeface="Perpetua"/>
              </a:rPr>
              <a:t>Whether or not this is the case, is likely to depend on the channel through which financial innovations affect banks:</a:t>
            </a:r>
          </a:p>
          <a:p>
            <a:pPr>
              <a:buNone/>
            </a:pPr>
            <a:r>
              <a:rPr lang="en-US" dirty="0" smtClean="0">
                <a:latin typeface="Perpetua"/>
              </a:rPr>
              <a:t>	If banks use innovations to manage risks better, they should be less affected by crises. However, they may also become reliant on markets for innovations</a:t>
            </a:r>
          </a:p>
          <a:p>
            <a:endParaRPr lang="en-US" dirty="0" smtClean="0">
              <a:latin typeface="Perpetua" pitchFamily="18" charset="0"/>
            </a:endParaRPr>
          </a:p>
          <a:p>
            <a:pPr>
              <a:buNone/>
            </a:pPr>
            <a:endParaRPr lang="en-US" dirty="0" smtClean="0"/>
          </a:p>
          <a:p>
            <a:endParaRPr lang="en-US" dirty="0" smtClean="0"/>
          </a:p>
          <a:p>
            <a:endParaRPr lang="nl-NL" dirty="0" smtClean="0"/>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Perpetua" pitchFamily="18" charset="0"/>
              </a:rPr>
              <a:t>This paper</a:t>
            </a:r>
            <a:endParaRPr lang="nl-NL" sz="3200" dirty="0">
              <a:latin typeface="Perpetua" pitchFamily="18" charset="0"/>
            </a:endParaRPr>
          </a:p>
        </p:txBody>
      </p:sp>
      <p:sp>
        <p:nvSpPr>
          <p:cNvPr id="3" name="Content Placeholder 2"/>
          <p:cNvSpPr>
            <a:spLocks noGrp="1"/>
          </p:cNvSpPr>
          <p:nvPr>
            <p:ph idx="1"/>
          </p:nvPr>
        </p:nvSpPr>
        <p:spPr/>
        <p:txBody>
          <a:bodyPr/>
          <a:lstStyle/>
          <a:p>
            <a:pPr>
              <a:buNone/>
            </a:pPr>
            <a:endParaRPr lang="en-US" dirty="0" smtClean="0">
              <a:latin typeface="Perpetua" pitchFamily="18" charset="0"/>
            </a:endParaRPr>
          </a:p>
          <a:p>
            <a:r>
              <a:rPr lang="en-US" dirty="0" smtClean="0">
                <a:latin typeface="Perpetua" pitchFamily="18" charset="0"/>
              </a:rPr>
              <a:t>Focus on credit derivatives</a:t>
            </a:r>
          </a:p>
          <a:p>
            <a:r>
              <a:rPr lang="en-US" dirty="0" smtClean="0">
                <a:latin typeface="Perpetua" pitchFamily="18" charset="0"/>
              </a:rPr>
              <a:t>Study potential benefits and costs of use of credit derivatives at banks by looking at the (loan) spreads banks charge to their corporate customers</a:t>
            </a:r>
          </a:p>
          <a:p>
            <a:r>
              <a:rPr lang="en-US" dirty="0" smtClean="0">
                <a:latin typeface="Perpetua" pitchFamily="18" charset="0"/>
              </a:rPr>
              <a:t>Try to identify the channel through which loan pricing may be affected</a:t>
            </a:r>
          </a:p>
          <a:p>
            <a:r>
              <a:rPr lang="en-US" dirty="0" smtClean="0">
                <a:latin typeface="Perpetua" pitchFamily="18" charset="0"/>
              </a:rPr>
              <a:t>Compare operation of channel in normal and in crisis times</a:t>
            </a:r>
          </a:p>
          <a:p>
            <a:pPr>
              <a:buNone/>
            </a:pPr>
            <a:endParaRPr lang="en-US" dirty="0" smtClean="0">
              <a:latin typeface="Perpetua"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66800"/>
            <a:ext cx="7772400" cy="838200"/>
          </a:xfrm>
        </p:spPr>
        <p:txBody>
          <a:bodyPr/>
          <a:lstStyle/>
          <a:p>
            <a:r>
              <a:rPr lang="en-US" sz="2800" dirty="0" smtClean="0">
                <a:latin typeface="Perpetua" pitchFamily="18" charset="0"/>
              </a:rPr>
              <a:t>Channels:  Financial innovations and loan pricing</a:t>
            </a:r>
            <a:endParaRPr lang="nl-NL" sz="2800" dirty="0">
              <a:latin typeface="Perpetua" pitchFamily="18" charset="0"/>
            </a:endParaRPr>
          </a:p>
        </p:txBody>
      </p:sp>
      <p:sp>
        <p:nvSpPr>
          <p:cNvPr id="3" name="Content Placeholder 2"/>
          <p:cNvSpPr>
            <a:spLocks noGrp="1"/>
          </p:cNvSpPr>
          <p:nvPr>
            <p:ph idx="1"/>
          </p:nvPr>
        </p:nvSpPr>
        <p:spPr>
          <a:xfrm>
            <a:off x="762000" y="1828800"/>
            <a:ext cx="7772400" cy="4876800"/>
          </a:xfrm>
        </p:spPr>
        <p:txBody>
          <a:bodyPr/>
          <a:lstStyle/>
          <a:p>
            <a:pPr algn="just"/>
            <a:r>
              <a:rPr lang="en-US" i="1" dirty="0" smtClean="0">
                <a:latin typeface="Perpetua" pitchFamily="18" charset="0"/>
              </a:rPr>
              <a:t>Incentives Channel:</a:t>
            </a:r>
            <a:r>
              <a:rPr lang="en-US" dirty="0" smtClean="0">
                <a:latin typeface="Perpetua" pitchFamily="18" charset="0"/>
              </a:rPr>
              <a:t> Banks transferring the risk have less incentives to monitor and screen their borrowers. Therefore, end up with riskier borrowers (Morrison (2006), Wagner and Marsh (2007), </a:t>
            </a:r>
            <a:r>
              <a:rPr lang="en-US" dirty="0" err="1" smtClean="0">
                <a:latin typeface="Perpetua" pitchFamily="18" charset="0"/>
              </a:rPr>
              <a:t>Cebenoyan</a:t>
            </a:r>
            <a:r>
              <a:rPr lang="en-US" dirty="0" smtClean="0">
                <a:latin typeface="Perpetua" pitchFamily="18" charset="0"/>
              </a:rPr>
              <a:t> and </a:t>
            </a:r>
            <a:r>
              <a:rPr lang="en-US" dirty="0" err="1" smtClean="0">
                <a:latin typeface="Perpetua" pitchFamily="18" charset="0"/>
              </a:rPr>
              <a:t>Strahan</a:t>
            </a:r>
            <a:r>
              <a:rPr lang="en-US" dirty="0" smtClean="0">
                <a:latin typeface="Perpetua" pitchFamily="18" charset="0"/>
              </a:rPr>
              <a:t> (2004), Santos and Ashcraft (2007)). Should result in higher (loan) spreads. </a:t>
            </a:r>
          </a:p>
          <a:p>
            <a:pPr algn="just"/>
            <a:r>
              <a:rPr lang="en-US" i="1" dirty="0" smtClean="0">
                <a:latin typeface="Perpetua" pitchFamily="18" charset="0"/>
              </a:rPr>
              <a:t>Hedging Channel: </a:t>
            </a:r>
            <a:r>
              <a:rPr lang="en-US" dirty="0" smtClean="0">
                <a:latin typeface="Perpetua" pitchFamily="18" charset="0"/>
              </a:rPr>
              <a:t>By hedging exposures banks can reduce the marginal cost of risk-taking (</a:t>
            </a:r>
            <a:r>
              <a:rPr lang="en-US" dirty="0" err="1" smtClean="0">
                <a:latin typeface="Perpetua" pitchFamily="18" charset="0"/>
              </a:rPr>
              <a:t>Nadaud</a:t>
            </a:r>
            <a:r>
              <a:rPr lang="en-US" dirty="0" smtClean="0">
                <a:latin typeface="Perpetua" pitchFamily="18" charset="0"/>
              </a:rPr>
              <a:t> and </a:t>
            </a:r>
            <a:r>
              <a:rPr lang="en-US" dirty="0" err="1" smtClean="0">
                <a:latin typeface="Perpetua" pitchFamily="18" charset="0"/>
              </a:rPr>
              <a:t>Weisbach</a:t>
            </a:r>
            <a:r>
              <a:rPr lang="en-US" dirty="0" smtClean="0">
                <a:latin typeface="Perpetua" pitchFamily="18" charset="0"/>
              </a:rPr>
              <a:t> (2011)). Should result in lower spreads. </a:t>
            </a:r>
          </a:p>
          <a:p>
            <a:pPr algn="just"/>
            <a:r>
              <a:rPr lang="en-US" i="1" dirty="0" smtClean="0">
                <a:latin typeface="Perpetua" pitchFamily="18" charset="0"/>
              </a:rPr>
              <a:t>Capital Relief Channel:  </a:t>
            </a:r>
            <a:r>
              <a:rPr lang="en-US" dirty="0" smtClean="0">
                <a:latin typeface="Perpetua" pitchFamily="18" charset="0"/>
              </a:rPr>
              <a:t>Banks are lending constrained due to low amount of capital. Risk transfer removes this constraint by reducing the risk of their portfolios, releasing capital to be lent (</a:t>
            </a:r>
            <a:r>
              <a:rPr lang="en-US" dirty="0" err="1" smtClean="0">
                <a:latin typeface="Perpetua" pitchFamily="18" charset="0"/>
              </a:rPr>
              <a:t>Loutskina</a:t>
            </a:r>
            <a:r>
              <a:rPr lang="en-US" dirty="0" smtClean="0">
                <a:latin typeface="Perpetua" pitchFamily="18" charset="0"/>
              </a:rPr>
              <a:t> and </a:t>
            </a:r>
            <a:r>
              <a:rPr lang="en-US" dirty="0" err="1" smtClean="0">
                <a:latin typeface="Perpetua" pitchFamily="18" charset="0"/>
              </a:rPr>
              <a:t>Strahan</a:t>
            </a:r>
            <a:r>
              <a:rPr lang="en-US" dirty="0" smtClean="0">
                <a:latin typeface="Perpetua" pitchFamily="18" charset="0"/>
              </a:rPr>
              <a:t> (2006)). Should result in lower spreads.</a:t>
            </a:r>
          </a:p>
          <a:p>
            <a:pPr algn="just"/>
            <a:r>
              <a:rPr lang="en-US" i="1" dirty="0" smtClean="0">
                <a:latin typeface="Perpetua" pitchFamily="18" charset="0"/>
              </a:rPr>
              <a:t>Risk Management Channel: </a:t>
            </a:r>
            <a:r>
              <a:rPr lang="en-US" dirty="0" smtClean="0">
                <a:latin typeface="Perpetua" pitchFamily="18" charset="0"/>
              </a:rPr>
              <a:t> Banks can use financial innovations to achieve a more balanced risk profile of their portfolio and more easily keep overall risk at target. This reduces risk of becoming constrained and being exposed to stress, allowing banks to price loans more aggressively (</a:t>
            </a:r>
            <a:r>
              <a:rPr lang="en-US" dirty="0" err="1" smtClean="0">
                <a:latin typeface="Perpetua" pitchFamily="18" charset="0"/>
              </a:rPr>
              <a:t>Cebenoyan</a:t>
            </a:r>
            <a:r>
              <a:rPr lang="en-US" dirty="0" smtClean="0">
                <a:latin typeface="Perpetua" pitchFamily="18" charset="0"/>
              </a:rPr>
              <a:t> and </a:t>
            </a:r>
            <a:r>
              <a:rPr lang="en-US" dirty="0" err="1" smtClean="0">
                <a:latin typeface="Perpetua" pitchFamily="18" charset="0"/>
              </a:rPr>
              <a:t>Strahan</a:t>
            </a:r>
            <a:r>
              <a:rPr lang="en-US" dirty="0" smtClean="0">
                <a:latin typeface="Perpetua" pitchFamily="18" charset="0"/>
              </a:rPr>
              <a:t> (2004)) and </a:t>
            </a:r>
            <a:r>
              <a:rPr lang="en-US" dirty="0" err="1" smtClean="0">
                <a:latin typeface="Perpetua" pitchFamily="18" charset="0"/>
              </a:rPr>
              <a:t>Hirtle</a:t>
            </a:r>
            <a:r>
              <a:rPr lang="en-US" dirty="0" smtClean="0">
                <a:latin typeface="Perpetua" pitchFamily="18" charset="0"/>
              </a:rPr>
              <a:t> (2009)). Should result in lower spreads.</a:t>
            </a:r>
            <a:endParaRPr lang="nl-NL" i="1" dirty="0">
              <a:latin typeface="Perpetua"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66800"/>
            <a:ext cx="7772400" cy="914400"/>
          </a:xfrm>
        </p:spPr>
        <p:txBody>
          <a:bodyPr/>
          <a:lstStyle/>
          <a:p>
            <a:r>
              <a:rPr lang="en-US" sz="2800" dirty="0" smtClean="0">
                <a:latin typeface="Perpetua" pitchFamily="18" charset="0"/>
              </a:rPr>
              <a:t>Financial Innovation and Spreads Prior to the Crisis</a:t>
            </a:r>
            <a:endParaRPr lang="nl-NL" sz="2800" dirty="0">
              <a:latin typeface="Perpetua" pitchFamily="18" charset="0"/>
            </a:endParaRPr>
          </a:p>
        </p:txBody>
      </p:sp>
      <p:sp>
        <p:nvSpPr>
          <p:cNvPr id="3" name="Content Placeholder 2"/>
          <p:cNvSpPr>
            <a:spLocks noGrp="1"/>
          </p:cNvSpPr>
          <p:nvPr>
            <p:ph idx="1"/>
          </p:nvPr>
        </p:nvSpPr>
        <p:spPr>
          <a:xfrm>
            <a:off x="685800" y="2057400"/>
            <a:ext cx="7772400" cy="4648200"/>
          </a:xfrm>
        </p:spPr>
        <p:txBody>
          <a:bodyPr/>
          <a:lstStyle/>
          <a:p>
            <a:pPr algn="just"/>
            <a:endParaRPr lang="en-US" sz="1800" dirty="0" smtClean="0">
              <a:latin typeface="Perpetua" pitchFamily="18" charset="0"/>
            </a:endParaRPr>
          </a:p>
          <a:p>
            <a:pPr algn="just"/>
            <a:r>
              <a:rPr lang="en-US" sz="1800" dirty="0" smtClean="0">
                <a:latin typeface="Perpetua" pitchFamily="18" charset="0"/>
              </a:rPr>
              <a:t>Ashcraft and Santos (2009) show that firms are charged higher spreads after they start being traded in the CDS market.  They argue that this effect is driven by lowered bank </a:t>
            </a:r>
            <a:r>
              <a:rPr lang="en-US" sz="1800" i="1" dirty="0" smtClean="0">
                <a:latin typeface="Perpetua" pitchFamily="18" charset="0"/>
              </a:rPr>
              <a:t>incentives</a:t>
            </a:r>
            <a:r>
              <a:rPr lang="en-US" sz="1800" dirty="0" smtClean="0">
                <a:latin typeface="Perpetua" pitchFamily="18" charset="0"/>
              </a:rPr>
              <a:t> to monitor. </a:t>
            </a:r>
          </a:p>
          <a:p>
            <a:pPr>
              <a:buNone/>
            </a:pPr>
            <a:endParaRPr lang="en-US" sz="1800" dirty="0" smtClean="0">
              <a:latin typeface="Perpetua" pitchFamily="18" charset="0"/>
            </a:endParaRPr>
          </a:p>
          <a:p>
            <a:pPr algn="just"/>
            <a:r>
              <a:rPr lang="en-US" sz="1800" dirty="0" err="1" smtClean="0">
                <a:latin typeface="Perpetua" pitchFamily="18" charset="0"/>
              </a:rPr>
              <a:t>Hirtle</a:t>
            </a:r>
            <a:r>
              <a:rPr lang="en-US" sz="1800" dirty="0" smtClean="0">
                <a:latin typeface="Perpetua" pitchFamily="18" charset="0"/>
              </a:rPr>
              <a:t> (2009) finds a negative relation between net position held of credit derivatives and loan spreads, arguing </a:t>
            </a:r>
            <a:r>
              <a:rPr lang="en-US" sz="1800" i="1" dirty="0" smtClean="0">
                <a:latin typeface="Perpetua" pitchFamily="18" charset="0"/>
              </a:rPr>
              <a:t>Risk Management</a:t>
            </a:r>
            <a:r>
              <a:rPr lang="en-US" sz="1800" dirty="0" smtClean="0">
                <a:latin typeface="Perpetua" pitchFamily="18" charset="0"/>
              </a:rPr>
              <a:t> </a:t>
            </a:r>
            <a:r>
              <a:rPr lang="en-US" sz="1800" i="1" dirty="0" smtClean="0">
                <a:latin typeface="Perpetua" pitchFamily="18" charset="0"/>
              </a:rPr>
              <a:t>Channel</a:t>
            </a:r>
            <a:r>
              <a:rPr lang="en-US" sz="1800" dirty="0" smtClean="0">
                <a:latin typeface="Perpetua" pitchFamily="18" charset="0"/>
              </a:rPr>
              <a:t>. </a:t>
            </a:r>
          </a:p>
          <a:p>
            <a:pPr algn="just"/>
            <a:endParaRPr lang="en-US" sz="1800" dirty="0" smtClean="0">
              <a:latin typeface="Perpetua" pitchFamily="18" charset="0"/>
            </a:endParaRPr>
          </a:p>
          <a:p>
            <a:pPr algn="just"/>
            <a:r>
              <a:rPr lang="en-US" sz="1800" dirty="0" err="1" smtClean="0">
                <a:latin typeface="Perpetua" pitchFamily="18" charset="0"/>
              </a:rPr>
              <a:t>Nadaud</a:t>
            </a:r>
            <a:r>
              <a:rPr lang="en-US" sz="1800" dirty="0" smtClean="0">
                <a:latin typeface="Perpetua" pitchFamily="18" charset="0"/>
              </a:rPr>
              <a:t> and </a:t>
            </a:r>
            <a:r>
              <a:rPr lang="en-US" sz="1800" dirty="0" err="1" smtClean="0">
                <a:latin typeface="Perpetua" pitchFamily="18" charset="0"/>
              </a:rPr>
              <a:t>Weisbach</a:t>
            </a:r>
            <a:r>
              <a:rPr lang="en-US" sz="1800" dirty="0" smtClean="0">
                <a:latin typeface="Perpetua" pitchFamily="18" charset="0"/>
              </a:rPr>
              <a:t> (2011), show that loans that are later on part of a CLO obtained lower spreads when issued,  consistent with </a:t>
            </a:r>
            <a:r>
              <a:rPr lang="en-US" sz="1800" i="1" dirty="0" smtClean="0">
                <a:latin typeface="Perpetua" pitchFamily="18" charset="0"/>
              </a:rPr>
              <a:t>Hedging Channel</a:t>
            </a:r>
            <a:r>
              <a:rPr lang="en-US" sz="1800" dirty="0" smtClean="0">
                <a:latin typeface="Perpetua" pitchFamily="18" charset="0"/>
              </a:rPr>
              <a:t>. </a:t>
            </a:r>
          </a:p>
          <a:p>
            <a:pPr>
              <a:buNone/>
            </a:pPr>
            <a:endParaRPr lang="en-US" sz="2400" dirty="0" smtClean="0">
              <a:latin typeface="Perpetua" pitchFamily="18" charset="0"/>
            </a:endParaRPr>
          </a:p>
          <a:p>
            <a:pPr>
              <a:buNone/>
            </a:pPr>
            <a:endParaRPr lang="en-US" dirty="0" smtClean="0"/>
          </a:p>
          <a:p>
            <a:pPr>
              <a:buNone/>
            </a:pPr>
            <a:endParaRPr lang="nl-NL"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66800"/>
            <a:ext cx="7772400" cy="609600"/>
          </a:xfrm>
        </p:spPr>
        <p:txBody>
          <a:bodyPr/>
          <a:lstStyle/>
          <a:p>
            <a:r>
              <a:rPr lang="en-US" dirty="0" smtClean="0">
                <a:latin typeface="Perpetua" pitchFamily="18" charset="0"/>
              </a:rPr>
              <a:t>Our approach to identify the channel</a:t>
            </a:r>
            <a:endParaRPr lang="nl-NL" dirty="0">
              <a:latin typeface="Perpetua" pitchFamily="18" charset="0"/>
            </a:endParaRPr>
          </a:p>
        </p:txBody>
      </p:sp>
      <p:sp>
        <p:nvSpPr>
          <p:cNvPr id="3" name="Content Placeholder 2"/>
          <p:cNvSpPr>
            <a:spLocks noGrp="1"/>
          </p:cNvSpPr>
          <p:nvPr>
            <p:ph idx="1"/>
          </p:nvPr>
        </p:nvSpPr>
        <p:spPr>
          <a:xfrm>
            <a:off x="685800" y="1828800"/>
            <a:ext cx="7772400" cy="4267200"/>
          </a:xfrm>
        </p:spPr>
        <p:txBody>
          <a:bodyPr/>
          <a:lstStyle/>
          <a:p>
            <a:pPr algn="just"/>
            <a:endParaRPr lang="en-US" sz="1800" dirty="0" smtClean="0">
              <a:latin typeface="Perpetua" pitchFamily="18" charset="0"/>
            </a:endParaRPr>
          </a:p>
          <a:p>
            <a:pPr algn="ctr">
              <a:buNone/>
            </a:pPr>
            <a:r>
              <a:rPr lang="en-US" sz="1800" dirty="0" smtClean="0">
                <a:latin typeface="Perpetua" pitchFamily="18" charset="0"/>
              </a:rPr>
              <a:t>Key idea: distinguish between the </a:t>
            </a:r>
            <a:r>
              <a:rPr lang="en-US" sz="1800" i="1" dirty="0" smtClean="0">
                <a:latin typeface="Perpetua" pitchFamily="18" charset="0"/>
              </a:rPr>
              <a:t>net</a:t>
            </a:r>
            <a:r>
              <a:rPr lang="en-US" sz="1800" dirty="0" smtClean="0">
                <a:latin typeface="Perpetua" pitchFamily="18" charset="0"/>
              </a:rPr>
              <a:t> position (protection bought minus sold) and the </a:t>
            </a:r>
            <a:r>
              <a:rPr lang="en-US" sz="1800" i="1" dirty="0" smtClean="0">
                <a:latin typeface="Perpetua" pitchFamily="18" charset="0"/>
              </a:rPr>
              <a:t>gross</a:t>
            </a:r>
            <a:r>
              <a:rPr lang="en-US" sz="1800" dirty="0" smtClean="0">
                <a:latin typeface="Perpetua" pitchFamily="18" charset="0"/>
              </a:rPr>
              <a:t> CDS position (protection bought plus sold)</a:t>
            </a:r>
          </a:p>
          <a:p>
            <a:pPr algn="just"/>
            <a:endParaRPr lang="en-US" sz="1800" dirty="0" smtClean="0">
              <a:latin typeface="Perpetua" pitchFamily="18" charset="0"/>
            </a:endParaRPr>
          </a:p>
          <a:p>
            <a:pPr algn="just"/>
            <a:r>
              <a:rPr lang="en-US" sz="1800" dirty="0" smtClean="0">
                <a:latin typeface="Perpetua" pitchFamily="18" charset="0"/>
              </a:rPr>
              <a:t>All channels except the risk management channel require taking a </a:t>
            </a:r>
            <a:r>
              <a:rPr lang="en-US" sz="1800" u="sng" dirty="0" smtClean="0">
                <a:latin typeface="Perpetua" pitchFamily="18" charset="0"/>
              </a:rPr>
              <a:t>net</a:t>
            </a:r>
            <a:r>
              <a:rPr lang="en-US" sz="1800" dirty="0" smtClean="0">
                <a:latin typeface="Perpetua" pitchFamily="18" charset="0"/>
              </a:rPr>
              <a:t> position in credit derivatives</a:t>
            </a:r>
          </a:p>
          <a:p>
            <a:pPr algn="just"/>
            <a:r>
              <a:rPr lang="en-US" sz="1800" dirty="0" smtClean="0">
                <a:latin typeface="Perpetua" pitchFamily="18" charset="0"/>
              </a:rPr>
              <a:t>Risk management can take place through </a:t>
            </a:r>
            <a:r>
              <a:rPr lang="en-US" sz="1800" u="sng" dirty="0" smtClean="0">
                <a:latin typeface="Perpetua" pitchFamily="18" charset="0"/>
              </a:rPr>
              <a:t>gross</a:t>
            </a:r>
            <a:r>
              <a:rPr lang="en-US" sz="1800" dirty="0" smtClean="0">
                <a:latin typeface="Perpetua" pitchFamily="18" charset="0"/>
              </a:rPr>
              <a:t> positions without necessarily taking a net position:</a:t>
            </a:r>
          </a:p>
          <a:p>
            <a:pPr lvl="1" algn="just"/>
            <a:r>
              <a:rPr lang="en-US" sz="1800" dirty="0" smtClean="0">
                <a:latin typeface="Perpetua" pitchFamily="18" charset="0"/>
              </a:rPr>
              <a:t>A bank may buy protection on borrowers that are overrepresented and sell protection on names not contained in portfolio</a:t>
            </a:r>
          </a:p>
          <a:p>
            <a:pPr lvl="1" algn="just"/>
            <a:r>
              <a:rPr lang="en-US" sz="1800" dirty="0" smtClean="0">
                <a:latin typeface="Perpetua" pitchFamily="18" charset="0"/>
              </a:rPr>
              <a:t>Regular use of credit derivatives improves risk measurement at banks regardless of what position is taken</a:t>
            </a:r>
          </a:p>
          <a:p>
            <a:pPr algn="just">
              <a:buNone/>
            </a:pPr>
            <a:endParaRPr lang="en-US" sz="1800" dirty="0" smtClean="0">
              <a:latin typeface="Perpetua" pitchFamily="18" charset="0"/>
            </a:endParaRPr>
          </a:p>
          <a:p>
            <a:pPr>
              <a:buNone/>
            </a:pPr>
            <a:endParaRPr lang="en-US" dirty="0" smtClean="0">
              <a:latin typeface="Perpetua" pitchFamily="18" charset="0"/>
            </a:endParaRPr>
          </a:p>
          <a:p>
            <a:endParaRPr lang="en-US" dirty="0" smtClean="0">
              <a:latin typeface="Perpetua" pitchFamily="18" charset="0"/>
            </a:endParaRPr>
          </a:p>
          <a:p>
            <a:endParaRPr lang="en-US" dirty="0" smtClean="0">
              <a:latin typeface="Perpetua" pitchFamily="18" charset="0"/>
            </a:endParaRPr>
          </a:p>
          <a:p>
            <a:endParaRPr lang="en-US" dirty="0" smtClean="0">
              <a:latin typeface="Perpetua" pitchFamily="18" charset="0"/>
            </a:endParaRPr>
          </a:p>
          <a:p>
            <a:endParaRPr lang="nl-NL" dirty="0">
              <a:latin typeface="Perpetua"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erpetua" pitchFamily="18" charset="0"/>
              </a:rPr>
              <a:t>Predictions of the effect of CDS channels on spreads</a:t>
            </a:r>
            <a:endParaRPr lang="nl-NL" dirty="0">
              <a:latin typeface="Perpetua" pitchFamily="18" charset="0"/>
            </a:endParaRPr>
          </a:p>
        </p:txBody>
      </p:sp>
      <p:graphicFrame>
        <p:nvGraphicFramePr>
          <p:cNvPr id="4" name="Content Placeholder 3"/>
          <p:cNvGraphicFramePr>
            <a:graphicFrameLocks noGrp="1"/>
          </p:cNvGraphicFramePr>
          <p:nvPr>
            <p:ph idx="1"/>
          </p:nvPr>
        </p:nvGraphicFramePr>
        <p:xfrm>
          <a:off x="1219200" y="2667000"/>
          <a:ext cx="7239000" cy="3293920"/>
        </p:xfrm>
        <a:graphic>
          <a:graphicData uri="http://schemas.openxmlformats.org/drawingml/2006/table">
            <a:tbl>
              <a:tblPr firstRow="1" bandRow="1">
                <a:tableStyleId>{F2DE63D5-997A-4646-A377-4702673A728D}</a:tableStyleId>
              </a:tblPr>
              <a:tblGrid>
                <a:gridCol w="2413000"/>
                <a:gridCol w="2413000"/>
                <a:gridCol w="2413000"/>
              </a:tblGrid>
              <a:tr h="658865">
                <a:tc>
                  <a:txBody>
                    <a:bodyPr/>
                    <a:lstStyle/>
                    <a:p>
                      <a:r>
                        <a:rPr lang="en-US" dirty="0" smtClean="0">
                          <a:solidFill>
                            <a:schemeClr val="tx1"/>
                          </a:solidFill>
                          <a:latin typeface="Perpetua" pitchFamily="18" charset="0"/>
                        </a:rPr>
                        <a:t>Channel</a:t>
                      </a:r>
                      <a:endParaRPr lang="nl-NL" dirty="0">
                        <a:solidFill>
                          <a:schemeClr val="tx1"/>
                        </a:solidFill>
                        <a:latin typeface="Perpetua" pitchFamily="18" charset="0"/>
                      </a:endParaRPr>
                    </a:p>
                  </a:txBody>
                  <a:tcPr/>
                </a:tc>
                <a:tc>
                  <a:txBody>
                    <a:bodyPr/>
                    <a:lstStyle/>
                    <a:p>
                      <a:pPr algn="ctr"/>
                      <a:r>
                        <a:rPr lang="en-US" dirty="0" smtClean="0">
                          <a:solidFill>
                            <a:schemeClr val="tx1"/>
                          </a:solidFill>
                          <a:latin typeface="Perpetua" pitchFamily="18" charset="0"/>
                        </a:rPr>
                        <a:t>Net CD Position</a:t>
                      </a:r>
                      <a:endParaRPr lang="nl-NL" dirty="0">
                        <a:solidFill>
                          <a:schemeClr val="tx1"/>
                        </a:solidFill>
                        <a:latin typeface="Perpetua" pitchFamily="18" charset="0"/>
                      </a:endParaRPr>
                    </a:p>
                  </a:txBody>
                  <a:tcPr/>
                </a:tc>
                <a:tc>
                  <a:txBody>
                    <a:bodyPr/>
                    <a:lstStyle/>
                    <a:p>
                      <a:pPr algn="ctr"/>
                      <a:r>
                        <a:rPr lang="en-US" dirty="0" smtClean="0">
                          <a:solidFill>
                            <a:schemeClr val="tx1"/>
                          </a:solidFill>
                          <a:latin typeface="Perpetua" pitchFamily="18" charset="0"/>
                        </a:rPr>
                        <a:t>Gross CD Position</a:t>
                      </a:r>
                      <a:endParaRPr lang="nl-NL" dirty="0">
                        <a:solidFill>
                          <a:schemeClr val="tx1"/>
                        </a:solidFill>
                        <a:latin typeface="Perpetua" pitchFamily="18" charset="0"/>
                      </a:endParaRPr>
                    </a:p>
                  </a:txBody>
                  <a:tcPr/>
                </a:tc>
              </a:tr>
              <a:tr h="546559">
                <a:tc>
                  <a:txBody>
                    <a:bodyPr/>
                    <a:lstStyle/>
                    <a:p>
                      <a:r>
                        <a:rPr lang="en-US" i="1" dirty="0" smtClean="0">
                          <a:latin typeface="Perpetua" pitchFamily="18" charset="0"/>
                        </a:rPr>
                        <a:t>Incentives Channel</a:t>
                      </a:r>
                      <a:endParaRPr lang="nl-NL" i="1" dirty="0">
                        <a:latin typeface="Perpetua" pitchFamily="18" charset="0"/>
                      </a:endParaRPr>
                    </a:p>
                  </a:txBody>
                  <a:tcPr/>
                </a:tc>
                <a:tc>
                  <a:txBody>
                    <a:bodyPr/>
                    <a:lstStyle/>
                    <a:p>
                      <a:pPr algn="ctr"/>
                      <a:r>
                        <a:rPr lang="en-US" dirty="0" smtClean="0">
                          <a:latin typeface="Perpetua" pitchFamily="18" charset="0"/>
                        </a:rPr>
                        <a:t>(+)</a:t>
                      </a:r>
                      <a:endParaRPr lang="nl-NL" dirty="0">
                        <a:latin typeface="Perpetua" pitchFamily="18" charset="0"/>
                      </a:endParaRPr>
                    </a:p>
                  </a:txBody>
                  <a:tcPr/>
                </a:tc>
                <a:tc>
                  <a:txBody>
                    <a:bodyPr/>
                    <a:lstStyle/>
                    <a:p>
                      <a:pPr algn="ctr"/>
                      <a:r>
                        <a:rPr lang="en-US" dirty="0" smtClean="0">
                          <a:latin typeface="Perpetua" pitchFamily="18" charset="0"/>
                        </a:rPr>
                        <a:t>No effect</a:t>
                      </a:r>
                      <a:endParaRPr lang="nl-NL" dirty="0">
                        <a:latin typeface="Perpetua" pitchFamily="18" charset="0"/>
                      </a:endParaRPr>
                    </a:p>
                  </a:txBody>
                  <a:tcPr/>
                </a:tc>
              </a:tr>
              <a:tr h="546559">
                <a:tc>
                  <a:txBody>
                    <a:bodyPr/>
                    <a:lstStyle/>
                    <a:p>
                      <a:r>
                        <a:rPr lang="en-US" i="1" dirty="0" smtClean="0">
                          <a:latin typeface="Perpetua" pitchFamily="18" charset="0"/>
                        </a:rPr>
                        <a:t>Hedging Channel</a:t>
                      </a:r>
                      <a:endParaRPr lang="nl-NL" i="1" dirty="0">
                        <a:latin typeface="Perpetua" pitchFamily="18" charset="0"/>
                      </a:endParaRPr>
                    </a:p>
                  </a:txBody>
                  <a:tcPr/>
                </a:tc>
                <a:tc>
                  <a:txBody>
                    <a:bodyPr/>
                    <a:lstStyle/>
                    <a:p>
                      <a:pPr algn="ctr"/>
                      <a:r>
                        <a:rPr lang="en-US" dirty="0" smtClean="0">
                          <a:latin typeface="Perpetua" pitchFamily="18" charset="0"/>
                        </a:rPr>
                        <a:t>(-)</a:t>
                      </a:r>
                      <a:endParaRPr lang="nl-NL" dirty="0">
                        <a:latin typeface="Perpet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latin typeface="Perpetua" pitchFamily="18" charset="0"/>
                        </a:rPr>
                        <a:t>No effect</a:t>
                      </a:r>
                      <a:endParaRPr lang="nl-NL" dirty="0" smtClean="0">
                        <a:latin typeface="Perpetua" pitchFamily="18" charset="0"/>
                      </a:endParaRPr>
                    </a:p>
                    <a:p>
                      <a:pPr algn="ctr"/>
                      <a:endParaRPr lang="nl-NL" dirty="0">
                        <a:latin typeface="Perpetua" pitchFamily="18" charset="0"/>
                      </a:endParaRPr>
                    </a:p>
                  </a:txBody>
                  <a:tcPr/>
                </a:tc>
              </a:tr>
              <a:tr h="724208">
                <a:tc>
                  <a:txBody>
                    <a:bodyPr/>
                    <a:lstStyle/>
                    <a:p>
                      <a:r>
                        <a:rPr lang="en-US" i="1" dirty="0" smtClean="0">
                          <a:latin typeface="Perpetua" pitchFamily="18" charset="0"/>
                        </a:rPr>
                        <a:t>Capital Relief Channel</a:t>
                      </a:r>
                      <a:endParaRPr lang="nl-NL" i="1" dirty="0">
                        <a:latin typeface="Perpetua" pitchFamily="18" charset="0"/>
                      </a:endParaRPr>
                    </a:p>
                  </a:txBody>
                  <a:tcPr/>
                </a:tc>
                <a:tc>
                  <a:txBody>
                    <a:bodyPr/>
                    <a:lstStyle/>
                    <a:p>
                      <a:pPr algn="ctr"/>
                      <a:r>
                        <a:rPr lang="en-US" dirty="0" smtClean="0">
                          <a:latin typeface="Perpetua" pitchFamily="18" charset="0"/>
                        </a:rPr>
                        <a:t>(-)</a:t>
                      </a:r>
                      <a:endParaRPr lang="nl-NL" dirty="0">
                        <a:latin typeface="Perpet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latin typeface="Perpetua" pitchFamily="18" charset="0"/>
                        </a:rPr>
                        <a:t>No effect</a:t>
                      </a:r>
                      <a:endParaRPr lang="nl-NL" dirty="0" smtClean="0">
                        <a:latin typeface="Perpetua" pitchFamily="18" charset="0"/>
                      </a:endParaRPr>
                    </a:p>
                    <a:p>
                      <a:pPr algn="ctr"/>
                      <a:endParaRPr lang="nl-NL" dirty="0">
                        <a:latin typeface="Perpetua" pitchFamily="18" charset="0"/>
                      </a:endParaRPr>
                    </a:p>
                  </a:txBody>
                  <a:tcPr/>
                </a:tc>
              </a:tr>
              <a:tr h="724208">
                <a:tc>
                  <a:txBody>
                    <a:bodyPr/>
                    <a:lstStyle/>
                    <a:p>
                      <a:r>
                        <a:rPr lang="en-US" i="1" dirty="0" smtClean="0">
                          <a:latin typeface="Perpetua" pitchFamily="18" charset="0"/>
                        </a:rPr>
                        <a:t>Risk Management Channel</a:t>
                      </a:r>
                      <a:endParaRPr lang="nl-NL" i="1" dirty="0">
                        <a:latin typeface="Perpet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latin typeface="Perpetua" pitchFamily="18" charset="0"/>
                        </a:rPr>
                        <a:t> No effect</a:t>
                      </a:r>
                      <a:endParaRPr lang="nl-NL" dirty="0" smtClean="0">
                        <a:latin typeface="Perpetua" pitchFamily="18" charset="0"/>
                      </a:endParaRPr>
                    </a:p>
                    <a:p>
                      <a:pPr algn="ctr"/>
                      <a:endParaRPr lang="nl-NL" dirty="0">
                        <a:latin typeface="Perpetua" pitchFamily="18" charset="0"/>
                      </a:endParaRPr>
                    </a:p>
                  </a:txBody>
                  <a:tcPr/>
                </a:tc>
                <a:tc>
                  <a:txBody>
                    <a:bodyPr/>
                    <a:lstStyle/>
                    <a:p>
                      <a:pPr algn="ctr"/>
                      <a:r>
                        <a:rPr lang="en-US" dirty="0" smtClean="0">
                          <a:latin typeface="Perpetua" pitchFamily="18" charset="0"/>
                        </a:rPr>
                        <a:t>(-)</a:t>
                      </a:r>
                      <a:endParaRPr lang="nl-NL" dirty="0">
                        <a:latin typeface="Perpetua"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66800"/>
            <a:ext cx="7772400" cy="633412"/>
          </a:xfrm>
        </p:spPr>
        <p:txBody>
          <a:bodyPr/>
          <a:lstStyle/>
          <a:p>
            <a:r>
              <a:rPr lang="en-US" dirty="0" smtClean="0">
                <a:latin typeface="Perpetua" pitchFamily="18" charset="0"/>
              </a:rPr>
              <a:t>Data</a:t>
            </a:r>
            <a:endParaRPr lang="nl-NL" dirty="0">
              <a:latin typeface="Perpetua" pitchFamily="18" charset="0"/>
            </a:endParaRPr>
          </a:p>
        </p:txBody>
      </p:sp>
      <p:sp>
        <p:nvSpPr>
          <p:cNvPr id="3" name="Content Placeholder 2"/>
          <p:cNvSpPr>
            <a:spLocks noGrp="1"/>
          </p:cNvSpPr>
          <p:nvPr>
            <p:ph idx="1"/>
          </p:nvPr>
        </p:nvSpPr>
        <p:spPr>
          <a:xfrm>
            <a:off x="685800" y="1676400"/>
            <a:ext cx="7772400" cy="4876800"/>
          </a:xfrm>
        </p:spPr>
        <p:txBody>
          <a:bodyPr/>
          <a:lstStyle/>
          <a:p>
            <a:pPr algn="just"/>
            <a:r>
              <a:rPr lang="en-US" sz="1800" dirty="0" smtClean="0">
                <a:latin typeface="Perpetua" pitchFamily="18" charset="0"/>
              </a:rPr>
              <a:t>Individual loan data from Loan Pricing </a:t>
            </a:r>
            <a:r>
              <a:rPr lang="en-US" sz="1800" dirty="0" err="1" smtClean="0">
                <a:latin typeface="Perpetua" pitchFamily="18" charset="0"/>
              </a:rPr>
              <a:t>Dealscan</a:t>
            </a:r>
            <a:r>
              <a:rPr lang="en-US" sz="1800" dirty="0" smtClean="0">
                <a:latin typeface="Perpetua" pitchFamily="18" charset="0"/>
              </a:rPr>
              <a:t> Database (syndicated loans)</a:t>
            </a:r>
          </a:p>
          <a:p>
            <a:pPr algn="just"/>
            <a:r>
              <a:rPr lang="en-US" sz="1800" dirty="0" smtClean="0">
                <a:latin typeface="Perpetua" pitchFamily="18" charset="0"/>
              </a:rPr>
              <a:t>Term loans with single lead arranger </a:t>
            </a:r>
          </a:p>
          <a:p>
            <a:pPr algn="just"/>
            <a:r>
              <a:rPr lang="en-US" sz="1800" dirty="0" smtClean="0">
                <a:latin typeface="Perpetua" pitchFamily="18" charset="0"/>
              </a:rPr>
              <a:t>Match each loan with bank data (lead arranger) from U.S Call Reports</a:t>
            </a:r>
          </a:p>
          <a:p>
            <a:pPr algn="just"/>
            <a:r>
              <a:rPr lang="en-US" sz="1800" dirty="0" smtClean="0">
                <a:latin typeface="Perpetua" pitchFamily="18" charset="0"/>
              </a:rPr>
              <a:t>Sample: 1Q97-1Q10, 2638 observations, 77 different banks.  </a:t>
            </a:r>
          </a:p>
          <a:p>
            <a:pPr algn="just"/>
            <a:endParaRPr lang="en-US" sz="1800" dirty="0" smtClean="0">
              <a:latin typeface="Perpetua" pitchFamily="18" charset="0"/>
            </a:endParaRPr>
          </a:p>
          <a:p>
            <a:pPr algn="just"/>
            <a:r>
              <a:rPr lang="en-US" sz="1800" dirty="0" smtClean="0">
                <a:latin typeface="Perpetua" pitchFamily="18" charset="0"/>
              </a:rPr>
              <a:t>Dependent Variable: Spread (all-in) over Libor</a:t>
            </a:r>
          </a:p>
          <a:p>
            <a:pPr algn="just"/>
            <a:r>
              <a:rPr lang="en-US" sz="1800" dirty="0" smtClean="0">
                <a:latin typeface="Perpetua" pitchFamily="18" charset="0"/>
              </a:rPr>
              <a:t>Variables of interest: CD position of bank extending the loan, net and gross</a:t>
            </a:r>
          </a:p>
          <a:p>
            <a:pPr algn="just">
              <a:buNone/>
            </a:pPr>
            <a:endParaRPr lang="en-US" sz="1800" dirty="0" smtClean="0">
              <a:latin typeface="Perpetua" pitchFamily="18" charset="0"/>
            </a:endParaRPr>
          </a:p>
          <a:p>
            <a:pPr algn="just"/>
            <a:r>
              <a:rPr lang="en-US" sz="1800" dirty="0" smtClean="0">
                <a:latin typeface="Perpetua" pitchFamily="18" charset="0"/>
              </a:rPr>
              <a:t>Loan Controls:  log(amount), secured/unsecured, maturity dummies, loan purpose  dummies, tranche type dummies.</a:t>
            </a:r>
          </a:p>
          <a:p>
            <a:pPr algn="just"/>
            <a:r>
              <a:rPr lang="en-US" sz="1800" dirty="0" smtClean="0">
                <a:latin typeface="Perpetua" pitchFamily="18" charset="0"/>
              </a:rPr>
              <a:t>Borrower Controls:  log(sales), ticker, rated, industry dummies</a:t>
            </a:r>
          </a:p>
          <a:p>
            <a:pPr algn="just"/>
            <a:r>
              <a:rPr lang="en-US" sz="1800" dirty="0" smtClean="0">
                <a:latin typeface="Perpetua" pitchFamily="18" charset="0"/>
              </a:rPr>
              <a:t>Bank Controls: log(assets), equity/TA, ROA, </a:t>
            </a:r>
            <a:r>
              <a:rPr lang="en-US" sz="1800" dirty="0" err="1" smtClean="0">
                <a:latin typeface="Perpetua" pitchFamily="18" charset="0"/>
              </a:rPr>
              <a:t>sub.debt</a:t>
            </a:r>
            <a:r>
              <a:rPr lang="en-US" sz="1800" dirty="0" smtClean="0">
                <a:latin typeface="Perpetua" pitchFamily="18" charset="0"/>
              </a:rPr>
              <a:t>/TA, liquidity/TA, charge-offs/TA.</a:t>
            </a:r>
          </a:p>
          <a:p>
            <a:pPr>
              <a:buNone/>
            </a:pPr>
            <a:endParaRPr lang="nl-NL" sz="2200" dirty="0">
              <a:latin typeface="Perpetua"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Perpetua" pitchFamily="18" charset="0"/>
              </a:rPr>
              <a:t>Data (II)</a:t>
            </a:r>
            <a:endParaRPr lang="nl-NL" dirty="0">
              <a:latin typeface="Perpetua" pitchFamily="18" charset="0"/>
            </a:endParaRPr>
          </a:p>
        </p:txBody>
      </p:sp>
      <p:pic>
        <p:nvPicPr>
          <p:cNvPr id="1026" name="Picture 2"/>
          <p:cNvPicPr>
            <a:picLocks noGrp="1" noChangeAspect="1" noChangeArrowheads="1"/>
          </p:cNvPicPr>
          <p:nvPr>
            <p:ph idx="1"/>
          </p:nvPr>
        </p:nvPicPr>
        <p:blipFill>
          <a:blip r:embed="rId2" cstate="print"/>
          <a:srcRect/>
          <a:stretch>
            <a:fillRect/>
          </a:stretch>
        </p:blipFill>
        <p:spPr bwMode="auto">
          <a:xfrm>
            <a:off x="1143000" y="2438400"/>
            <a:ext cx="6781800" cy="1428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066800"/>
            <a:ext cx="7772400" cy="633412"/>
          </a:xfrm>
        </p:spPr>
        <p:txBody>
          <a:bodyPr/>
          <a:lstStyle/>
          <a:p>
            <a:r>
              <a:rPr lang="en-US" dirty="0" smtClean="0">
                <a:latin typeface="Perpetua" pitchFamily="18" charset="0"/>
              </a:rPr>
              <a:t>CDS and spreads: A look at the sample means…</a:t>
            </a:r>
            <a:endParaRPr lang="nl-NL" dirty="0">
              <a:latin typeface="Perpetua" pitchFamily="18" charset="0"/>
            </a:endParaRPr>
          </a:p>
        </p:txBody>
      </p:sp>
      <p:sp>
        <p:nvSpPr>
          <p:cNvPr id="4" name="Content Placeholder 3"/>
          <p:cNvSpPr>
            <a:spLocks noGrp="1"/>
          </p:cNvSpPr>
          <p:nvPr>
            <p:ph idx="1"/>
          </p:nvPr>
        </p:nvSpPr>
        <p:spPr/>
        <p:txBody>
          <a:bodyPr/>
          <a:lstStyle/>
          <a:p>
            <a:endParaRPr lang="nl-NL" dirty="0"/>
          </a:p>
        </p:txBody>
      </p:sp>
      <p:pic>
        <p:nvPicPr>
          <p:cNvPr id="3" name="Picture 2"/>
          <p:cNvPicPr>
            <a:picLocks noChangeAspect="1" noChangeArrowheads="1"/>
          </p:cNvPicPr>
          <p:nvPr/>
        </p:nvPicPr>
        <p:blipFill>
          <a:blip r:embed="rId2" cstate="print"/>
          <a:srcRect/>
          <a:stretch>
            <a:fillRect/>
          </a:stretch>
        </p:blipFill>
        <p:spPr bwMode="auto">
          <a:xfrm>
            <a:off x="1524000" y="1981200"/>
            <a:ext cx="5867400" cy="4267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66800"/>
            <a:ext cx="7772400" cy="381000"/>
          </a:xfrm>
        </p:spPr>
        <p:txBody>
          <a:bodyPr/>
          <a:lstStyle/>
          <a:p>
            <a:r>
              <a:rPr lang="en-US" sz="2800" dirty="0" smtClean="0">
                <a:latin typeface="Perpetua" pitchFamily="18" charset="0"/>
              </a:rPr>
              <a:t>CDS and spreads: Baseline regressions</a:t>
            </a:r>
            <a:endParaRPr lang="nl-NL" sz="2800" dirty="0">
              <a:latin typeface="Perpetua" pitchFamily="18" charset="0"/>
            </a:endParaRPr>
          </a:p>
        </p:txBody>
      </p:sp>
      <p:sp>
        <p:nvSpPr>
          <p:cNvPr id="4" name="TextBox 3"/>
          <p:cNvSpPr txBox="1"/>
          <p:nvPr/>
        </p:nvSpPr>
        <p:spPr>
          <a:xfrm>
            <a:off x="6400800" y="2133600"/>
            <a:ext cx="2743200" cy="2662267"/>
          </a:xfrm>
          <a:prstGeom prst="rect">
            <a:avLst/>
          </a:prstGeom>
          <a:noFill/>
        </p:spPr>
        <p:txBody>
          <a:bodyPr wrap="square" rtlCol="0">
            <a:spAutoFit/>
          </a:bodyPr>
          <a:lstStyle/>
          <a:p>
            <a:pPr>
              <a:buFont typeface="Arial" pitchFamily="34" charset="0"/>
              <a:buChar char="•"/>
            </a:pPr>
            <a:r>
              <a:rPr lang="en-US" sz="1600" dirty="0" smtClean="0">
                <a:latin typeface="Perpetua"/>
              </a:rPr>
              <a:t> </a:t>
            </a:r>
            <a:r>
              <a:rPr lang="en-US" dirty="0" smtClean="0">
                <a:latin typeface="Perpetua"/>
              </a:rPr>
              <a:t>Evidence for risk management channel: Gross position significantly negative</a:t>
            </a:r>
            <a:r>
              <a:rPr lang="nl-NL" dirty="0" smtClean="0">
                <a:latin typeface="Perpetua"/>
              </a:rPr>
              <a:t>.</a:t>
            </a:r>
          </a:p>
          <a:p>
            <a:pPr>
              <a:buFont typeface="Arial" pitchFamily="34" charset="0"/>
              <a:buChar char="•"/>
            </a:pPr>
            <a:endParaRPr lang="nl-NL" dirty="0" smtClean="0">
              <a:latin typeface="Perpetua"/>
            </a:endParaRPr>
          </a:p>
          <a:p>
            <a:pPr>
              <a:buFont typeface="Arial" pitchFamily="34" charset="0"/>
              <a:buChar char="•"/>
            </a:pPr>
            <a:r>
              <a:rPr lang="nl-NL" dirty="0" smtClean="0">
                <a:latin typeface="Perpetua"/>
              </a:rPr>
              <a:t>No evidence for other channels (no effect through net position).</a:t>
            </a:r>
          </a:p>
          <a:p>
            <a:pPr>
              <a:buFont typeface="Arial" pitchFamily="34" charset="0"/>
              <a:buChar char="•"/>
            </a:pPr>
            <a:endParaRPr lang="en-US" sz="1300" dirty="0" smtClean="0">
              <a:latin typeface="Perpetua"/>
            </a:endParaRPr>
          </a:p>
          <a:p>
            <a:pPr algn="just"/>
            <a:endParaRPr lang="nl-NL" sz="1400" dirty="0" smtClean="0"/>
          </a:p>
          <a:p>
            <a:pPr algn="just">
              <a:buFont typeface="Arial" pitchFamily="34" charset="0"/>
              <a:buChar char="•"/>
            </a:pPr>
            <a:endParaRPr lang="nl-NL" sz="1400" dirty="0"/>
          </a:p>
        </p:txBody>
      </p:sp>
      <p:sp>
        <p:nvSpPr>
          <p:cNvPr id="6" name="TextBox 5"/>
          <p:cNvSpPr txBox="1"/>
          <p:nvPr/>
        </p:nvSpPr>
        <p:spPr>
          <a:xfrm>
            <a:off x="6400800" y="4038600"/>
            <a:ext cx="2514600" cy="2031325"/>
          </a:xfrm>
          <a:prstGeom prst="rect">
            <a:avLst/>
          </a:prstGeom>
          <a:noFill/>
        </p:spPr>
        <p:txBody>
          <a:bodyPr wrap="square" rtlCol="0">
            <a:spAutoFit/>
          </a:bodyPr>
          <a:lstStyle/>
          <a:p>
            <a:pPr>
              <a:buFont typeface="Arial" pitchFamily="34" charset="0"/>
              <a:buChar char="•"/>
            </a:pPr>
            <a:endParaRPr lang="en-US" dirty="0" smtClean="0">
              <a:latin typeface="Perpetua"/>
            </a:endParaRPr>
          </a:p>
          <a:p>
            <a:pPr>
              <a:buFont typeface="Arial" pitchFamily="34" charset="0"/>
              <a:buChar char="•"/>
            </a:pPr>
            <a:r>
              <a:rPr lang="en-US" dirty="0" smtClean="0">
                <a:latin typeface="Perpetua"/>
              </a:rPr>
              <a:t>Economic effect is also significant: One standard deviation increase in Gross position leads to a decrease in spread by 8.9 bps</a:t>
            </a:r>
          </a:p>
          <a:p>
            <a:endParaRPr lang="nl-NL" dirty="0"/>
          </a:p>
        </p:txBody>
      </p:sp>
      <p:pic>
        <p:nvPicPr>
          <p:cNvPr id="2050" name="Picture 2"/>
          <p:cNvPicPr>
            <a:picLocks noGrp="1" noChangeAspect="1" noChangeArrowheads="1"/>
          </p:cNvPicPr>
          <p:nvPr>
            <p:ph idx="1"/>
          </p:nvPr>
        </p:nvPicPr>
        <p:blipFill>
          <a:blip r:embed="rId3" cstate="print"/>
          <a:srcRect r="17808"/>
          <a:stretch>
            <a:fillRect/>
          </a:stretch>
        </p:blipFill>
        <p:spPr bwMode="auto">
          <a:xfrm>
            <a:off x="1447800" y="2057400"/>
            <a:ext cx="4572000" cy="4038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Perpetua" pitchFamily="18" charset="0"/>
              </a:rPr>
              <a:t>Identification of risk management effect</a:t>
            </a:r>
          </a:p>
        </p:txBody>
      </p:sp>
      <p:sp>
        <p:nvSpPr>
          <p:cNvPr id="3" name="Content Placeholder 2"/>
          <p:cNvSpPr>
            <a:spLocks noGrp="1"/>
          </p:cNvSpPr>
          <p:nvPr>
            <p:ph idx="1"/>
          </p:nvPr>
        </p:nvSpPr>
        <p:spPr/>
        <p:txBody>
          <a:bodyPr/>
          <a:lstStyle/>
          <a:p>
            <a:r>
              <a:rPr lang="en-US" kern="1200" dirty="0" smtClean="0">
                <a:latin typeface="Perpetua"/>
              </a:rPr>
              <a:t>CD use may be correlated with other risk management tools</a:t>
            </a:r>
          </a:p>
          <a:p>
            <a:pPr lvl="1"/>
            <a:r>
              <a:rPr lang="en-US" kern="1200" dirty="0" smtClean="0">
                <a:latin typeface="Perpetua"/>
                <a:ea typeface="+mn-ea"/>
                <a:cs typeface="+mn-cs"/>
              </a:rPr>
              <a:t>Control in regression for other derivatives used for hedging</a:t>
            </a:r>
          </a:p>
          <a:p>
            <a:r>
              <a:rPr lang="en-US" kern="1200" dirty="0" smtClean="0">
                <a:latin typeface="Perpetua"/>
              </a:rPr>
              <a:t>Endogeneity:</a:t>
            </a:r>
          </a:p>
          <a:p>
            <a:pPr lvl="1"/>
            <a:r>
              <a:rPr lang="en-US" kern="1200" dirty="0" smtClean="0">
                <a:latin typeface="Perpetua"/>
              </a:rPr>
              <a:t>Risk-loving bank may simultaneously </a:t>
            </a:r>
            <a:r>
              <a:rPr lang="en-US" kern="1200" dirty="0" err="1" smtClean="0">
                <a:latin typeface="Perpetua"/>
              </a:rPr>
              <a:t>underprice</a:t>
            </a:r>
            <a:r>
              <a:rPr lang="en-US" kern="1200" dirty="0" smtClean="0">
                <a:latin typeface="Perpetua"/>
              </a:rPr>
              <a:t> in lending market and write protection in CD market.</a:t>
            </a:r>
          </a:p>
          <a:p>
            <a:pPr lvl="1"/>
            <a:r>
              <a:rPr lang="en-US" kern="1200" dirty="0" smtClean="0">
                <a:latin typeface="Perpetua"/>
              </a:rPr>
              <a:t>Or: bank that has good lending opportunities may have low lending rates and hedge additional risk using credit derivatives.</a:t>
            </a:r>
          </a:p>
          <a:p>
            <a:r>
              <a:rPr lang="en-US" kern="1200" dirty="0" smtClean="0">
                <a:latin typeface="Perpetua"/>
              </a:rPr>
              <a:t>This endogeneity operates through the net amount!</a:t>
            </a:r>
          </a:p>
          <a:p>
            <a:r>
              <a:rPr lang="en-US" kern="1200" dirty="0" smtClean="0">
                <a:latin typeface="Perpetua"/>
              </a:rPr>
              <a:t>Any remaining endogeneity:</a:t>
            </a:r>
          </a:p>
          <a:p>
            <a:pPr lvl="1"/>
            <a:r>
              <a:rPr lang="en-US" kern="1200" dirty="0" smtClean="0">
                <a:latin typeface="Perpetua"/>
                <a:ea typeface="+mn-ea"/>
                <a:cs typeface="+mn-cs"/>
              </a:rPr>
              <a:t>IV approach with other derivatives used for trading as instruments:</a:t>
            </a:r>
          </a:p>
          <a:p>
            <a:pPr lvl="2"/>
            <a:r>
              <a:rPr lang="en-US" kern="1200" dirty="0" smtClean="0">
                <a:latin typeface="Perpetua"/>
                <a:ea typeface="+mn-ea"/>
                <a:cs typeface="+mn-cs"/>
              </a:rPr>
              <a:t>Trading derivatives typically precedes derivatives hedging and it is unlikely that pure trading has an independent effect on loan pricing</a:t>
            </a:r>
          </a:p>
          <a:p>
            <a:pPr lvl="1"/>
            <a:r>
              <a:rPr lang="en-US" kern="1200" dirty="0" smtClean="0">
                <a:latin typeface="Perpetua"/>
                <a:ea typeface="+mn-ea"/>
                <a:cs typeface="+mn-cs"/>
              </a:rPr>
              <a:t>Contemporaneous endogeneity: lag CDS positions by one year</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pPr>
              <a:buNone/>
            </a:pPr>
            <a:endParaRPr lang="nl-NL" dirty="0"/>
          </a:p>
        </p:txBody>
      </p:sp>
      <p:sp>
        <p:nvSpPr>
          <p:cNvPr id="2" name="Title 1"/>
          <p:cNvSpPr>
            <a:spLocks noGrp="1"/>
          </p:cNvSpPr>
          <p:nvPr>
            <p:ph type="title"/>
          </p:nvPr>
        </p:nvSpPr>
        <p:spPr>
          <a:xfrm>
            <a:off x="685800" y="1066800"/>
            <a:ext cx="7772400" cy="381000"/>
          </a:xfrm>
        </p:spPr>
        <p:txBody>
          <a:bodyPr/>
          <a:lstStyle/>
          <a:p>
            <a:r>
              <a:rPr lang="en-US" sz="2800" dirty="0" smtClean="0">
                <a:latin typeface="Perpetua" pitchFamily="18" charset="0"/>
              </a:rPr>
              <a:t>Identification</a:t>
            </a:r>
            <a:endParaRPr lang="nl-NL" sz="2800" dirty="0">
              <a:latin typeface="Perpetua" pitchFamily="18" charset="0"/>
            </a:endParaRPr>
          </a:p>
        </p:txBody>
      </p:sp>
      <p:sp>
        <p:nvSpPr>
          <p:cNvPr id="5" name="TextBox 4"/>
          <p:cNvSpPr txBox="1"/>
          <p:nvPr/>
        </p:nvSpPr>
        <p:spPr>
          <a:xfrm>
            <a:off x="5181600" y="1828800"/>
            <a:ext cx="3810000" cy="646331"/>
          </a:xfrm>
          <a:prstGeom prst="rect">
            <a:avLst/>
          </a:prstGeom>
          <a:noFill/>
        </p:spPr>
        <p:txBody>
          <a:bodyPr wrap="square" rtlCol="0">
            <a:spAutoFit/>
          </a:bodyPr>
          <a:lstStyle/>
          <a:p>
            <a:pPr>
              <a:buFont typeface="Arial" pitchFamily="34" charset="0"/>
              <a:buChar char="•"/>
            </a:pPr>
            <a:r>
              <a:rPr lang="en-US" sz="1600" dirty="0" smtClean="0">
                <a:latin typeface="Perpetua"/>
              </a:rPr>
              <a:t> </a:t>
            </a:r>
            <a:r>
              <a:rPr lang="en-US" dirty="0" smtClean="0">
                <a:latin typeface="Perpetua"/>
              </a:rPr>
              <a:t>Results hold when controlling other forms of risk management</a:t>
            </a:r>
          </a:p>
        </p:txBody>
      </p:sp>
      <p:sp>
        <p:nvSpPr>
          <p:cNvPr id="9" name="TextBox 8"/>
          <p:cNvSpPr txBox="1"/>
          <p:nvPr/>
        </p:nvSpPr>
        <p:spPr>
          <a:xfrm>
            <a:off x="5257800" y="2819400"/>
            <a:ext cx="3733800" cy="646331"/>
          </a:xfrm>
          <a:prstGeom prst="rect">
            <a:avLst/>
          </a:prstGeom>
          <a:noFill/>
        </p:spPr>
        <p:txBody>
          <a:bodyPr wrap="square" rtlCol="0">
            <a:spAutoFit/>
          </a:bodyPr>
          <a:lstStyle/>
          <a:p>
            <a:pPr>
              <a:buFont typeface="Arial" pitchFamily="34" charset="0"/>
              <a:buChar char="•"/>
            </a:pPr>
            <a:r>
              <a:rPr lang="en-US" dirty="0" smtClean="0">
                <a:latin typeface="Perpetua"/>
              </a:rPr>
              <a:t> Results unchanged when </a:t>
            </a:r>
            <a:r>
              <a:rPr lang="en-US" dirty="0" err="1" smtClean="0">
                <a:latin typeface="Perpetua"/>
              </a:rPr>
              <a:t>instrumenting</a:t>
            </a:r>
            <a:r>
              <a:rPr lang="en-US" dirty="0" smtClean="0">
                <a:latin typeface="Perpetua"/>
              </a:rPr>
              <a:t> the gross position</a:t>
            </a:r>
          </a:p>
        </p:txBody>
      </p:sp>
      <p:sp>
        <p:nvSpPr>
          <p:cNvPr id="10" name="TextBox 9"/>
          <p:cNvSpPr txBox="1"/>
          <p:nvPr/>
        </p:nvSpPr>
        <p:spPr>
          <a:xfrm>
            <a:off x="5257800" y="4114800"/>
            <a:ext cx="3733800" cy="646331"/>
          </a:xfrm>
          <a:prstGeom prst="rect">
            <a:avLst/>
          </a:prstGeom>
          <a:noFill/>
        </p:spPr>
        <p:txBody>
          <a:bodyPr wrap="square" rtlCol="0">
            <a:spAutoFit/>
          </a:bodyPr>
          <a:lstStyle/>
          <a:p>
            <a:pPr>
              <a:buFont typeface="Arial" pitchFamily="34" charset="0"/>
              <a:buChar char="•"/>
            </a:pPr>
            <a:r>
              <a:rPr lang="en-US" sz="1300" dirty="0" smtClean="0">
                <a:latin typeface="Perpetua"/>
              </a:rPr>
              <a:t> </a:t>
            </a:r>
            <a:r>
              <a:rPr lang="en-US" dirty="0" smtClean="0">
                <a:latin typeface="Perpetua"/>
              </a:rPr>
              <a:t>Results robust when we control for contemporaneous endogeneity problems. </a:t>
            </a:r>
          </a:p>
        </p:txBody>
      </p:sp>
      <p:pic>
        <p:nvPicPr>
          <p:cNvPr id="1026" name="Picture 2"/>
          <p:cNvPicPr>
            <a:picLocks noChangeAspect="1" noChangeArrowheads="1"/>
          </p:cNvPicPr>
          <p:nvPr/>
        </p:nvPicPr>
        <p:blipFill>
          <a:blip r:embed="rId3" cstate="print"/>
          <a:srcRect/>
          <a:stretch>
            <a:fillRect/>
          </a:stretch>
        </p:blipFill>
        <p:spPr bwMode="auto">
          <a:xfrm>
            <a:off x="381000" y="1828800"/>
            <a:ext cx="4800600" cy="4648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latin typeface="Perpetua" pitchFamily="18" charset="0"/>
              </a:rPr>
              <a:t>Risk management benefits and borrower types</a:t>
            </a:r>
          </a:p>
        </p:txBody>
      </p:sp>
      <p:sp>
        <p:nvSpPr>
          <p:cNvPr id="3" name="Content Placeholder 2"/>
          <p:cNvSpPr>
            <a:spLocks noGrp="1"/>
          </p:cNvSpPr>
          <p:nvPr>
            <p:ph idx="1"/>
          </p:nvPr>
        </p:nvSpPr>
        <p:spPr/>
        <p:txBody>
          <a:bodyPr/>
          <a:lstStyle/>
          <a:p>
            <a:r>
              <a:rPr lang="en-US" dirty="0" smtClean="0">
                <a:latin typeface="Perpetua" pitchFamily="18" charset="0"/>
              </a:rPr>
              <a:t>By comparing effects for different types of borrowers we can understand better the channels through which risk management affects loan pricing</a:t>
            </a:r>
          </a:p>
          <a:p>
            <a:endParaRPr lang="en-US" dirty="0" smtClean="0">
              <a:latin typeface="Perpetua" pitchFamily="18" charset="0"/>
            </a:endParaRPr>
          </a:p>
          <a:p>
            <a:r>
              <a:rPr lang="en-US" dirty="0" smtClean="0">
                <a:latin typeface="Perpetua" pitchFamily="18" charset="0"/>
              </a:rPr>
              <a:t>We find that borrowers that are more likely to be actively traded in the CDS-market (large investment grade companies) benefit from banks risk management significantly larger (44 bps reduction for one </a:t>
            </a:r>
            <a:r>
              <a:rPr lang="en-US" dirty="0" err="1" smtClean="0">
                <a:latin typeface="Perpetua" pitchFamily="18" charset="0"/>
              </a:rPr>
              <a:t>stdev</a:t>
            </a:r>
            <a:r>
              <a:rPr lang="en-US" dirty="0" smtClean="0">
                <a:latin typeface="Perpetua" pitchFamily="18" charset="0"/>
              </a:rPr>
              <a:t> gross position)</a:t>
            </a:r>
          </a:p>
          <a:p>
            <a:endParaRPr lang="en-US" dirty="0" smtClean="0">
              <a:latin typeface="Perpetua" pitchFamily="18" charset="0"/>
            </a:endParaRPr>
          </a:p>
          <a:p>
            <a:r>
              <a:rPr lang="en-US" dirty="0" smtClean="0">
                <a:latin typeface="Perpetua" pitchFamily="18" charset="0"/>
              </a:rPr>
              <a:t>Interestingly, we also find that risk management benefit extends to unrated borrowers, which are unlikely to be traded in CDS market (the impact is similar to the overall pool of firms)</a:t>
            </a:r>
          </a:p>
          <a:p>
            <a:endParaRPr lang="en-US" dirty="0" smtClean="0">
              <a:latin typeface="Perpetua" pitchFamily="18" charset="0"/>
            </a:endParaRPr>
          </a:p>
          <a:p>
            <a:r>
              <a:rPr lang="en-US" dirty="0" smtClean="0">
                <a:latin typeface="Perpetua" pitchFamily="18" charset="0"/>
              </a:rPr>
              <a:t>This suggests that risk management using credit derivatives leads to </a:t>
            </a:r>
            <a:r>
              <a:rPr lang="en-US" i="1" dirty="0" smtClean="0">
                <a:latin typeface="Perpetua" pitchFamily="18" charset="0"/>
              </a:rPr>
              <a:t>general</a:t>
            </a:r>
            <a:r>
              <a:rPr lang="en-US" dirty="0" smtClean="0">
                <a:latin typeface="Perpetua" pitchFamily="18" charset="0"/>
              </a:rPr>
              <a:t> reduction in the cost of risk-taking at banks. It may also reflect pseudo-hedging.</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66800"/>
            <a:ext cx="7772400" cy="381000"/>
          </a:xfrm>
        </p:spPr>
        <p:txBody>
          <a:bodyPr/>
          <a:lstStyle/>
          <a:p>
            <a:r>
              <a:rPr lang="en-US" sz="2400" dirty="0" smtClean="0">
                <a:latin typeface="Perpetua" pitchFamily="18" charset="0"/>
              </a:rPr>
              <a:t>CDS and spreads during the crisis</a:t>
            </a:r>
            <a:endParaRPr lang="nl-NL" sz="2400" dirty="0">
              <a:latin typeface="Perpetua" pitchFamily="18" charset="0"/>
            </a:endParaRPr>
          </a:p>
        </p:txBody>
      </p:sp>
      <p:pic>
        <p:nvPicPr>
          <p:cNvPr id="3074" name="Picture 2"/>
          <p:cNvPicPr>
            <a:picLocks noGrp="1" noChangeAspect="1" noChangeArrowheads="1"/>
          </p:cNvPicPr>
          <p:nvPr>
            <p:ph idx="1"/>
          </p:nvPr>
        </p:nvPicPr>
        <p:blipFill>
          <a:blip r:embed="rId3" cstate="print"/>
          <a:srcRect r="33333"/>
          <a:stretch>
            <a:fillRect/>
          </a:stretch>
        </p:blipFill>
        <p:spPr bwMode="auto">
          <a:xfrm>
            <a:off x="1981200" y="1447800"/>
            <a:ext cx="3200400" cy="5410200"/>
          </a:xfrm>
          <a:prstGeom prst="rect">
            <a:avLst/>
          </a:prstGeom>
          <a:noFill/>
          <a:ln w="9525">
            <a:noFill/>
            <a:miter lim="800000"/>
            <a:headEnd/>
            <a:tailEnd/>
          </a:ln>
        </p:spPr>
      </p:pic>
      <p:sp>
        <p:nvSpPr>
          <p:cNvPr id="4" name="TextBox 3"/>
          <p:cNvSpPr txBox="1"/>
          <p:nvPr/>
        </p:nvSpPr>
        <p:spPr>
          <a:xfrm>
            <a:off x="5943600" y="2057400"/>
            <a:ext cx="3200400" cy="1015663"/>
          </a:xfrm>
          <a:prstGeom prst="rect">
            <a:avLst/>
          </a:prstGeom>
          <a:noFill/>
        </p:spPr>
        <p:txBody>
          <a:bodyPr wrap="square" rtlCol="0">
            <a:spAutoFit/>
          </a:bodyPr>
          <a:lstStyle/>
          <a:p>
            <a:pPr>
              <a:buFont typeface="Arial" pitchFamily="34" charset="0"/>
              <a:buChar char="•"/>
            </a:pPr>
            <a:r>
              <a:rPr lang="en-US" sz="1300" dirty="0" smtClean="0">
                <a:latin typeface="Perpetua"/>
              </a:rPr>
              <a:t> </a:t>
            </a:r>
            <a:r>
              <a:rPr lang="en-US" sz="2000" dirty="0" smtClean="0">
                <a:latin typeface="Perpetua"/>
              </a:rPr>
              <a:t>Spreads have increased across the board, also for banks using CDS</a:t>
            </a:r>
          </a:p>
        </p:txBody>
      </p:sp>
      <p:sp>
        <p:nvSpPr>
          <p:cNvPr id="5" name="TextBox 4"/>
          <p:cNvSpPr txBox="1"/>
          <p:nvPr/>
        </p:nvSpPr>
        <p:spPr>
          <a:xfrm>
            <a:off x="5943600" y="3276600"/>
            <a:ext cx="2743200" cy="1908215"/>
          </a:xfrm>
          <a:prstGeom prst="rect">
            <a:avLst/>
          </a:prstGeom>
          <a:noFill/>
        </p:spPr>
        <p:txBody>
          <a:bodyPr wrap="square" rtlCol="0">
            <a:spAutoFit/>
          </a:bodyPr>
          <a:lstStyle/>
          <a:p>
            <a:pPr algn="just">
              <a:buFont typeface="Arial" pitchFamily="34" charset="0"/>
              <a:buChar char="•"/>
            </a:pPr>
            <a:r>
              <a:rPr lang="en-US" sz="1300" dirty="0" smtClean="0">
                <a:latin typeface="Perpetua"/>
              </a:rPr>
              <a:t> </a:t>
            </a:r>
            <a:r>
              <a:rPr lang="en-US" sz="2000" dirty="0" smtClean="0">
                <a:latin typeface="Perpetua"/>
              </a:rPr>
              <a:t>The benefits from risk management persist after the onset of the crisis and do so with a similar magnitude</a:t>
            </a:r>
          </a:p>
          <a:p>
            <a:endParaRPr lang="nl-NL" dirty="0"/>
          </a:p>
        </p:txBody>
      </p:sp>
      <p:sp>
        <p:nvSpPr>
          <p:cNvPr id="7" name="TextBox 6"/>
          <p:cNvSpPr txBox="1"/>
          <p:nvPr/>
        </p:nvSpPr>
        <p:spPr>
          <a:xfrm>
            <a:off x="6019800" y="3657600"/>
            <a:ext cx="2743200" cy="569387"/>
          </a:xfrm>
          <a:prstGeom prst="rect">
            <a:avLst/>
          </a:prstGeom>
          <a:noFill/>
        </p:spPr>
        <p:txBody>
          <a:bodyPr wrap="square" rtlCol="0">
            <a:spAutoFit/>
          </a:bodyPr>
          <a:lstStyle/>
          <a:p>
            <a:pPr algn="just">
              <a:buFont typeface="Arial" pitchFamily="34" charset="0"/>
              <a:buChar char="•"/>
            </a:pPr>
            <a:endParaRPr lang="en-US" sz="1300" dirty="0" smtClean="0">
              <a:latin typeface="Perpetua"/>
            </a:endParaRPr>
          </a:p>
          <a:p>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nodePh="1">
                                  <p:stCondLst>
                                    <p:cond delay="0"/>
                                  </p:stCondLst>
                                  <p:endCondLst>
                                    <p:cond evt="begin" delay="0">
                                      <p:tn val="15"/>
                                    </p:cond>
                                  </p:end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633412"/>
          </a:xfrm>
        </p:spPr>
        <p:txBody>
          <a:bodyPr/>
          <a:lstStyle/>
          <a:p>
            <a:r>
              <a:rPr lang="en-US" sz="3200" dirty="0" smtClean="0">
                <a:latin typeface="Perpetua" pitchFamily="18" charset="0"/>
              </a:rPr>
              <a:t>How do risk-management banks compare to others?</a:t>
            </a:r>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marL="742950" lvl="2" indent="-342900" algn="just"/>
            <a:r>
              <a:rPr lang="en-US" dirty="0" smtClean="0">
                <a:latin typeface="Perpetua"/>
                <a:ea typeface="+mn-ea"/>
                <a:cs typeface="+mn-cs"/>
              </a:rPr>
              <a:t>We would expect banks which successfully manage their risks may experience lower loan charge-offs</a:t>
            </a:r>
          </a:p>
          <a:p>
            <a:pPr marL="742950" lvl="2" indent="-342900" algn="just"/>
            <a:r>
              <a:rPr lang="en-US" dirty="0" smtClean="0">
                <a:latin typeface="Perpetua"/>
                <a:ea typeface="+mn-ea"/>
                <a:cs typeface="+mn-cs"/>
              </a:rPr>
              <a:t>Charge-offs should also not increase (relative to other banks) under adverse economic conditions.</a:t>
            </a:r>
          </a:p>
          <a:p>
            <a:pPr marL="742950" lvl="2" indent="-342900" algn="just"/>
            <a:r>
              <a:rPr lang="en-US" dirty="0" smtClean="0">
                <a:latin typeface="Perpetua"/>
                <a:ea typeface="+mn-ea"/>
                <a:cs typeface="+mn-cs"/>
              </a:rPr>
              <a:t>We would also expect these banks to be less likely to be lending-constrained in a crisis (</a:t>
            </a:r>
            <a:r>
              <a:rPr lang="en-US" dirty="0" err="1" smtClean="0">
                <a:latin typeface="Perpetua"/>
                <a:ea typeface="+mn-ea"/>
                <a:cs typeface="+mn-cs"/>
              </a:rPr>
              <a:t>Froot</a:t>
            </a:r>
            <a:r>
              <a:rPr lang="en-US" dirty="0" smtClean="0">
                <a:latin typeface="Perpetua"/>
                <a:ea typeface="+mn-ea"/>
                <a:cs typeface="+mn-cs"/>
              </a:rPr>
              <a:t>, </a:t>
            </a:r>
            <a:r>
              <a:rPr lang="en-US" dirty="0" err="1" smtClean="0">
                <a:latin typeface="Perpetua"/>
                <a:ea typeface="+mn-ea"/>
                <a:cs typeface="+mn-cs"/>
              </a:rPr>
              <a:t>Scharfstein</a:t>
            </a:r>
            <a:r>
              <a:rPr lang="en-US" dirty="0" smtClean="0">
                <a:latin typeface="Perpetua"/>
                <a:ea typeface="+mn-ea"/>
                <a:cs typeface="+mn-cs"/>
              </a:rPr>
              <a:t>, Stein, 1993)</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219200"/>
            <a:ext cx="7772400" cy="381000"/>
          </a:xfrm>
        </p:spPr>
        <p:txBody>
          <a:bodyPr/>
          <a:lstStyle/>
          <a:p>
            <a:r>
              <a:rPr lang="nl-NL" sz="2400" dirty="0" smtClean="0">
                <a:latin typeface="Perpetua" pitchFamily="18" charset="0"/>
              </a:rPr>
              <a:t>Bank-level analysis</a:t>
            </a:r>
            <a:endParaRPr lang="nl-NL" sz="2400" dirty="0">
              <a:latin typeface="Perpetua" pitchFamily="18" charset="0"/>
            </a:endParaRPr>
          </a:p>
        </p:txBody>
      </p:sp>
      <p:sp>
        <p:nvSpPr>
          <p:cNvPr id="8" name="Content Placeholder 7"/>
          <p:cNvSpPr>
            <a:spLocks noGrp="1"/>
          </p:cNvSpPr>
          <p:nvPr>
            <p:ph idx="1"/>
          </p:nvPr>
        </p:nvSpPr>
        <p:spPr>
          <a:xfrm>
            <a:off x="685800" y="1600200"/>
            <a:ext cx="7772400" cy="4495800"/>
          </a:xfrm>
        </p:spPr>
        <p:txBody>
          <a:bodyPr/>
          <a:lstStyle/>
          <a:p>
            <a:pPr algn="just"/>
            <a:endParaRPr lang="en-US" dirty="0" smtClean="0">
              <a:latin typeface="Perpetua"/>
            </a:endParaRPr>
          </a:p>
          <a:p>
            <a:pPr algn="just"/>
            <a:r>
              <a:rPr lang="en-US" dirty="0" smtClean="0">
                <a:latin typeface="Perpetua"/>
              </a:rPr>
              <a:t>Data</a:t>
            </a:r>
          </a:p>
          <a:p>
            <a:pPr marL="742950" lvl="2" indent="-342900" algn="just"/>
            <a:r>
              <a:rPr lang="en-US" dirty="0" smtClean="0">
                <a:latin typeface="Perpetua"/>
                <a:ea typeface="+mn-ea"/>
                <a:cs typeface="+mn-cs"/>
              </a:rPr>
              <a:t>Same banks and sample period as in loan-level data set</a:t>
            </a:r>
          </a:p>
          <a:p>
            <a:pPr marL="742950" lvl="2" indent="-342900" algn="just"/>
            <a:r>
              <a:rPr lang="en-US" dirty="0" smtClean="0">
                <a:latin typeface="Perpetua"/>
              </a:rPr>
              <a:t>Yearly data</a:t>
            </a:r>
          </a:p>
          <a:p>
            <a:pPr marL="742950" lvl="2" indent="-342900" algn="just"/>
            <a:r>
              <a:rPr lang="en-US" dirty="0" smtClean="0">
                <a:latin typeface="Perpetua"/>
              </a:rPr>
              <a:t>Bank data from Call Reports</a:t>
            </a:r>
            <a:endParaRPr lang="en-US" dirty="0" smtClean="0">
              <a:latin typeface="Perpetua"/>
              <a:ea typeface="+mn-ea"/>
              <a:cs typeface="+mn-cs"/>
            </a:endParaRPr>
          </a:p>
          <a:p>
            <a:pPr algn="just"/>
            <a:endParaRPr lang="en-US" dirty="0" smtClean="0">
              <a:latin typeface="Perpetua"/>
            </a:endParaRPr>
          </a:p>
          <a:p>
            <a:pPr algn="just"/>
            <a:r>
              <a:rPr lang="en-US" dirty="0" smtClean="0">
                <a:latin typeface="Perpetua"/>
              </a:rPr>
              <a:t>Dependent Variables: </a:t>
            </a:r>
          </a:p>
          <a:p>
            <a:pPr marL="742950" lvl="2" indent="-342900" algn="just"/>
            <a:r>
              <a:rPr lang="en-US" dirty="0" smtClean="0">
                <a:latin typeface="Perpetua"/>
                <a:ea typeface="+mn-ea"/>
                <a:cs typeface="+mn-cs"/>
              </a:rPr>
              <a:t>(Net Charge-offs commercial loans– CDS gains)/TA</a:t>
            </a:r>
          </a:p>
          <a:p>
            <a:pPr marL="742950" lvl="2" indent="-342900" algn="just"/>
            <a:r>
              <a:rPr lang="en-US" dirty="0" smtClean="0">
                <a:latin typeface="Perpetua"/>
                <a:ea typeface="+mn-ea"/>
                <a:cs typeface="+mn-cs"/>
              </a:rPr>
              <a:t>Commercial Loans/TA</a:t>
            </a:r>
            <a:endParaRPr lang="nl-NL" dirty="0" smtClean="0">
              <a:latin typeface="Perpetua"/>
              <a:ea typeface="+mn-ea"/>
              <a:cs typeface="+mn-cs"/>
            </a:endParaRPr>
          </a:p>
          <a:p>
            <a:pPr algn="just"/>
            <a:r>
              <a:rPr lang="en-US" dirty="0" smtClean="0">
                <a:latin typeface="Perpetua"/>
              </a:rPr>
              <a:t>Bank Controls: log(assets), total Loans/TA, commercial loans/TA, ROA, Sub. Debt/TA, liquidity/TA, equity/TA.</a:t>
            </a:r>
          </a:p>
          <a:p>
            <a:endParaRPr lang="en-US"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66800"/>
            <a:ext cx="7772400" cy="381000"/>
          </a:xfrm>
        </p:spPr>
        <p:txBody>
          <a:bodyPr/>
          <a:lstStyle/>
          <a:p>
            <a:r>
              <a:rPr lang="en-US" sz="2400" dirty="0" smtClean="0">
                <a:latin typeface="Perpetua" pitchFamily="18" charset="0"/>
              </a:rPr>
              <a:t>CDS and Banks performance</a:t>
            </a:r>
            <a:endParaRPr lang="nl-NL" sz="2400" dirty="0">
              <a:latin typeface="Perpetua" pitchFamily="18" charset="0"/>
            </a:endParaRPr>
          </a:p>
        </p:txBody>
      </p:sp>
      <p:pic>
        <p:nvPicPr>
          <p:cNvPr id="4098" name="Picture 2"/>
          <p:cNvPicPr>
            <a:picLocks noGrp="1" noChangeAspect="1" noChangeArrowheads="1"/>
          </p:cNvPicPr>
          <p:nvPr>
            <p:ph idx="1"/>
          </p:nvPr>
        </p:nvPicPr>
        <p:blipFill>
          <a:blip r:embed="rId3" cstate="print"/>
          <a:srcRect/>
          <a:stretch>
            <a:fillRect/>
          </a:stretch>
        </p:blipFill>
        <p:spPr bwMode="auto">
          <a:xfrm>
            <a:off x="228600" y="2057400"/>
            <a:ext cx="6219825" cy="3419475"/>
          </a:xfrm>
          <a:prstGeom prst="rect">
            <a:avLst/>
          </a:prstGeom>
          <a:noFill/>
          <a:ln w="9525">
            <a:noFill/>
            <a:miter lim="800000"/>
            <a:headEnd/>
            <a:tailEnd/>
          </a:ln>
        </p:spPr>
      </p:pic>
      <p:sp>
        <p:nvSpPr>
          <p:cNvPr id="4" name="TextBox 3"/>
          <p:cNvSpPr txBox="1"/>
          <p:nvPr/>
        </p:nvSpPr>
        <p:spPr>
          <a:xfrm>
            <a:off x="6553200" y="1676400"/>
            <a:ext cx="2590800" cy="1031051"/>
          </a:xfrm>
          <a:prstGeom prst="rect">
            <a:avLst/>
          </a:prstGeom>
          <a:noFill/>
        </p:spPr>
        <p:txBody>
          <a:bodyPr wrap="square" rtlCol="0">
            <a:spAutoFit/>
          </a:bodyPr>
          <a:lstStyle/>
          <a:p>
            <a:pPr>
              <a:buFont typeface="Arial" pitchFamily="34" charset="0"/>
              <a:buChar char="•"/>
            </a:pPr>
            <a:r>
              <a:rPr lang="en-US" sz="1300" dirty="0" smtClean="0">
                <a:latin typeface="Perpetua"/>
              </a:rPr>
              <a:t>  </a:t>
            </a:r>
            <a:r>
              <a:rPr lang="en-US" sz="1600" dirty="0" smtClean="0">
                <a:latin typeface="Perpetua"/>
              </a:rPr>
              <a:t>On average all banks experienced larger losses after the crisis</a:t>
            </a:r>
            <a:r>
              <a:rPr lang="en-US" sz="1300" dirty="0" smtClean="0">
                <a:latin typeface="Perpetua"/>
              </a:rPr>
              <a:t>.</a:t>
            </a:r>
          </a:p>
          <a:p>
            <a:endParaRPr lang="en-US" sz="1300" dirty="0" smtClean="0">
              <a:latin typeface="Perpetua"/>
            </a:endParaRPr>
          </a:p>
        </p:txBody>
      </p:sp>
      <p:sp>
        <p:nvSpPr>
          <p:cNvPr id="5" name="TextBox 4"/>
          <p:cNvSpPr txBox="1"/>
          <p:nvPr/>
        </p:nvSpPr>
        <p:spPr>
          <a:xfrm>
            <a:off x="6553200" y="2590800"/>
            <a:ext cx="2590800" cy="1523494"/>
          </a:xfrm>
          <a:prstGeom prst="rect">
            <a:avLst/>
          </a:prstGeom>
          <a:noFill/>
        </p:spPr>
        <p:txBody>
          <a:bodyPr wrap="square" rtlCol="0">
            <a:spAutoFit/>
          </a:bodyPr>
          <a:lstStyle/>
          <a:p>
            <a:pPr>
              <a:buFont typeface="Arial" pitchFamily="34" charset="0"/>
              <a:buChar char="•"/>
            </a:pPr>
            <a:r>
              <a:rPr lang="en-US" sz="1300" dirty="0" smtClean="0">
                <a:latin typeface="Perpetua"/>
              </a:rPr>
              <a:t>  </a:t>
            </a:r>
            <a:r>
              <a:rPr lang="en-US" sz="1600" dirty="0" smtClean="0">
                <a:latin typeface="Perpetua"/>
              </a:rPr>
              <a:t>Banks managing their risks using credit derivatives face lower losses and they do not suffer differently during the crisis period. </a:t>
            </a:r>
          </a:p>
          <a:p>
            <a:endParaRPr lang="en-US" sz="1300" dirty="0" smtClean="0">
              <a:latin typeface="Perpetua"/>
            </a:endParaRPr>
          </a:p>
        </p:txBody>
      </p:sp>
      <p:sp>
        <p:nvSpPr>
          <p:cNvPr id="6" name="TextBox 5"/>
          <p:cNvSpPr txBox="1"/>
          <p:nvPr/>
        </p:nvSpPr>
        <p:spPr>
          <a:xfrm>
            <a:off x="6553200" y="3962400"/>
            <a:ext cx="2590800" cy="784830"/>
          </a:xfrm>
          <a:prstGeom prst="rect">
            <a:avLst/>
          </a:prstGeom>
          <a:noFill/>
        </p:spPr>
        <p:txBody>
          <a:bodyPr wrap="square" rtlCol="0">
            <a:spAutoFit/>
          </a:bodyPr>
          <a:lstStyle/>
          <a:p>
            <a:pPr>
              <a:buFont typeface="Arial" pitchFamily="34" charset="0"/>
              <a:buChar char="•"/>
            </a:pPr>
            <a:r>
              <a:rPr lang="en-US" sz="1300" dirty="0" smtClean="0">
                <a:latin typeface="Perpetua"/>
              </a:rPr>
              <a:t>  </a:t>
            </a:r>
            <a:r>
              <a:rPr lang="en-US" sz="1600" dirty="0" smtClean="0">
                <a:latin typeface="Perpetua"/>
              </a:rPr>
              <a:t>On average banks cut their lending after the crisis.</a:t>
            </a:r>
          </a:p>
          <a:p>
            <a:endParaRPr lang="en-US" sz="1300" dirty="0" smtClean="0">
              <a:latin typeface="Perpetua"/>
            </a:endParaRPr>
          </a:p>
        </p:txBody>
      </p:sp>
      <p:sp>
        <p:nvSpPr>
          <p:cNvPr id="7" name="TextBox 6"/>
          <p:cNvSpPr txBox="1"/>
          <p:nvPr/>
        </p:nvSpPr>
        <p:spPr>
          <a:xfrm>
            <a:off x="6553200" y="4724400"/>
            <a:ext cx="2590800" cy="1277273"/>
          </a:xfrm>
          <a:prstGeom prst="rect">
            <a:avLst/>
          </a:prstGeom>
          <a:noFill/>
        </p:spPr>
        <p:txBody>
          <a:bodyPr wrap="square" rtlCol="0">
            <a:spAutoFit/>
          </a:bodyPr>
          <a:lstStyle/>
          <a:p>
            <a:pPr>
              <a:buFont typeface="Arial" pitchFamily="34" charset="0"/>
              <a:buChar char="•"/>
            </a:pPr>
            <a:r>
              <a:rPr lang="en-US" sz="1300" dirty="0" smtClean="0">
                <a:latin typeface="Perpetua"/>
              </a:rPr>
              <a:t>  </a:t>
            </a:r>
            <a:r>
              <a:rPr lang="en-US" sz="1600" dirty="0" smtClean="0">
                <a:latin typeface="Perpetua"/>
              </a:rPr>
              <a:t>Bank managing risk were cutting lending by less, consistent with such banks being less likely to face constraints.</a:t>
            </a:r>
          </a:p>
          <a:p>
            <a:endParaRPr lang="en-US" sz="1300" dirty="0" smtClean="0">
              <a:latin typeface="Perpetu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066800"/>
            <a:ext cx="7772400" cy="457200"/>
          </a:xfrm>
        </p:spPr>
        <p:txBody>
          <a:bodyPr/>
          <a:lstStyle/>
          <a:p>
            <a:r>
              <a:rPr lang="en-US" dirty="0" smtClean="0">
                <a:latin typeface="Perpetua" pitchFamily="18" charset="0"/>
              </a:rPr>
              <a:t>Conclusion</a:t>
            </a:r>
            <a:endParaRPr lang="nl-NL" dirty="0">
              <a:latin typeface="Perpetua" pitchFamily="18" charset="0"/>
            </a:endParaRPr>
          </a:p>
        </p:txBody>
      </p:sp>
      <p:sp>
        <p:nvSpPr>
          <p:cNvPr id="3" name="Content Placeholder 2"/>
          <p:cNvSpPr>
            <a:spLocks noGrp="1"/>
          </p:cNvSpPr>
          <p:nvPr>
            <p:ph idx="1"/>
          </p:nvPr>
        </p:nvSpPr>
        <p:spPr>
          <a:xfrm>
            <a:off x="685800" y="1600200"/>
            <a:ext cx="7772400" cy="5105400"/>
          </a:xfrm>
        </p:spPr>
        <p:txBody>
          <a:bodyPr/>
          <a:lstStyle/>
          <a:p>
            <a:pPr algn="just"/>
            <a:r>
              <a:rPr lang="en-US" dirty="0" smtClean="0">
                <a:latin typeface="Perpetua"/>
              </a:rPr>
              <a:t>We find that credit derivatives use at banks is associated with lower corporate loan spreads.</a:t>
            </a:r>
          </a:p>
          <a:p>
            <a:pPr algn="just"/>
            <a:r>
              <a:rPr lang="en-US" dirty="0" smtClean="0">
                <a:latin typeface="Perpetua"/>
              </a:rPr>
              <a:t>The relation exists for banks‘ gross credit derivatives position but not for their net position.</a:t>
            </a:r>
          </a:p>
          <a:p>
            <a:pPr algn="just"/>
            <a:r>
              <a:rPr lang="en-US" dirty="0" smtClean="0">
                <a:latin typeface="Perpetua"/>
              </a:rPr>
              <a:t>We argue that results are consistent with banks passing on risk management benefits from derivatives use to borrowers but not with other channels through which credit derivatives may influence loan pricing.</a:t>
            </a:r>
          </a:p>
          <a:p>
            <a:pPr algn="just"/>
            <a:r>
              <a:rPr lang="en-US" dirty="0" smtClean="0">
                <a:latin typeface="Perpetua"/>
              </a:rPr>
              <a:t>Risk management benefits are larger for firms more likely to be actively traded but are also present for firms unlikely to be traded.</a:t>
            </a:r>
          </a:p>
          <a:p>
            <a:pPr algn="just"/>
            <a:r>
              <a:rPr lang="en-US" dirty="0" smtClean="0">
                <a:latin typeface="Perpetua"/>
              </a:rPr>
              <a:t>Risk management benefits persist during the crisis.</a:t>
            </a:r>
          </a:p>
          <a:p>
            <a:pPr algn="just"/>
            <a:endParaRPr lang="en-US" dirty="0" smtClean="0">
              <a:latin typeface="Perpetua"/>
            </a:endParaRPr>
          </a:p>
          <a:p>
            <a:pPr algn="just"/>
            <a:r>
              <a:rPr lang="en-US" dirty="0" smtClean="0">
                <a:latin typeface="Perpetua"/>
              </a:rPr>
              <a:t>Bank-level analysis is also consistent with risk management benefits that persist in crises times: Banks actively using credit derivatives generally have lower charge-offs and face smaller contractions in lending during the crisis.</a:t>
            </a:r>
          </a:p>
          <a:p>
            <a:pPr>
              <a:buNone/>
            </a:pPr>
            <a:endParaRPr lang="en-US"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T-UK-A4-landscape">
  <a:themeElements>
    <a:clrScheme name="Default Design 8">
      <a:dk1>
        <a:srgbClr val="000000"/>
      </a:dk1>
      <a:lt1>
        <a:srgbClr val="FFFFFF"/>
      </a:lt1>
      <a:dk2>
        <a:srgbClr val="000000"/>
      </a:dk2>
      <a:lt2>
        <a:srgbClr val="808080"/>
      </a:lt2>
      <a:accent1>
        <a:srgbClr val="CC9933"/>
      </a:accent1>
      <a:accent2>
        <a:srgbClr val="032C54"/>
      </a:accent2>
      <a:accent3>
        <a:srgbClr val="FFFFFF"/>
      </a:accent3>
      <a:accent4>
        <a:srgbClr val="000000"/>
      </a:accent4>
      <a:accent5>
        <a:srgbClr val="E2CAAD"/>
      </a:accent5>
      <a:accent6>
        <a:srgbClr val="02274B"/>
      </a:accent6>
      <a:hlink>
        <a:srgbClr val="004168"/>
      </a:hlink>
      <a:folHlink>
        <a:srgbClr val="C0C0C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CC9933"/>
        </a:accent1>
        <a:accent2>
          <a:srgbClr val="032C54"/>
        </a:accent2>
        <a:accent3>
          <a:srgbClr val="FFFFFF"/>
        </a:accent3>
        <a:accent4>
          <a:srgbClr val="000000"/>
        </a:accent4>
        <a:accent5>
          <a:srgbClr val="E2CAAD"/>
        </a:accent5>
        <a:accent6>
          <a:srgbClr val="02274B"/>
        </a:accent6>
        <a:hlink>
          <a:srgbClr val="004168"/>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_UvT-UK-A4-landscape</Template>
  <TotalTime>2773</TotalTime>
  <Words>2135</Words>
  <Application>Microsoft Office PowerPoint</Application>
  <PresentationFormat>On-screen Show (4:3)</PresentationFormat>
  <Paragraphs>191</Paragraphs>
  <Slides>20</Slides>
  <Notes>10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UvT-UK-A4-landscape</vt:lpstr>
      <vt:lpstr>How does financial innovation affect bank behavior? Evidence from credit markets</vt:lpstr>
      <vt:lpstr>Motivation</vt:lpstr>
      <vt:lpstr>Effects may depend on economic conditions:</vt:lpstr>
      <vt:lpstr>This paper</vt:lpstr>
      <vt:lpstr>Channels:  Financial innovations and loan pricing</vt:lpstr>
      <vt:lpstr>Financial Innovation and Spreads Prior to the Crisis</vt:lpstr>
      <vt:lpstr>Our approach to identify the channel</vt:lpstr>
      <vt:lpstr>Predictions of the effect of CDS channels on spreads</vt:lpstr>
      <vt:lpstr>Data</vt:lpstr>
      <vt:lpstr>Data (II)</vt:lpstr>
      <vt:lpstr>CDS and spreads: A look at the sample means…</vt:lpstr>
      <vt:lpstr>CDS and spreads: Baseline regressions</vt:lpstr>
      <vt:lpstr>Identification of risk management effect</vt:lpstr>
      <vt:lpstr>Identification</vt:lpstr>
      <vt:lpstr>Risk management benefits and borrower types</vt:lpstr>
      <vt:lpstr>CDS and spreads during the crisis</vt:lpstr>
      <vt:lpstr>How do risk-management banks compare to others?</vt:lpstr>
      <vt:lpstr>Bank-level analysis</vt:lpstr>
      <vt:lpstr>CDS and Banks performance</vt:lpstr>
      <vt:lpstr>Conclusion</vt:lpstr>
    </vt:vector>
  </TitlesOfParts>
  <Company>Tilburg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Risk Transfer and Loan Pricing</dc:title>
  <dc:creator>U0775065</dc:creator>
  <cp:lastModifiedBy>Wolf2</cp:lastModifiedBy>
  <cp:revision>209</cp:revision>
  <dcterms:created xsi:type="dcterms:W3CDTF">2011-03-09T06:37:31Z</dcterms:created>
  <dcterms:modified xsi:type="dcterms:W3CDTF">2012-01-10T21:23:31Z</dcterms:modified>
</cp:coreProperties>
</file>