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51206400" cy="32918400"/>
  <p:notesSz cx="6858000" cy="9144000"/>
  <p:defaultTextStyle>
    <a:defPPr>
      <a:defRPr lang="en-US"/>
    </a:defPPr>
    <a:lvl1pPr marL="0" algn="l" defTabSz="4807092" rtl="0" eaLnBrk="1" latinLnBrk="0" hangingPunct="1">
      <a:defRPr sz="9500" kern="1200">
        <a:solidFill>
          <a:schemeClr val="tx1"/>
        </a:solidFill>
        <a:latin typeface="+mn-lt"/>
        <a:ea typeface="+mn-ea"/>
        <a:cs typeface="+mn-cs"/>
      </a:defRPr>
    </a:lvl1pPr>
    <a:lvl2pPr marL="2403546" algn="l" defTabSz="4807092" rtl="0" eaLnBrk="1" latinLnBrk="0" hangingPunct="1">
      <a:defRPr sz="9500" kern="1200">
        <a:solidFill>
          <a:schemeClr val="tx1"/>
        </a:solidFill>
        <a:latin typeface="+mn-lt"/>
        <a:ea typeface="+mn-ea"/>
        <a:cs typeface="+mn-cs"/>
      </a:defRPr>
    </a:lvl2pPr>
    <a:lvl3pPr marL="4807092" algn="l" defTabSz="4807092" rtl="0" eaLnBrk="1" latinLnBrk="0" hangingPunct="1">
      <a:defRPr sz="9500" kern="1200">
        <a:solidFill>
          <a:schemeClr val="tx1"/>
        </a:solidFill>
        <a:latin typeface="+mn-lt"/>
        <a:ea typeface="+mn-ea"/>
        <a:cs typeface="+mn-cs"/>
      </a:defRPr>
    </a:lvl3pPr>
    <a:lvl4pPr marL="7210638" algn="l" defTabSz="4807092" rtl="0" eaLnBrk="1" latinLnBrk="0" hangingPunct="1">
      <a:defRPr sz="9500" kern="1200">
        <a:solidFill>
          <a:schemeClr val="tx1"/>
        </a:solidFill>
        <a:latin typeface="+mn-lt"/>
        <a:ea typeface="+mn-ea"/>
        <a:cs typeface="+mn-cs"/>
      </a:defRPr>
    </a:lvl4pPr>
    <a:lvl5pPr marL="9614184" algn="l" defTabSz="4807092" rtl="0" eaLnBrk="1" latinLnBrk="0" hangingPunct="1">
      <a:defRPr sz="9500" kern="1200">
        <a:solidFill>
          <a:schemeClr val="tx1"/>
        </a:solidFill>
        <a:latin typeface="+mn-lt"/>
        <a:ea typeface="+mn-ea"/>
        <a:cs typeface="+mn-cs"/>
      </a:defRPr>
    </a:lvl5pPr>
    <a:lvl6pPr marL="12017731" algn="l" defTabSz="4807092" rtl="0" eaLnBrk="1" latinLnBrk="0" hangingPunct="1">
      <a:defRPr sz="9500" kern="1200">
        <a:solidFill>
          <a:schemeClr val="tx1"/>
        </a:solidFill>
        <a:latin typeface="+mn-lt"/>
        <a:ea typeface="+mn-ea"/>
        <a:cs typeface="+mn-cs"/>
      </a:defRPr>
    </a:lvl6pPr>
    <a:lvl7pPr marL="14421277" algn="l" defTabSz="4807092" rtl="0" eaLnBrk="1" latinLnBrk="0" hangingPunct="1">
      <a:defRPr sz="9500" kern="1200">
        <a:solidFill>
          <a:schemeClr val="tx1"/>
        </a:solidFill>
        <a:latin typeface="+mn-lt"/>
        <a:ea typeface="+mn-ea"/>
        <a:cs typeface="+mn-cs"/>
      </a:defRPr>
    </a:lvl7pPr>
    <a:lvl8pPr marL="16824823" algn="l" defTabSz="4807092" rtl="0" eaLnBrk="1" latinLnBrk="0" hangingPunct="1">
      <a:defRPr sz="9500" kern="1200">
        <a:solidFill>
          <a:schemeClr val="tx1"/>
        </a:solidFill>
        <a:latin typeface="+mn-lt"/>
        <a:ea typeface="+mn-ea"/>
        <a:cs typeface="+mn-cs"/>
      </a:defRPr>
    </a:lvl8pPr>
    <a:lvl9pPr marL="19228369" algn="l" defTabSz="4807092" rtl="0" eaLnBrk="1" latinLnBrk="0" hangingPunct="1">
      <a:defRPr sz="95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9999FF"/>
    <a:srgbClr val="336699"/>
    <a:srgbClr val="CCCCFF"/>
    <a:srgbClr val="6699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p:cViewPr>
        <p:scale>
          <a:sx n="35" d="100"/>
          <a:sy n="35" d="100"/>
        </p:scale>
        <p:origin x="4722" y="1380"/>
      </p:cViewPr>
      <p:guideLst>
        <p:guide orient="horz" pos="10368"/>
        <p:guide pos="16128"/>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2363368" y="6583680"/>
            <a:ext cx="46085760" cy="8778240"/>
          </a:xfrm>
        </p:spPr>
        <p:txBody>
          <a:bodyPr vert="horz" lIns="240355" tIns="0" rIns="240355" bIns="0" anchor="b">
            <a:normAutofit/>
            <a:scene3d>
              <a:camera prst="orthographicFront"/>
              <a:lightRig rig="soft" dir="t">
                <a:rot lat="0" lon="0" rev="17220000"/>
              </a:lightRig>
            </a:scene3d>
            <a:sp3d prstMaterial="softEdge">
              <a:bevelT w="38100" h="38100"/>
            </a:sp3d>
          </a:bodyPr>
          <a:lstStyle>
            <a:lvl1pPr>
              <a:defRPr sz="252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5BBE6460-302B-4DB0-9AAD-A4A2652CC25C}" type="datetimeFigureOut">
              <a:rPr lang="en-US" smtClean="0"/>
              <a:pPr/>
              <a:t>2/28/2009</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0F17D788-6C02-4D45-9B3D-D102477D429F}" type="slidenum">
              <a:rPr lang="en-US" smtClean="0"/>
              <a:pPr/>
              <a:t>‹#›</a:t>
            </a:fld>
            <a:endParaRPr lang="en-US"/>
          </a:p>
        </p:txBody>
      </p:sp>
      <p:sp>
        <p:nvSpPr>
          <p:cNvPr id="9" name="Subtitle 8"/>
          <p:cNvSpPr>
            <a:spLocks noGrp="1"/>
          </p:cNvSpPr>
          <p:nvPr>
            <p:ph type="subTitle" idx="1"/>
          </p:nvPr>
        </p:nvSpPr>
        <p:spPr>
          <a:xfrm>
            <a:off x="7680960" y="15992150"/>
            <a:ext cx="35844480" cy="8412480"/>
          </a:xfrm>
        </p:spPr>
        <p:txBody>
          <a:bodyPr/>
          <a:lstStyle>
            <a:lvl1pPr marL="0" indent="0" algn="ctr">
              <a:buNone/>
              <a:defRPr>
                <a:solidFill>
                  <a:schemeClr val="tx1"/>
                </a:solidFill>
              </a:defRPr>
            </a:lvl1pPr>
            <a:lvl2pPr marL="2403546" indent="0" algn="ctr">
              <a:buNone/>
            </a:lvl2pPr>
            <a:lvl3pPr marL="4807092" indent="0" algn="ctr">
              <a:buNone/>
            </a:lvl3pPr>
            <a:lvl4pPr marL="7210638" indent="0" algn="ctr">
              <a:buNone/>
            </a:lvl4pPr>
            <a:lvl5pPr marL="9614184" indent="0" algn="ctr">
              <a:buNone/>
            </a:lvl5pPr>
            <a:lvl6pPr marL="12017731" indent="0" algn="ctr">
              <a:buNone/>
            </a:lvl6pPr>
            <a:lvl7pPr marL="14421277" indent="0" algn="ctr">
              <a:buNone/>
            </a:lvl7pPr>
            <a:lvl8pPr marL="16824823" indent="0" algn="ctr">
              <a:buNone/>
            </a:lvl8pPr>
            <a:lvl9pPr marL="19228369"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BE6460-302B-4DB0-9AAD-A4A2652CC25C}" type="datetimeFigureOut">
              <a:rPr lang="en-US" smtClean="0"/>
              <a:pPr/>
              <a:t>2/28/2009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961120" y="2926080"/>
            <a:ext cx="39684960" cy="877824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252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8961120" y="12037373"/>
            <a:ext cx="39684960" cy="7246618"/>
          </a:xfrm>
        </p:spPr>
        <p:txBody>
          <a:bodyPr anchor="t"/>
          <a:lstStyle>
            <a:lvl1pPr marL="384567" indent="0" algn="l">
              <a:buNone/>
              <a:defRPr sz="10500">
                <a:solidFill>
                  <a:schemeClr val="tx1"/>
                </a:solidFill>
              </a:defRPr>
            </a:lvl1pPr>
            <a:lvl2pPr>
              <a:buNone/>
              <a:defRPr sz="9500">
                <a:solidFill>
                  <a:schemeClr val="tx1">
                    <a:tint val="75000"/>
                  </a:schemeClr>
                </a:solidFill>
              </a:defRPr>
            </a:lvl2pPr>
            <a:lvl3pPr>
              <a:buNone/>
              <a:defRPr sz="8400">
                <a:solidFill>
                  <a:schemeClr val="tx1">
                    <a:tint val="75000"/>
                  </a:schemeClr>
                </a:solidFill>
              </a:defRPr>
            </a:lvl3pPr>
            <a:lvl4pPr>
              <a:buNone/>
              <a:defRPr sz="7400">
                <a:solidFill>
                  <a:schemeClr val="tx1">
                    <a:tint val="75000"/>
                  </a:schemeClr>
                </a:solidFill>
              </a:defRPr>
            </a:lvl4pPr>
            <a:lvl5pPr>
              <a:buNone/>
              <a:defRPr sz="7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BE6460-302B-4DB0-9AAD-A4A2652CC25C}" type="datetimeFigureOut">
              <a:rPr lang="en-US" smtClean="0"/>
              <a:pPr/>
              <a:t>2/28/2009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4378880" y="30800042"/>
            <a:ext cx="4267200" cy="1752600"/>
          </a:xfrm>
        </p:spPr>
        <p:txBody>
          <a:bodyPr/>
          <a:lstStyle/>
          <a:p>
            <a:fld id="{0F17D788-6C02-4D45-9B3D-D102477D429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2560320" y="7680963"/>
            <a:ext cx="22616160" cy="21724622"/>
          </a:xfrm>
        </p:spPr>
        <p:txBody>
          <a:bodyPr/>
          <a:lstStyle>
            <a:lvl1pPr>
              <a:defRPr sz="13700"/>
            </a:lvl1pPr>
            <a:lvl2pPr>
              <a:defRPr sz="12600"/>
            </a:lvl2pPr>
            <a:lvl3pPr>
              <a:defRPr sz="10500"/>
            </a:lvl3pPr>
            <a:lvl4pPr>
              <a:defRPr sz="9500"/>
            </a:lvl4pPr>
            <a:lvl5pPr>
              <a:defRPr sz="95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26029920" y="7680963"/>
            <a:ext cx="22616160" cy="21724622"/>
          </a:xfrm>
        </p:spPr>
        <p:txBody>
          <a:bodyPr/>
          <a:lstStyle>
            <a:lvl1pPr>
              <a:defRPr sz="13700"/>
            </a:lvl1pPr>
            <a:lvl2pPr>
              <a:defRPr sz="12600"/>
            </a:lvl2pPr>
            <a:lvl3pPr>
              <a:defRPr sz="10500"/>
            </a:lvl3pPr>
            <a:lvl4pPr>
              <a:defRPr sz="9500"/>
            </a:lvl4pPr>
            <a:lvl5pPr>
              <a:defRPr sz="95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BE6460-302B-4DB0-9AAD-A4A2652CC25C}" type="datetimeFigureOut">
              <a:rPr lang="en-US" smtClean="0"/>
              <a:pPr/>
              <a:t>2/28/2009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60320" y="1310640"/>
            <a:ext cx="46085760" cy="5486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560320" y="7368540"/>
            <a:ext cx="22625053" cy="3604258"/>
          </a:xfrm>
        </p:spPr>
        <p:txBody>
          <a:bodyPr anchor="ctr"/>
          <a:lstStyle>
            <a:lvl1pPr marL="0" indent="0">
              <a:buNone/>
              <a:defRPr sz="12600" b="0" cap="all" baseline="0">
                <a:solidFill>
                  <a:schemeClr val="tx1"/>
                </a:solidFill>
              </a:defRPr>
            </a:lvl1pPr>
            <a:lvl2pPr>
              <a:buNone/>
              <a:defRPr sz="10500" b="1"/>
            </a:lvl2pPr>
            <a:lvl3pPr>
              <a:buNone/>
              <a:defRPr sz="9500" b="1"/>
            </a:lvl3pPr>
            <a:lvl4pPr>
              <a:buNone/>
              <a:defRPr sz="8400" b="1"/>
            </a:lvl4pPr>
            <a:lvl5pPr>
              <a:buNone/>
              <a:defRPr sz="84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26012143" y="7368540"/>
            <a:ext cx="22633940" cy="3604258"/>
          </a:xfrm>
        </p:spPr>
        <p:txBody>
          <a:bodyPr anchor="ctr"/>
          <a:lstStyle>
            <a:lvl1pPr marL="0" indent="0">
              <a:buNone/>
              <a:defRPr sz="12600" b="0" cap="all" baseline="0">
                <a:solidFill>
                  <a:schemeClr val="tx1"/>
                </a:solidFill>
              </a:defRPr>
            </a:lvl1pPr>
            <a:lvl2pPr>
              <a:buNone/>
              <a:defRPr sz="10500" b="1"/>
            </a:lvl2pPr>
            <a:lvl3pPr>
              <a:buNone/>
              <a:defRPr sz="9500" b="1"/>
            </a:lvl3pPr>
            <a:lvl4pPr>
              <a:buNone/>
              <a:defRPr sz="8400" b="1"/>
            </a:lvl4pPr>
            <a:lvl5pPr>
              <a:buNone/>
              <a:defRPr sz="84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2560320" y="11338563"/>
            <a:ext cx="22625053" cy="18067022"/>
          </a:xfrm>
        </p:spPr>
        <p:txBody>
          <a:bodyPr/>
          <a:lstStyle>
            <a:lvl1pPr>
              <a:defRPr sz="12600"/>
            </a:lvl1pPr>
            <a:lvl2pPr>
              <a:defRPr sz="10500"/>
            </a:lvl2pPr>
            <a:lvl3pPr>
              <a:defRPr sz="9500"/>
            </a:lvl3pPr>
            <a:lvl4pPr>
              <a:defRPr sz="8400"/>
            </a:lvl4pPr>
            <a:lvl5pPr>
              <a:defRPr sz="84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26012143" y="11338563"/>
            <a:ext cx="22633940" cy="18067022"/>
          </a:xfrm>
        </p:spPr>
        <p:txBody>
          <a:bodyPr/>
          <a:lstStyle>
            <a:lvl1pPr>
              <a:defRPr sz="12600"/>
            </a:lvl1pPr>
            <a:lvl2pPr>
              <a:defRPr sz="10500"/>
            </a:lvl2pPr>
            <a:lvl3pPr>
              <a:defRPr sz="9500"/>
            </a:lvl3pPr>
            <a:lvl4pPr>
              <a:defRPr sz="8400"/>
            </a:lvl4pPr>
            <a:lvl5pPr>
              <a:defRPr sz="84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BE6460-302B-4DB0-9AAD-A4A2652CC25C}" type="datetimeFigureOut">
              <a:rPr lang="en-US" smtClean="0"/>
              <a:pPr/>
              <a:t>2/28/2009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BE6460-302B-4DB0-9AAD-A4A2652CC25C}" type="datetimeFigureOut">
              <a:rPr lang="en-US" smtClean="0"/>
              <a:pPr/>
              <a:t>2/28/2009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6460-302B-4DB0-9AAD-A4A2652CC25C}" type="datetimeFigureOut">
              <a:rPr lang="en-US" smtClean="0"/>
              <a:pPr/>
              <a:t>2/28/2009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3" y="1310640"/>
            <a:ext cx="16846553" cy="5577840"/>
          </a:xfrm>
        </p:spPr>
        <p:txBody>
          <a:bodyPr vert="horz" anchor="b">
            <a:normAutofit/>
            <a:sp3d prstMaterial="softEdge"/>
          </a:bodyPr>
          <a:lstStyle>
            <a:lvl1pPr algn="l">
              <a:buNone/>
              <a:defRPr sz="116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2560323" y="7315203"/>
            <a:ext cx="16846553" cy="22090382"/>
          </a:xfrm>
        </p:spPr>
        <p:txBody>
          <a:bodyPr/>
          <a:lstStyle>
            <a:lvl1pPr marL="0" indent="0">
              <a:buNone/>
              <a:defRPr sz="7400"/>
            </a:lvl1pPr>
            <a:lvl2pPr>
              <a:buNone/>
              <a:defRPr sz="6300"/>
            </a:lvl2pPr>
            <a:lvl3pPr>
              <a:buNone/>
              <a:defRPr sz="5300"/>
            </a:lvl3pPr>
            <a:lvl4pPr>
              <a:buNone/>
              <a:defRPr sz="4700"/>
            </a:lvl4pPr>
            <a:lvl5pPr>
              <a:buNone/>
              <a:defRPr sz="47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20020280" y="1310643"/>
            <a:ext cx="28625800" cy="28094942"/>
          </a:xfrm>
        </p:spPr>
        <p:txBody>
          <a:bodyPr/>
          <a:lstStyle>
            <a:lvl1pPr>
              <a:defRPr sz="13700"/>
            </a:lvl1pPr>
            <a:lvl2pPr>
              <a:defRPr sz="12600"/>
            </a:lvl2pPr>
            <a:lvl3pPr>
              <a:defRPr sz="11600"/>
            </a:lvl3pPr>
            <a:lvl4pPr>
              <a:defRPr sz="10500"/>
            </a:lvl4pPr>
            <a:lvl5pPr>
              <a:defRPr sz="95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BE6460-302B-4DB0-9AAD-A4A2652CC25C}" type="datetimeFigureOut">
              <a:rPr lang="en-US" smtClean="0"/>
              <a:pPr/>
              <a:t>2/28/2009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241280" y="2926080"/>
            <a:ext cx="30723840" cy="2506982"/>
          </a:xfrm>
        </p:spPr>
        <p:txBody>
          <a:bodyPr lIns="240355" rIns="240355" bIns="0" anchor="b">
            <a:sp3d prstMaterial="softEdge"/>
          </a:bodyPr>
          <a:lstStyle>
            <a:lvl1pPr algn="ctr">
              <a:buNone/>
              <a:defRPr sz="105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241280" y="8793480"/>
            <a:ext cx="30723840" cy="1901952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168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0241280" y="5600577"/>
            <a:ext cx="30723840" cy="2545690"/>
          </a:xfrm>
        </p:spPr>
        <p:txBody>
          <a:bodyPr lIns="240355" tIns="240355" rIns="240355" anchor="t"/>
          <a:lstStyle>
            <a:lvl1pPr marL="0" indent="0" algn="ctr">
              <a:buNone/>
              <a:defRPr sz="7400"/>
            </a:lvl1pPr>
            <a:lvl2pPr>
              <a:defRPr sz="6300"/>
            </a:lvl2pPr>
            <a:lvl3pPr>
              <a:defRPr sz="5300"/>
            </a:lvl3pPr>
            <a:lvl4pPr>
              <a:defRPr sz="4700"/>
            </a:lvl4pPr>
            <a:lvl5pPr>
              <a:defRPr sz="47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BE6460-302B-4DB0-9AAD-A4A2652CC25C}" type="datetimeFigureOut">
              <a:rPr lang="en-US" smtClean="0"/>
              <a:pPr/>
              <a:t>2/28/2009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BE6460-302B-4DB0-9AAD-A4A2652CC25C}" type="datetimeFigureOut">
              <a:rPr lang="en-US" smtClean="0"/>
              <a:pPr/>
              <a:t>2/28/2009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124640" y="1318265"/>
            <a:ext cx="11521440" cy="2808732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2560320" y="1318265"/>
            <a:ext cx="33710880" cy="2808732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BE6460-302B-4DB0-9AAD-A4A2652CC25C}" type="datetimeFigureOut">
              <a:rPr lang="en-US" smtClean="0"/>
              <a:pPr/>
              <a:t>2/28/2009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17D788-6C02-4D45-9B3D-D102477D42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2560320" y="1318262"/>
            <a:ext cx="46085760" cy="5486400"/>
          </a:xfrm>
          <a:prstGeom prst="rect">
            <a:avLst/>
          </a:prstGeom>
        </p:spPr>
        <p:txBody>
          <a:bodyPr vert="horz" lIns="480709" tIns="240355" rIns="480709" bIns="240355"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2560320" y="7680960"/>
            <a:ext cx="46085760" cy="22603968"/>
          </a:xfrm>
          <a:prstGeom prst="rect">
            <a:avLst/>
          </a:prstGeom>
        </p:spPr>
        <p:txBody>
          <a:bodyPr vert="horz" lIns="480709" tIns="240355" rIns="480709" bIns="240355">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2560320" y="30800042"/>
            <a:ext cx="11948160" cy="1752600"/>
          </a:xfrm>
          <a:prstGeom prst="rect">
            <a:avLst/>
          </a:prstGeom>
        </p:spPr>
        <p:txBody>
          <a:bodyPr vert="horz" lIns="480709" tIns="240355" rIns="480709" bIns="240355" anchor="b"/>
          <a:lstStyle>
            <a:lvl1pPr algn="l" eaLnBrk="1" latinLnBrk="0" hangingPunct="1">
              <a:defRPr kumimoji="0" sz="6300">
                <a:solidFill>
                  <a:schemeClr val="tx1">
                    <a:shade val="50000"/>
                  </a:schemeClr>
                </a:solidFill>
              </a:defRPr>
            </a:lvl1pPr>
          </a:lstStyle>
          <a:p>
            <a:fld id="{5BBE6460-302B-4DB0-9AAD-A4A2652CC25C}" type="datetimeFigureOut">
              <a:rPr lang="en-US" smtClean="0"/>
              <a:pPr/>
              <a:t>2/28/2009</a:t>
            </a:fld>
            <a:endParaRPr lang="en-US"/>
          </a:p>
        </p:txBody>
      </p:sp>
      <p:sp>
        <p:nvSpPr>
          <p:cNvPr id="3" name="Footer Placeholder 2"/>
          <p:cNvSpPr>
            <a:spLocks noGrp="1"/>
          </p:cNvSpPr>
          <p:nvPr>
            <p:ph type="ftr" sz="quarter" idx="3"/>
          </p:nvPr>
        </p:nvSpPr>
        <p:spPr>
          <a:xfrm>
            <a:off x="17495520" y="30800042"/>
            <a:ext cx="16215360" cy="1752600"/>
          </a:xfrm>
          <a:prstGeom prst="rect">
            <a:avLst/>
          </a:prstGeom>
        </p:spPr>
        <p:txBody>
          <a:bodyPr vert="horz" lIns="480709" tIns="240355" rIns="480709" bIns="240355" anchor="b"/>
          <a:lstStyle>
            <a:lvl1pPr algn="ctr" eaLnBrk="1" latinLnBrk="0" hangingPunct="1">
              <a:defRPr kumimoji="0" sz="63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44378880" y="30800042"/>
            <a:ext cx="4267200" cy="1752600"/>
          </a:xfrm>
          <a:prstGeom prst="rect">
            <a:avLst/>
          </a:prstGeom>
        </p:spPr>
        <p:txBody>
          <a:bodyPr vert="horz" lIns="0" tIns="240355" rIns="0" bIns="240355" anchor="b"/>
          <a:lstStyle>
            <a:lvl1pPr algn="r" eaLnBrk="1" latinLnBrk="0" hangingPunct="1">
              <a:defRPr kumimoji="0" sz="6300">
                <a:solidFill>
                  <a:schemeClr val="tx1">
                    <a:shade val="50000"/>
                  </a:schemeClr>
                </a:solidFill>
              </a:defRPr>
            </a:lvl1pPr>
          </a:lstStyle>
          <a:p>
            <a:fld id="{0F17D788-6C02-4D45-9B3D-D102477D429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1" latinLnBrk="0" hangingPunct="1">
        <a:spcBef>
          <a:spcPct val="0"/>
        </a:spcBef>
        <a:buNone/>
        <a:defRPr kumimoji="0" sz="216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2884255" indent="-2163192" algn="l" rtl="0" eaLnBrk="1" latinLnBrk="0" hangingPunct="1">
        <a:spcBef>
          <a:spcPct val="20000"/>
        </a:spcBef>
        <a:buClr>
          <a:schemeClr val="tx1">
            <a:shade val="95000"/>
          </a:schemeClr>
        </a:buClr>
        <a:buSzPct val="65000"/>
        <a:buFont typeface="Wingdings 2"/>
        <a:buChar char=""/>
        <a:defRPr kumimoji="0" sz="14700" kern="1200">
          <a:solidFill>
            <a:schemeClr val="tx1"/>
          </a:solidFill>
          <a:latin typeface="+mn-lt"/>
          <a:ea typeface="+mn-ea"/>
          <a:cs typeface="+mn-cs"/>
        </a:defRPr>
      </a:lvl1pPr>
      <a:lvl2pPr marL="4566738" indent="-1490199" algn="l" rtl="0" eaLnBrk="1" latinLnBrk="0" hangingPunct="1">
        <a:spcBef>
          <a:spcPct val="20000"/>
        </a:spcBef>
        <a:buClr>
          <a:schemeClr val="tx1"/>
        </a:buClr>
        <a:buSzPct val="80000"/>
        <a:buFont typeface="Wingdings 2"/>
        <a:buChar char=""/>
        <a:defRPr kumimoji="0" sz="12600" kern="1200">
          <a:solidFill>
            <a:schemeClr val="tx1"/>
          </a:solidFill>
          <a:latin typeface="+mn-lt"/>
          <a:ea typeface="+mn-ea"/>
          <a:cs typeface="+mn-cs"/>
        </a:defRPr>
      </a:lvl2pPr>
      <a:lvl3pPr marL="5960794" indent="-1201773" algn="l" rtl="0" eaLnBrk="1" latinLnBrk="0" hangingPunct="1">
        <a:spcBef>
          <a:spcPct val="20000"/>
        </a:spcBef>
        <a:buClr>
          <a:schemeClr val="tx1"/>
        </a:buClr>
        <a:buSzPct val="95000"/>
        <a:buFont typeface="Wingdings"/>
        <a:buChar char=""/>
        <a:defRPr kumimoji="0" sz="11600" kern="1200">
          <a:solidFill>
            <a:schemeClr val="tx1"/>
          </a:solidFill>
          <a:latin typeface="+mn-lt"/>
          <a:ea typeface="+mn-ea"/>
          <a:cs typeface="+mn-cs"/>
        </a:defRPr>
      </a:lvl3pPr>
      <a:lvl4pPr marL="7114497" indent="-961418" algn="l" rtl="0" eaLnBrk="1" latinLnBrk="0" hangingPunct="1">
        <a:spcBef>
          <a:spcPct val="20000"/>
        </a:spcBef>
        <a:buClr>
          <a:schemeClr val="tx1"/>
        </a:buClr>
        <a:buSzPct val="100000"/>
        <a:buFont typeface="Wingdings 3"/>
        <a:buChar char=""/>
        <a:defRPr kumimoji="0" sz="10500" kern="1200">
          <a:solidFill>
            <a:schemeClr val="tx1"/>
          </a:solidFill>
          <a:latin typeface="+mn-lt"/>
          <a:ea typeface="+mn-ea"/>
          <a:cs typeface="+mn-cs"/>
        </a:defRPr>
      </a:lvl4pPr>
      <a:lvl5pPr marL="8123986" indent="-961418" algn="l" rtl="0" eaLnBrk="1" latinLnBrk="0" hangingPunct="1">
        <a:spcBef>
          <a:spcPct val="20000"/>
        </a:spcBef>
        <a:buClr>
          <a:schemeClr val="tx1"/>
        </a:buClr>
        <a:buFont typeface="Wingdings 2"/>
        <a:buChar char=""/>
        <a:defRPr kumimoji="0" sz="10500" kern="1200">
          <a:solidFill>
            <a:schemeClr val="tx1"/>
          </a:solidFill>
          <a:latin typeface="+mn-lt"/>
          <a:ea typeface="+mn-ea"/>
          <a:cs typeface="+mn-cs"/>
        </a:defRPr>
      </a:lvl5pPr>
      <a:lvl6pPr marL="9277688" indent="-961418" algn="l" rtl="0" eaLnBrk="1" latinLnBrk="0" hangingPunct="1">
        <a:spcBef>
          <a:spcPct val="20000"/>
        </a:spcBef>
        <a:buClr>
          <a:schemeClr val="tx1"/>
        </a:buClr>
        <a:buFont typeface="Wingdings 3"/>
        <a:buChar char=""/>
        <a:defRPr kumimoji="0" sz="9500" kern="1200">
          <a:solidFill>
            <a:schemeClr val="tx1"/>
          </a:solidFill>
          <a:latin typeface="+mn-lt"/>
          <a:ea typeface="+mn-ea"/>
          <a:cs typeface="+mn-cs"/>
        </a:defRPr>
      </a:lvl6pPr>
      <a:lvl7pPr marL="10335248" indent="-961418" algn="l" rtl="0" eaLnBrk="1" latinLnBrk="0" hangingPunct="1">
        <a:spcBef>
          <a:spcPct val="20000"/>
        </a:spcBef>
        <a:buClr>
          <a:schemeClr val="tx1"/>
        </a:buClr>
        <a:buFont typeface="Wingdings 2"/>
        <a:buChar char=""/>
        <a:defRPr kumimoji="0" sz="8400" kern="1200">
          <a:solidFill>
            <a:schemeClr val="tx1"/>
          </a:solidFill>
          <a:latin typeface="+mn-lt"/>
          <a:ea typeface="+mn-ea"/>
          <a:cs typeface="+mn-cs"/>
        </a:defRPr>
      </a:lvl7pPr>
      <a:lvl8pPr marL="11392809" indent="-961418" algn="l" rtl="0" eaLnBrk="1" latinLnBrk="0" hangingPunct="1">
        <a:spcBef>
          <a:spcPct val="20000"/>
        </a:spcBef>
        <a:buClr>
          <a:schemeClr val="tx1"/>
        </a:buClr>
        <a:buFont typeface="Wingdings 2"/>
        <a:buChar char=""/>
        <a:defRPr kumimoji="0" sz="7400" kern="1200">
          <a:solidFill>
            <a:schemeClr val="tx1"/>
          </a:solidFill>
          <a:latin typeface="+mn-lt"/>
          <a:ea typeface="+mn-ea"/>
          <a:cs typeface="+mn-cs"/>
        </a:defRPr>
      </a:lvl8pPr>
      <a:lvl9pPr marL="12450369" indent="-961418" algn="l" rtl="0" eaLnBrk="1" latinLnBrk="0" hangingPunct="1">
        <a:spcBef>
          <a:spcPct val="20000"/>
        </a:spcBef>
        <a:buClr>
          <a:schemeClr val="tx1"/>
        </a:buClr>
        <a:buFont typeface="Wingdings 2"/>
        <a:buChar char=""/>
        <a:defRPr kumimoji="0" sz="7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403546" algn="l" rtl="0" eaLnBrk="1" latinLnBrk="0" hangingPunct="1">
        <a:defRPr kumimoji="0" kern="1200">
          <a:solidFill>
            <a:schemeClr val="tx1"/>
          </a:solidFill>
          <a:latin typeface="+mn-lt"/>
          <a:ea typeface="+mn-ea"/>
          <a:cs typeface="+mn-cs"/>
        </a:defRPr>
      </a:lvl2pPr>
      <a:lvl3pPr marL="4807092" algn="l" rtl="0" eaLnBrk="1" latinLnBrk="0" hangingPunct="1">
        <a:defRPr kumimoji="0" kern="1200">
          <a:solidFill>
            <a:schemeClr val="tx1"/>
          </a:solidFill>
          <a:latin typeface="+mn-lt"/>
          <a:ea typeface="+mn-ea"/>
          <a:cs typeface="+mn-cs"/>
        </a:defRPr>
      </a:lvl3pPr>
      <a:lvl4pPr marL="7210638" algn="l" rtl="0" eaLnBrk="1" latinLnBrk="0" hangingPunct="1">
        <a:defRPr kumimoji="0" kern="1200">
          <a:solidFill>
            <a:schemeClr val="tx1"/>
          </a:solidFill>
          <a:latin typeface="+mn-lt"/>
          <a:ea typeface="+mn-ea"/>
          <a:cs typeface="+mn-cs"/>
        </a:defRPr>
      </a:lvl4pPr>
      <a:lvl5pPr marL="9614184" algn="l" rtl="0" eaLnBrk="1" latinLnBrk="0" hangingPunct="1">
        <a:defRPr kumimoji="0" kern="1200">
          <a:solidFill>
            <a:schemeClr val="tx1"/>
          </a:solidFill>
          <a:latin typeface="+mn-lt"/>
          <a:ea typeface="+mn-ea"/>
          <a:cs typeface="+mn-cs"/>
        </a:defRPr>
      </a:lvl5pPr>
      <a:lvl6pPr marL="12017731" algn="l" rtl="0" eaLnBrk="1" latinLnBrk="0" hangingPunct="1">
        <a:defRPr kumimoji="0" kern="1200">
          <a:solidFill>
            <a:schemeClr val="tx1"/>
          </a:solidFill>
          <a:latin typeface="+mn-lt"/>
          <a:ea typeface="+mn-ea"/>
          <a:cs typeface="+mn-cs"/>
        </a:defRPr>
      </a:lvl6pPr>
      <a:lvl7pPr marL="14421277" algn="l" rtl="0" eaLnBrk="1" latinLnBrk="0" hangingPunct="1">
        <a:defRPr kumimoji="0" kern="1200">
          <a:solidFill>
            <a:schemeClr val="tx1"/>
          </a:solidFill>
          <a:latin typeface="+mn-lt"/>
          <a:ea typeface="+mn-ea"/>
          <a:cs typeface="+mn-cs"/>
        </a:defRPr>
      </a:lvl7pPr>
      <a:lvl8pPr marL="16824823" algn="l" rtl="0" eaLnBrk="1" latinLnBrk="0" hangingPunct="1">
        <a:defRPr kumimoji="0" kern="1200">
          <a:solidFill>
            <a:schemeClr val="tx1"/>
          </a:solidFill>
          <a:latin typeface="+mn-lt"/>
          <a:ea typeface="+mn-ea"/>
          <a:cs typeface="+mn-cs"/>
        </a:defRPr>
      </a:lvl8pPr>
      <a:lvl9pPr marL="1922836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12115800" y="2057401"/>
            <a:ext cx="31165800" cy="2554545"/>
          </a:xfrm>
          <a:prstGeom prst="rect">
            <a:avLst/>
          </a:prstGeom>
          <a:noFill/>
          <a:ln>
            <a:solidFill>
              <a:schemeClr val="tx1"/>
            </a:solidFill>
          </a:ln>
        </p:spPr>
        <p:txBody>
          <a:bodyPr wrap="square" rtlCol="0">
            <a:spAutoFit/>
          </a:bodyPr>
          <a:lstStyle/>
          <a:p>
            <a:pPr algn="ctr">
              <a:buNone/>
            </a:pPr>
            <a:r>
              <a:rPr lang="en-US" sz="6000" b="1" dirty="0" smtClean="0">
                <a:latin typeface="Times New Roman" pitchFamily="18" charset="0"/>
                <a:cs typeface="Times New Roman" pitchFamily="18" charset="0"/>
              </a:rPr>
              <a:t>Rate of Syllable Production in Selected Languages</a:t>
            </a:r>
          </a:p>
          <a:p>
            <a:pPr algn="ctr">
              <a:buNone/>
            </a:pPr>
            <a:r>
              <a:rPr lang="en-US" sz="5000" dirty="0" smtClean="0">
                <a:latin typeface="Times New Roman" pitchFamily="18" charset="0"/>
                <a:cs typeface="Times New Roman" pitchFamily="18" charset="0"/>
              </a:rPr>
              <a:t> Aubrey Wilson and Ron Netsell</a:t>
            </a:r>
          </a:p>
          <a:p>
            <a:pPr algn="ctr">
              <a:buNone/>
            </a:pPr>
            <a:r>
              <a:rPr lang="en-US" sz="5000" dirty="0" smtClean="0">
                <a:latin typeface="Times New Roman" pitchFamily="18" charset="0"/>
                <a:cs typeface="Times New Roman" pitchFamily="18" charset="0"/>
              </a:rPr>
              <a:t>Missouri State University</a:t>
            </a:r>
            <a:endParaRPr lang="en-US" dirty="0"/>
          </a:p>
        </p:txBody>
      </p:sp>
      <p:sp>
        <p:nvSpPr>
          <p:cNvPr id="3" name="TextBox 2"/>
          <p:cNvSpPr txBox="1"/>
          <p:nvPr/>
        </p:nvSpPr>
        <p:spPr>
          <a:xfrm>
            <a:off x="2895600" y="6324600"/>
            <a:ext cx="14478000" cy="7924800"/>
          </a:xfrm>
          <a:prstGeom prst="rect">
            <a:avLst/>
          </a:prstGeom>
          <a:noFill/>
          <a:ln>
            <a:solidFill>
              <a:schemeClr val="tx1"/>
            </a:solidFill>
          </a:ln>
        </p:spPr>
        <p:txBody>
          <a:bodyPr wrap="square" rtlCol="0">
            <a:noAutofit/>
          </a:bodyPr>
          <a:lstStyle/>
          <a:p>
            <a:pPr algn="ctr"/>
            <a:r>
              <a:rPr lang="en-US" sz="5000" b="1" dirty="0" smtClean="0">
                <a:latin typeface="Times New Roman" pitchFamily="18" charset="0"/>
                <a:cs typeface="Times New Roman" pitchFamily="18" charset="0"/>
              </a:rPr>
              <a:t>Abstract</a:t>
            </a:r>
          </a:p>
          <a:p>
            <a:pPr>
              <a:buNone/>
            </a:pPr>
            <a:r>
              <a:rPr lang="en-US" sz="3800" dirty="0" smtClean="0">
                <a:latin typeface="Times New Roman" pitchFamily="18" charset="0"/>
                <a:cs typeface="Times New Roman" pitchFamily="18" charset="0"/>
              </a:rPr>
              <a:t>In different situations and across varying languages and dialects, speech rate is often perceived very differently. The purpose of the present research was to quantify the rate of speech for three languages: English, Arabic, and Tamil. The null hypothesis was that these languages would have the same speaking rate. Three native speakers from each language were recruited </a:t>
            </a:r>
            <a:r>
              <a:rPr lang="en-US" sz="3800" dirty="0" smtClean="0">
                <a:latin typeface="Times New Roman" pitchFamily="18" charset="0"/>
                <a:cs typeface="Times New Roman" pitchFamily="18" charset="0"/>
              </a:rPr>
              <a:t>.   Each </a:t>
            </a:r>
            <a:r>
              <a:rPr lang="en-US" sz="3800" dirty="0" smtClean="0">
                <a:latin typeface="Times New Roman" pitchFamily="18" charset="0"/>
                <a:cs typeface="Times New Roman" pitchFamily="18" charset="0"/>
              </a:rPr>
              <a:t>participant recorded a five minute speech sample in their native language.  The speech samples were analyzed and speaking rate was calculated in syllables per second (SPS) for each participant.  Tamil speakers were found to have the fastest speaking rate, followed by Arabic speakers, then English speakers.  </a:t>
            </a:r>
            <a:r>
              <a:rPr lang="en-US" sz="3800" dirty="0" smtClean="0">
                <a:latin typeface="Times New Roman" pitchFamily="18" charset="0"/>
                <a:cs typeface="Times New Roman" pitchFamily="18" charset="0"/>
              </a:rPr>
              <a:t> </a:t>
            </a:r>
            <a:endParaRPr lang="en-US" sz="3800" dirty="0" smtClean="0">
              <a:latin typeface="Times New Roman" pitchFamily="18" charset="0"/>
              <a:cs typeface="Times New Roman" pitchFamily="18" charset="0"/>
            </a:endParaRPr>
          </a:p>
          <a:p>
            <a:pPr algn="ctr"/>
            <a:endParaRPr lang="en-US" dirty="0"/>
          </a:p>
        </p:txBody>
      </p:sp>
      <p:sp>
        <p:nvSpPr>
          <p:cNvPr id="4" name="TextBox 3"/>
          <p:cNvSpPr txBox="1"/>
          <p:nvPr/>
        </p:nvSpPr>
        <p:spPr>
          <a:xfrm>
            <a:off x="2895600" y="14630400"/>
            <a:ext cx="14478000" cy="14935200"/>
          </a:xfrm>
          <a:prstGeom prst="rect">
            <a:avLst/>
          </a:prstGeom>
          <a:noFill/>
          <a:ln>
            <a:solidFill>
              <a:schemeClr val="tx1"/>
            </a:solidFill>
          </a:ln>
        </p:spPr>
        <p:txBody>
          <a:bodyPr wrap="square" rtlCol="0">
            <a:noAutofit/>
          </a:bodyPr>
          <a:lstStyle/>
          <a:p>
            <a:pPr algn="ctr"/>
            <a:endParaRPr lang="en-US" sz="5000" dirty="0" smtClean="0">
              <a:latin typeface="Times New Roman" pitchFamily="18" charset="0"/>
              <a:cs typeface="Times New Roman" pitchFamily="18" charset="0"/>
            </a:endParaRPr>
          </a:p>
          <a:p>
            <a:pPr algn="ctr"/>
            <a:r>
              <a:rPr lang="en-US" sz="5000" b="1" dirty="0" smtClean="0">
                <a:latin typeface="Times New Roman" pitchFamily="18" charset="0"/>
                <a:cs typeface="Times New Roman" pitchFamily="18" charset="0"/>
              </a:rPr>
              <a:t>Introduction</a:t>
            </a:r>
          </a:p>
          <a:p>
            <a:pPr>
              <a:buNone/>
            </a:pPr>
            <a:r>
              <a:rPr lang="en-US" sz="4000" dirty="0" smtClean="0">
                <a:latin typeface="Times New Roman" pitchFamily="18" charset="0"/>
                <a:cs typeface="Times New Roman" pitchFamily="18" charset="0"/>
              </a:rPr>
              <a:t>Some have found speaking rate to vary across languages (Robb &amp; </a:t>
            </a:r>
            <a:r>
              <a:rPr lang="en-US" sz="4000" dirty="0" err="1" smtClean="0">
                <a:latin typeface="Times New Roman" pitchFamily="18" charset="0"/>
                <a:cs typeface="Times New Roman" pitchFamily="18" charset="0"/>
              </a:rPr>
              <a:t>Gillion</a:t>
            </a:r>
            <a:r>
              <a:rPr lang="en-US" sz="4000" dirty="0" smtClean="0">
                <a:latin typeface="Times New Roman" pitchFamily="18" charset="0"/>
                <a:cs typeface="Times New Roman" pitchFamily="18" charset="0"/>
              </a:rPr>
              <a:t>, 2007), while others believe it may be a myth that some languages are spoken more quickly than others (Roach, 1998).  Most studies involving the rate of speech used two different measures - speaking rate and articulation rate. Speaking rate can be defined as the number of syllables in a speech sample divided by the duration of the speech sample. Articulation rate can be defined as the number of syllables in a speech sample divided by the duration of the speech sample, with the pauses removed (Braun &amp; Oba, 2007; Roach, 1998; Robb &amp; </a:t>
            </a:r>
            <a:r>
              <a:rPr lang="en-US" sz="4000" dirty="0" err="1" smtClean="0">
                <a:latin typeface="Times New Roman" pitchFamily="18" charset="0"/>
                <a:cs typeface="Times New Roman" pitchFamily="18" charset="0"/>
              </a:rPr>
              <a:t>Gillon</a:t>
            </a:r>
            <a:r>
              <a:rPr lang="en-US" sz="4000" dirty="0" smtClean="0">
                <a:latin typeface="Times New Roman" pitchFamily="18" charset="0"/>
                <a:cs typeface="Times New Roman" pitchFamily="18" charset="0"/>
              </a:rPr>
              <a:t>, 2007; Sturm &amp; </a:t>
            </a:r>
            <a:r>
              <a:rPr lang="en-US" sz="4000" dirty="0" err="1" smtClean="0">
                <a:latin typeface="Times New Roman" pitchFamily="18" charset="0"/>
                <a:cs typeface="Times New Roman" pitchFamily="18" charset="0"/>
              </a:rPr>
              <a:t>Seery</a:t>
            </a:r>
            <a:r>
              <a:rPr lang="en-US" sz="4000" dirty="0" smtClean="0">
                <a:latin typeface="Times New Roman" pitchFamily="18" charset="0"/>
                <a:cs typeface="Times New Roman" pitchFamily="18" charset="0"/>
              </a:rPr>
              <a:t>, 2007). Typically, speaking rate and articulation rate are measured in syllables per second (Braun &amp; Oba, 2007; Crystal &amp; House, 1990; </a:t>
            </a:r>
            <a:r>
              <a:rPr lang="en-US" sz="4000" dirty="0" err="1" smtClean="0">
                <a:latin typeface="Times New Roman" pitchFamily="18" charset="0"/>
                <a:cs typeface="Times New Roman" pitchFamily="18" charset="0"/>
              </a:rPr>
              <a:t>Dellwo</a:t>
            </a:r>
            <a:r>
              <a:rPr lang="en-US" sz="4000" dirty="0" smtClean="0">
                <a:latin typeface="Times New Roman" pitchFamily="18" charset="0"/>
                <a:cs typeface="Times New Roman" pitchFamily="18" charset="0"/>
              </a:rPr>
              <a:t>, </a:t>
            </a:r>
            <a:r>
              <a:rPr lang="en-US" sz="4000" dirty="0" err="1" smtClean="0">
                <a:latin typeface="Times New Roman" pitchFamily="18" charset="0"/>
                <a:cs typeface="Times New Roman" pitchFamily="18" charset="0"/>
              </a:rPr>
              <a:t>Ferragne</a:t>
            </a:r>
            <a:r>
              <a:rPr lang="en-US" sz="4000" dirty="0" smtClean="0">
                <a:latin typeface="Times New Roman" pitchFamily="18" charset="0"/>
                <a:cs typeface="Times New Roman" pitchFamily="18" charset="0"/>
              </a:rPr>
              <a:t>, &amp; Pellegrino, 2006; </a:t>
            </a:r>
            <a:r>
              <a:rPr lang="en-US" sz="4000" dirty="0" err="1" smtClean="0">
                <a:latin typeface="Times New Roman" pitchFamily="18" charset="0"/>
                <a:cs typeface="Times New Roman" pitchFamily="18" charset="0"/>
              </a:rPr>
              <a:t>Nishio</a:t>
            </a:r>
            <a:r>
              <a:rPr lang="en-US" sz="4000" dirty="0" smtClean="0">
                <a:latin typeface="Times New Roman" pitchFamily="18" charset="0"/>
                <a:cs typeface="Times New Roman" pitchFamily="18" charset="0"/>
              </a:rPr>
              <a:t> &amp; </a:t>
            </a:r>
            <a:r>
              <a:rPr lang="en-US" sz="4000" dirty="0" err="1" smtClean="0">
                <a:latin typeface="Times New Roman" pitchFamily="18" charset="0"/>
                <a:cs typeface="Times New Roman" pitchFamily="18" charset="0"/>
              </a:rPr>
              <a:t>Niimi</a:t>
            </a:r>
            <a:r>
              <a:rPr lang="en-US" sz="4000" dirty="0" smtClean="0">
                <a:latin typeface="Times New Roman" pitchFamily="18" charset="0"/>
                <a:cs typeface="Times New Roman" pitchFamily="18" charset="0"/>
              </a:rPr>
              <a:t>, 2006; Roach, 1998; Sturm &amp; </a:t>
            </a:r>
            <a:r>
              <a:rPr lang="en-US" sz="4000" dirty="0" err="1" smtClean="0">
                <a:latin typeface="Times New Roman" pitchFamily="18" charset="0"/>
                <a:cs typeface="Times New Roman" pitchFamily="18" charset="0"/>
              </a:rPr>
              <a:t>Seery</a:t>
            </a:r>
            <a:r>
              <a:rPr lang="en-US" sz="4000" dirty="0" smtClean="0">
                <a:latin typeface="Times New Roman" pitchFamily="18" charset="0"/>
                <a:cs typeface="Times New Roman" pitchFamily="18" charset="0"/>
              </a:rPr>
              <a:t>, 2007; </a:t>
            </a:r>
            <a:r>
              <a:rPr lang="en-US" sz="4000" dirty="0" err="1" smtClean="0">
                <a:latin typeface="Times New Roman" pitchFamily="18" charset="0"/>
                <a:cs typeface="Times New Roman" pitchFamily="18" charset="0"/>
              </a:rPr>
              <a:t>Tsao</a:t>
            </a:r>
            <a:r>
              <a:rPr lang="en-US" sz="4000" dirty="0" smtClean="0">
                <a:latin typeface="Times New Roman" pitchFamily="18" charset="0"/>
                <a:cs typeface="Times New Roman" pitchFamily="18" charset="0"/>
              </a:rPr>
              <a:t> &amp; Weismer,1997; </a:t>
            </a:r>
            <a:r>
              <a:rPr lang="en-US" sz="4000" dirty="0" err="1" smtClean="0">
                <a:latin typeface="Times New Roman" pitchFamily="18" charset="0"/>
                <a:cs typeface="Times New Roman" pitchFamily="18" charset="0"/>
              </a:rPr>
              <a:t>Verhoeven</a:t>
            </a:r>
            <a:r>
              <a:rPr lang="en-US" sz="4000" dirty="0" smtClean="0">
                <a:latin typeface="Times New Roman" pitchFamily="18" charset="0"/>
                <a:cs typeface="Times New Roman" pitchFamily="18" charset="0"/>
              </a:rPr>
              <a:t>, De </a:t>
            </a:r>
            <a:r>
              <a:rPr lang="en-US" sz="4000" dirty="0" err="1" smtClean="0">
                <a:latin typeface="Times New Roman" pitchFamily="18" charset="0"/>
                <a:cs typeface="Times New Roman" pitchFamily="18" charset="0"/>
              </a:rPr>
              <a:t>Pauw</a:t>
            </a:r>
            <a:r>
              <a:rPr lang="en-US" sz="4000" dirty="0" smtClean="0">
                <a:latin typeface="Times New Roman" pitchFamily="18" charset="0"/>
                <a:cs typeface="Times New Roman" pitchFamily="18" charset="0"/>
              </a:rPr>
              <a:t>, &amp; </a:t>
            </a:r>
            <a:r>
              <a:rPr lang="en-US" sz="4000" dirty="0" err="1" smtClean="0">
                <a:latin typeface="Times New Roman" pitchFamily="18" charset="0"/>
                <a:cs typeface="Times New Roman" pitchFamily="18" charset="0"/>
              </a:rPr>
              <a:t>Kloots</a:t>
            </a:r>
            <a:r>
              <a:rPr lang="en-US" sz="4000" dirty="0" smtClean="0">
                <a:latin typeface="Times New Roman" pitchFamily="18" charset="0"/>
                <a:cs typeface="Times New Roman" pitchFamily="18" charset="0"/>
              </a:rPr>
              <a:t>, 2004). Minimal data have been published  regarding speaking rates for different languages. While it is uncertain if there are true differences in speaking rates across different languages, it is clear that more research on the subject needs to be conducted.</a:t>
            </a:r>
          </a:p>
          <a:p>
            <a:pPr>
              <a:buNone/>
            </a:pPr>
            <a:endParaRPr lang="en-US" sz="4000" dirty="0" smtClean="0">
              <a:latin typeface="Times New Roman" pitchFamily="18" charset="0"/>
              <a:cs typeface="Times New Roman" pitchFamily="18" charset="0"/>
            </a:endParaRPr>
          </a:p>
          <a:p>
            <a:pPr algn="ctr"/>
            <a:endParaRPr lang="en-US" dirty="0"/>
          </a:p>
        </p:txBody>
      </p:sp>
      <p:sp>
        <p:nvSpPr>
          <p:cNvPr id="5" name="TextBox 4"/>
          <p:cNvSpPr txBox="1"/>
          <p:nvPr/>
        </p:nvSpPr>
        <p:spPr>
          <a:xfrm>
            <a:off x="19278600" y="6324600"/>
            <a:ext cx="14478000" cy="7924800"/>
          </a:xfrm>
          <a:prstGeom prst="rect">
            <a:avLst/>
          </a:prstGeom>
          <a:noFill/>
          <a:ln>
            <a:solidFill>
              <a:schemeClr val="tx1"/>
            </a:solidFill>
          </a:ln>
        </p:spPr>
        <p:txBody>
          <a:bodyPr wrap="square" rtlCol="0">
            <a:noAutofit/>
          </a:bodyPr>
          <a:lstStyle/>
          <a:p>
            <a:pPr algn="ctr"/>
            <a:r>
              <a:rPr lang="en-US" sz="5000" b="1" dirty="0" smtClean="0">
                <a:latin typeface="Times New Roman" pitchFamily="18" charset="0"/>
                <a:cs typeface="Times New Roman" pitchFamily="18" charset="0"/>
              </a:rPr>
              <a:t>Method</a:t>
            </a:r>
          </a:p>
          <a:p>
            <a:pPr>
              <a:buNone/>
            </a:pPr>
            <a:r>
              <a:rPr lang="en-US" sz="3250" u="sng" dirty="0" smtClean="0">
                <a:latin typeface="Times New Roman" pitchFamily="18" charset="0"/>
                <a:cs typeface="Times New Roman" pitchFamily="18" charset="0"/>
              </a:rPr>
              <a:t>Participants: </a:t>
            </a:r>
            <a:r>
              <a:rPr lang="en-US" sz="3250" dirty="0" smtClean="0">
                <a:latin typeface="Times New Roman" pitchFamily="18" charset="0"/>
                <a:cs typeface="Times New Roman" pitchFamily="18" charset="0"/>
              </a:rPr>
              <a:t>The participants consisted of three native speakers of English, Arabic, and Tamil – which yielded nine participants total. The participants were adult males, </a:t>
            </a:r>
            <a:r>
              <a:rPr lang="en-US" sz="3250" dirty="0" smtClean="0">
                <a:latin typeface="Times New Roman" pitchFamily="18" charset="0"/>
                <a:cs typeface="Times New Roman" pitchFamily="18" charset="0"/>
              </a:rPr>
              <a:t>  </a:t>
            </a:r>
            <a:r>
              <a:rPr lang="en-US" sz="3250" dirty="0" smtClean="0">
                <a:latin typeface="Times New Roman" pitchFamily="18" charset="0"/>
                <a:cs typeface="Times New Roman" pitchFamily="18" charset="0"/>
              </a:rPr>
              <a:t>native speakers of their language, and had no history of a speech or language disorder.</a:t>
            </a:r>
          </a:p>
          <a:p>
            <a:pPr>
              <a:buNone/>
            </a:pPr>
            <a:r>
              <a:rPr lang="en-US" sz="3250" u="sng" dirty="0" smtClean="0">
                <a:latin typeface="Times New Roman" pitchFamily="18" charset="0"/>
                <a:cs typeface="Times New Roman" pitchFamily="18" charset="0"/>
              </a:rPr>
              <a:t>Procedures: </a:t>
            </a:r>
            <a:r>
              <a:rPr lang="en-US" sz="3250" dirty="0" smtClean="0">
                <a:latin typeface="Times New Roman" pitchFamily="18" charset="0"/>
                <a:cs typeface="Times New Roman" pitchFamily="18" charset="0"/>
              </a:rPr>
              <a:t> </a:t>
            </a:r>
            <a:r>
              <a:rPr lang="en-US" sz="3250" dirty="0" smtClean="0">
                <a:latin typeface="Times New Roman" pitchFamily="18" charset="0"/>
                <a:cs typeface="Times New Roman" pitchFamily="18" charset="0"/>
              </a:rPr>
              <a:t> Participants were given the following instructions:</a:t>
            </a:r>
            <a:r>
              <a:rPr lang="en-US" sz="3250" dirty="0" smtClean="0">
                <a:latin typeface="Times New Roman" pitchFamily="18" charset="0"/>
                <a:cs typeface="Times New Roman" pitchFamily="18" charset="0"/>
              </a:rPr>
              <a:t> </a:t>
            </a:r>
            <a:r>
              <a:rPr lang="en-US" sz="3250" dirty="0" smtClean="0">
                <a:latin typeface="Times New Roman" pitchFamily="18" charset="0"/>
                <a:cs typeface="Times New Roman" pitchFamily="18" charset="0"/>
              </a:rPr>
              <a:t>“I want you to speak for 5 minutes in your native language at a natural conversation rate. You can talk about anything you want, but try not to talk about anything too emotional”.  The participants then put on a microphone headset and recorded a five minute speech sample into the free recording program, </a:t>
            </a:r>
            <a:r>
              <a:rPr lang="en-US" sz="3250" i="1" dirty="0" smtClean="0">
                <a:latin typeface="Times New Roman" pitchFamily="18" charset="0"/>
                <a:cs typeface="Times New Roman" pitchFamily="18" charset="0"/>
              </a:rPr>
              <a:t>Audacity.  Audacity </a:t>
            </a:r>
            <a:r>
              <a:rPr lang="en-US" sz="3250" dirty="0" smtClean="0">
                <a:latin typeface="Times New Roman" pitchFamily="18" charset="0"/>
                <a:cs typeface="Times New Roman" pitchFamily="18" charset="0"/>
              </a:rPr>
              <a:t>was used to record each speech sample  and to calculate speaking rate in syllables per second.  Pauses of more than 250 ms were deleted (</a:t>
            </a:r>
            <a:r>
              <a:rPr lang="en-US" sz="3250" dirty="0" err="1" smtClean="0">
                <a:latin typeface="Times New Roman" pitchFamily="18" charset="0"/>
                <a:cs typeface="Times New Roman" pitchFamily="18" charset="0"/>
              </a:rPr>
              <a:t>Tsao</a:t>
            </a:r>
            <a:r>
              <a:rPr lang="en-US" sz="3250" dirty="0" smtClean="0">
                <a:latin typeface="Times New Roman" pitchFamily="18" charset="0"/>
                <a:cs typeface="Times New Roman" pitchFamily="18" charset="0"/>
              </a:rPr>
              <a:t> &amp; </a:t>
            </a:r>
            <a:r>
              <a:rPr lang="en-US" sz="3250" dirty="0" err="1" smtClean="0">
                <a:latin typeface="Times New Roman" pitchFamily="18" charset="0"/>
                <a:cs typeface="Times New Roman" pitchFamily="18" charset="0"/>
              </a:rPr>
              <a:t>Weismer</a:t>
            </a:r>
            <a:r>
              <a:rPr lang="en-US" sz="3250" dirty="0" smtClean="0">
                <a:latin typeface="Times New Roman" pitchFamily="18" charset="0"/>
                <a:cs typeface="Times New Roman" pitchFamily="18" charset="0"/>
              </a:rPr>
              <a:t>, 1997).  </a:t>
            </a:r>
            <a:endParaRPr lang="en-US" sz="3250" i="1" dirty="0" smtClean="0">
              <a:latin typeface="Times New Roman" pitchFamily="18" charset="0"/>
              <a:cs typeface="Times New Roman" pitchFamily="18" charset="0"/>
            </a:endParaRPr>
          </a:p>
          <a:p>
            <a:pPr algn="ctr"/>
            <a:endParaRPr lang="en-US" dirty="0" smtClean="0"/>
          </a:p>
          <a:p>
            <a:pPr algn="ctr"/>
            <a:endParaRPr lang="en-US" dirty="0"/>
          </a:p>
        </p:txBody>
      </p:sp>
      <p:sp>
        <p:nvSpPr>
          <p:cNvPr id="6" name="TextBox 5"/>
          <p:cNvSpPr txBox="1"/>
          <p:nvPr/>
        </p:nvSpPr>
        <p:spPr>
          <a:xfrm>
            <a:off x="19354800" y="14706600"/>
            <a:ext cx="14401800" cy="14173200"/>
          </a:xfrm>
          <a:prstGeom prst="rect">
            <a:avLst/>
          </a:prstGeom>
          <a:noFill/>
          <a:ln>
            <a:solidFill>
              <a:schemeClr val="tx1"/>
            </a:solidFill>
          </a:ln>
        </p:spPr>
        <p:txBody>
          <a:bodyPr wrap="square" rtlCol="0">
            <a:noAutofit/>
          </a:bodyPr>
          <a:lstStyle/>
          <a:p>
            <a:pPr algn="ctr"/>
            <a:r>
              <a:rPr lang="en-US" sz="5000" b="1" dirty="0" smtClean="0">
                <a:latin typeface="Times New Roman" pitchFamily="18" charset="0"/>
                <a:cs typeface="Times New Roman" pitchFamily="18" charset="0"/>
              </a:rPr>
              <a:t>Results</a:t>
            </a:r>
          </a:p>
          <a:p>
            <a:pPr algn="ctr"/>
            <a:endParaRPr lang="en-US" sz="5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Table 1. Arabic Speaking Rate.	                                        Table 2. Tamil Speaking Rate.</a:t>
            </a:r>
          </a:p>
          <a:p>
            <a:pPr algn="ctr"/>
            <a:endParaRPr lang="en-US" sz="5000" dirty="0" smtClean="0">
              <a:latin typeface="Times New Roman" pitchFamily="18" charset="0"/>
              <a:cs typeface="Times New Roman" pitchFamily="18" charset="0"/>
            </a:endParaRPr>
          </a:p>
          <a:p>
            <a:pPr algn="ctr"/>
            <a:endParaRPr lang="en-US" dirty="0" smtClean="0"/>
          </a:p>
          <a:p>
            <a:pPr algn="ctr"/>
            <a:endParaRPr lang="en-US" dirty="0" smtClean="0"/>
          </a:p>
          <a:p>
            <a:pPr algn="ctr"/>
            <a:endParaRPr lang="en-US" dirty="0" smtClean="0"/>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Table 2. English Speak Rate.	                                             Table 4. Average Speaking Rate of English, Arabic and Tamil. </a:t>
            </a:r>
            <a:endParaRPr lang="en-US" sz="2000" dirty="0">
              <a:latin typeface="Times New Roman" pitchFamily="18" charset="0"/>
              <a:cs typeface="Times New Roman" pitchFamily="18" charset="0"/>
            </a:endParaRPr>
          </a:p>
        </p:txBody>
      </p:sp>
      <p:sp>
        <p:nvSpPr>
          <p:cNvPr id="7" name="TextBox 6"/>
          <p:cNvSpPr txBox="1"/>
          <p:nvPr/>
        </p:nvSpPr>
        <p:spPr>
          <a:xfrm>
            <a:off x="35280600" y="6324600"/>
            <a:ext cx="14401800" cy="11125200"/>
          </a:xfrm>
          <a:prstGeom prst="rect">
            <a:avLst/>
          </a:prstGeom>
          <a:noFill/>
          <a:ln>
            <a:solidFill>
              <a:schemeClr val="tx1"/>
            </a:solidFill>
          </a:ln>
        </p:spPr>
        <p:txBody>
          <a:bodyPr wrap="square" rtlCol="0">
            <a:noAutofit/>
          </a:bodyPr>
          <a:lstStyle/>
          <a:p>
            <a:pPr algn="ctr"/>
            <a:r>
              <a:rPr lang="en-US" sz="5000" b="1" dirty="0" smtClean="0">
                <a:latin typeface="Times New Roman" pitchFamily="18" charset="0"/>
                <a:cs typeface="Times New Roman" pitchFamily="18" charset="0"/>
              </a:rPr>
              <a:t>Discussion</a:t>
            </a:r>
          </a:p>
          <a:p>
            <a:r>
              <a:rPr lang="en-US" sz="4000" dirty="0" smtClean="0">
                <a:latin typeface="Times New Roman" pitchFamily="18" charset="0"/>
                <a:cs typeface="Times New Roman" pitchFamily="18" charset="0"/>
              </a:rPr>
              <a:t> Tamil </a:t>
            </a:r>
            <a:r>
              <a:rPr lang="en-US" sz="4000" dirty="0" smtClean="0">
                <a:latin typeface="Times New Roman" pitchFamily="18" charset="0"/>
                <a:cs typeface="Times New Roman" pitchFamily="18" charset="0"/>
              </a:rPr>
              <a:t>speakers were found to have the fastest speaking rate with an average of 6.5 SPS, followed by Arabic speakers with an average </a:t>
            </a:r>
            <a:r>
              <a:rPr lang="en-US" sz="4000" dirty="0" smtClean="0">
                <a:latin typeface="Times New Roman" pitchFamily="18" charset="0"/>
                <a:cs typeface="Times New Roman" pitchFamily="18" charset="0"/>
              </a:rPr>
              <a:t> 5.5 </a:t>
            </a:r>
            <a:r>
              <a:rPr lang="en-US" sz="4000" dirty="0" smtClean="0">
                <a:latin typeface="Times New Roman" pitchFamily="18" charset="0"/>
                <a:cs typeface="Times New Roman" pitchFamily="18" charset="0"/>
              </a:rPr>
              <a:t>SPS, and finally English speakers with an average </a:t>
            </a:r>
            <a:r>
              <a:rPr lang="en-US" sz="4000" dirty="0" smtClean="0">
                <a:latin typeface="Times New Roman" pitchFamily="18" charset="0"/>
                <a:cs typeface="Times New Roman" pitchFamily="18" charset="0"/>
              </a:rPr>
              <a:t> of </a:t>
            </a:r>
            <a:r>
              <a:rPr lang="en-US" sz="4000" dirty="0" smtClean="0">
                <a:latin typeface="Times New Roman" pitchFamily="18" charset="0"/>
                <a:cs typeface="Times New Roman" pitchFamily="18" charset="0"/>
              </a:rPr>
              <a:t>3.5 SPS.  These results are clinically significant because English was found to have the slowest speaking rate; therefore, </a:t>
            </a:r>
            <a:r>
              <a:rPr lang="en-US" sz="4000" dirty="0" smtClean="0">
                <a:latin typeface="Times New Roman" pitchFamily="18" charset="0"/>
                <a:cs typeface="Times New Roman" pitchFamily="18" charset="0"/>
              </a:rPr>
              <a:t>some accent </a:t>
            </a:r>
            <a:r>
              <a:rPr lang="en-US" sz="4000" dirty="0" smtClean="0">
                <a:latin typeface="Times New Roman" pitchFamily="18" charset="0"/>
                <a:cs typeface="Times New Roman" pitchFamily="18" charset="0"/>
              </a:rPr>
              <a:t>reduction clients learning English may benefit from slowing down their speaking rate. The results of this study indicate that some languages are truly spoken more quickly than others.  </a:t>
            </a:r>
            <a:r>
              <a:rPr lang="en-US" sz="4000" dirty="0" smtClean="0">
                <a:latin typeface="Times New Roman" pitchFamily="18" charset="0"/>
                <a:cs typeface="Times New Roman" pitchFamily="18" charset="0"/>
              </a:rPr>
              <a:t>Since this was </a:t>
            </a:r>
            <a:r>
              <a:rPr lang="en-US" sz="4000" dirty="0" smtClean="0">
                <a:latin typeface="Times New Roman" pitchFamily="18" charset="0"/>
                <a:cs typeface="Times New Roman" pitchFamily="18" charset="0"/>
              </a:rPr>
              <a:t>a preliminary study</a:t>
            </a:r>
            <a:r>
              <a:rPr lang="en-US" sz="4000" dirty="0" smtClean="0">
                <a:latin typeface="Times New Roman" pitchFamily="18" charset="0"/>
                <a:cs typeface="Times New Roman" pitchFamily="18" charset="0"/>
              </a:rPr>
              <a:t>,  </a:t>
            </a:r>
            <a:r>
              <a:rPr lang="en-US" sz="4000" dirty="0" smtClean="0">
                <a:latin typeface="Times New Roman" pitchFamily="18" charset="0"/>
                <a:cs typeface="Times New Roman" pitchFamily="18" charset="0"/>
              </a:rPr>
              <a:t>it would be beneficial for additional research to be conducted on speaking rate.  Additional factors </a:t>
            </a:r>
            <a:r>
              <a:rPr lang="en-US" sz="4000" dirty="0" smtClean="0">
                <a:latin typeface="Times New Roman" pitchFamily="18" charset="0"/>
                <a:cs typeface="Times New Roman" pitchFamily="18" charset="0"/>
              </a:rPr>
              <a:t>may be </a:t>
            </a:r>
            <a:r>
              <a:rPr lang="en-US" sz="4000" dirty="0" smtClean="0">
                <a:latin typeface="Times New Roman" pitchFamily="18" charset="0"/>
                <a:cs typeface="Times New Roman" pitchFamily="18" charset="0"/>
              </a:rPr>
              <a:t>considered for future research include: recruiting more participants, using a computer program to delete pauses, and having participants engage in </a:t>
            </a:r>
            <a:r>
              <a:rPr lang="en-US" sz="4000" dirty="0" smtClean="0">
                <a:latin typeface="Times New Roman" pitchFamily="18" charset="0"/>
                <a:cs typeface="Times New Roman" pitchFamily="18" charset="0"/>
              </a:rPr>
              <a:t> conversation  for comparison with the monologues of the present study.</a:t>
            </a:r>
            <a:endParaRPr lang="en-US" sz="4000" dirty="0" smtClean="0">
              <a:latin typeface="Times New Roman" pitchFamily="18" charset="0"/>
              <a:cs typeface="Times New Roman" pitchFamily="18" charset="0"/>
            </a:endParaRPr>
          </a:p>
        </p:txBody>
      </p:sp>
      <p:sp>
        <p:nvSpPr>
          <p:cNvPr id="8" name="TextBox 7"/>
          <p:cNvSpPr txBox="1"/>
          <p:nvPr/>
        </p:nvSpPr>
        <p:spPr>
          <a:xfrm>
            <a:off x="35280600" y="18288000"/>
            <a:ext cx="14401800" cy="10972800"/>
          </a:xfrm>
          <a:prstGeom prst="rect">
            <a:avLst/>
          </a:prstGeom>
          <a:noFill/>
          <a:ln>
            <a:solidFill>
              <a:schemeClr val="tx1"/>
            </a:solidFill>
          </a:ln>
        </p:spPr>
        <p:txBody>
          <a:bodyPr wrap="square" rtlCol="0">
            <a:noAutofit/>
          </a:bodyPr>
          <a:lstStyle/>
          <a:p>
            <a:pPr algn="ctr"/>
            <a:r>
              <a:rPr lang="en-US" sz="5000" b="1" dirty="0" smtClean="0"/>
              <a:t>References</a:t>
            </a:r>
          </a:p>
          <a:p>
            <a:r>
              <a:rPr lang="en-US" sz="2000" dirty="0" err="1" smtClean="0">
                <a:latin typeface="Times New Roman" pitchFamily="18" charset="0"/>
                <a:cs typeface="Times New Roman" pitchFamily="18" charset="0"/>
              </a:rPr>
              <a:t>Arnfield</a:t>
            </a:r>
            <a:r>
              <a:rPr lang="en-US" sz="2000" dirty="0" smtClean="0">
                <a:latin typeface="Times New Roman" pitchFamily="18" charset="0"/>
                <a:cs typeface="Times New Roman" pitchFamily="18" charset="0"/>
              </a:rPr>
              <a:t>, S., Roach, P., Setter, J., </a:t>
            </a:r>
            <a:r>
              <a:rPr lang="en-US" sz="2000" dirty="0" err="1" smtClean="0">
                <a:latin typeface="Times New Roman" pitchFamily="18" charset="0"/>
                <a:cs typeface="Times New Roman" pitchFamily="18" charset="0"/>
              </a:rPr>
              <a:t>Greasley</a:t>
            </a:r>
            <a:r>
              <a:rPr lang="en-US" sz="2000" dirty="0" smtClean="0">
                <a:latin typeface="Times New Roman" pitchFamily="18" charset="0"/>
                <a:cs typeface="Times New Roman" pitchFamily="18" charset="0"/>
              </a:rPr>
              <a:t>, P. &amp; Horton, D. (1995). Emotional stress and speech  tempo variation. Proceedings of the </a:t>
            </a:r>
          </a:p>
          <a:p>
            <a:r>
              <a:rPr lang="en-US" sz="2000" dirty="0" smtClean="0">
                <a:latin typeface="Times New Roman" pitchFamily="18" charset="0"/>
                <a:cs typeface="Times New Roman" pitchFamily="18" charset="0"/>
              </a:rPr>
              <a:t>   ESCA/NATO Workshop on </a:t>
            </a:r>
            <a:r>
              <a:rPr lang="en-US" sz="2000" i="1" dirty="0" smtClean="0">
                <a:latin typeface="Times New Roman" pitchFamily="18" charset="0"/>
                <a:cs typeface="Times New Roman" pitchFamily="18" charset="0"/>
              </a:rPr>
              <a:t>Speech Under Stress</a:t>
            </a:r>
            <a:r>
              <a:rPr lang="en-US" sz="2000" dirty="0" smtClean="0">
                <a:latin typeface="Times New Roman" pitchFamily="18" charset="0"/>
                <a:cs typeface="Times New Roman" pitchFamily="18" charset="0"/>
              </a:rPr>
              <a:t>, Lisbon, 13-15.</a:t>
            </a:r>
          </a:p>
          <a:p>
            <a:r>
              <a:rPr lang="en-US" sz="2000" i="1" dirty="0" smtClean="0">
                <a:latin typeface="Times New Roman" pitchFamily="18" charset="0"/>
                <a:cs typeface="Times New Roman" pitchFamily="18" charset="0"/>
              </a:rPr>
              <a:t>Audacity Free Audio Editor and Recorder </a:t>
            </a:r>
            <a:r>
              <a:rPr lang="en-US" sz="2000" dirty="0" smtClean="0">
                <a:latin typeface="Times New Roman" pitchFamily="18" charset="0"/>
                <a:cs typeface="Times New Roman" pitchFamily="18" charset="0"/>
              </a:rPr>
              <a:t>(2009). Retrieved on January 3, 2009 from: http://www.audacity.com </a:t>
            </a:r>
          </a:p>
          <a:p>
            <a:r>
              <a:rPr lang="en-US" sz="2000" dirty="0" err="1" smtClean="0">
                <a:latin typeface="Times New Roman" pitchFamily="18" charset="0"/>
                <a:cs typeface="Times New Roman" pitchFamily="18" charset="0"/>
              </a:rPr>
              <a:t>Boersma</a:t>
            </a:r>
            <a:r>
              <a:rPr lang="en-US" sz="2000" dirty="0" smtClean="0">
                <a:latin typeface="Times New Roman" pitchFamily="18" charset="0"/>
                <a:cs typeface="Times New Roman" pitchFamily="18" charset="0"/>
              </a:rPr>
              <a:t>, P. &amp; </a:t>
            </a:r>
            <a:r>
              <a:rPr lang="en-US" sz="2000" dirty="0" err="1" smtClean="0">
                <a:latin typeface="Times New Roman" pitchFamily="18" charset="0"/>
                <a:cs typeface="Times New Roman" pitchFamily="18" charset="0"/>
              </a:rPr>
              <a:t>Weeink</a:t>
            </a:r>
            <a:r>
              <a:rPr lang="en-US" sz="2000" dirty="0" smtClean="0">
                <a:latin typeface="Times New Roman" pitchFamily="18" charset="0"/>
                <a:cs typeface="Times New Roman" pitchFamily="18" charset="0"/>
              </a:rPr>
              <a:t>, D. </a:t>
            </a:r>
            <a:r>
              <a:rPr lang="en-US" sz="2000" i="1" dirty="0" err="1" smtClean="0">
                <a:latin typeface="Times New Roman" pitchFamily="18" charset="0"/>
                <a:cs typeface="Times New Roman" pitchFamily="18" charset="0"/>
              </a:rPr>
              <a:t>Praat</a:t>
            </a:r>
            <a:r>
              <a:rPr lang="en-US" sz="2000" i="1" dirty="0" smtClean="0">
                <a:latin typeface="Times New Roman" pitchFamily="18" charset="0"/>
                <a:cs typeface="Times New Roman" pitchFamily="18" charset="0"/>
              </a:rPr>
              <a:t> – doing phonetics by computer</a:t>
            </a:r>
            <a:r>
              <a:rPr lang="en-US" sz="2000" dirty="0" smtClean="0">
                <a:latin typeface="Times New Roman" pitchFamily="18" charset="0"/>
                <a:cs typeface="Times New Roman" pitchFamily="18" charset="0"/>
              </a:rPr>
              <a:t>. Retrieved on June 7, 2008 from http://www.praat.org</a:t>
            </a:r>
          </a:p>
          <a:p>
            <a:r>
              <a:rPr lang="en-US" sz="2000" dirty="0" smtClean="0">
                <a:latin typeface="Times New Roman" pitchFamily="18" charset="0"/>
                <a:cs typeface="Times New Roman" pitchFamily="18" charset="0"/>
              </a:rPr>
              <a:t>Braun, A. &amp; Oba, R. (2007). Speaking tempo in emotional speech – A cross-cultural study using dubbed speech. </a:t>
            </a:r>
            <a:r>
              <a:rPr lang="de-DE" sz="2000" dirty="0" smtClean="0">
                <a:latin typeface="Times New Roman" pitchFamily="18" charset="0"/>
                <a:cs typeface="Times New Roman" pitchFamily="18" charset="0"/>
              </a:rPr>
              <a:t>In: Marc Schröder / Anton  </a:t>
            </a:r>
          </a:p>
          <a:p>
            <a:r>
              <a:rPr lang="de-DE" sz="2000" dirty="0" smtClean="0">
                <a:latin typeface="Times New Roman" pitchFamily="18" charset="0"/>
                <a:cs typeface="Times New Roman" pitchFamily="18" charset="0"/>
              </a:rPr>
              <a:t>   Batliner / Christophe d'Alessandro (eds.): Proceedings of the International Workshop on Paralinguistic Speech – between Models and   </a:t>
            </a:r>
          </a:p>
          <a:p>
            <a:r>
              <a:rPr lang="de-DE" sz="2000" dirty="0" smtClean="0">
                <a:latin typeface="Times New Roman" pitchFamily="18" charset="0"/>
                <a:cs typeface="Times New Roman" pitchFamily="18" charset="0"/>
              </a:rPr>
              <a:t>   Data., 77-82.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Crystal, T. H. &amp; House, A. S. (1990). Articulation rate and duration of syllables and stress groups in connected speech [Electronic version].   </a:t>
            </a:r>
          </a:p>
          <a:p>
            <a:r>
              <a:rPr lang="en-US" sz="2000" i="1" dirty="0" smtClean="0">
                <a:latin typeface="Times New Roman" pitchFamily="18" charset="0"/>
                <a:cs typeface="Times New Roman" pitchFamily="18" charset="0"/>
              </a:rPr>
              <a:t>   The Journal of Acoustical Society of America, </a:t>
            </a:r>
            <a:r>
              <a:rPr lang="en-US" sz="2000" dirty="0" smtClean="0">
                <a:latin typeface="Times New Roman" pitchFamily="18" charset="0"/>
                <a:cs typeface="Times New Roman" pitchFamily="18" charset="0"/>
              </a:rPr>
              <a:t>Jul;88(1), 101-112.</a:t>
            </a:r>
          </a:p>
          <a:p>
            <a:r>
              <a:rPr lang="en-US" sz="2000" dirty="0" err="1" smtClean="0">
                <a:latin typeface="Times New Roman" pitchFamily="18" charset="0"/>
                <a:cs typeface="Times New Roman" pitchFamily="18" charset="0"/>
              </a:rPr>
              <a:t>Dellwo</a:t>
            </a:r>
            <a:r>
              <a:rPr lang="en-US" sz="2000" dirty="0" smtClean="0">
                <a:latin typeface="Times New Roman" pitchFamily="18" charset="0"/>
                <a:cs typeface="Times New Roman" pitchFamily="18" charset="0"/>
              </a:rPr>
              <a:t>, V., </a:t>
            </a:r>
            <a:r>
              <a:rPr lang="en-US" sz="2000" dirty="0" err="1" smtClean="0">
                <a:latin typeface="Times New Roman" pitchFamily="18" charset="0"/>
                <a:cs typeface="Times New Roman" pitchFamily="18" charset="0"/>
              </a:rPr>
              <a:t>Ferragne</a:t>
            </a:r>
            <a:r>
              <a:rPr lang="en-US" sz="2000" dirty="0" smtClean="0">
                <a:latin typeface="Times New Roman" pitchFamily="18" charset="0"/>
                <a:cs typeface="Times New Roman" pitchFamily="18" charset="0"/>
              </a:rPr>
              <a:t>, E., &amp; Pellegrino, F. (2006). The perception of intended speech rate in English, French and German by French </a:t>
            </a:r>
          </a:p>
          <a:p>
            <a:r>
              <a:rPr lang="en-US" sz="2000" dirty="0" smtClean="0">
                <a:latin typeface="Times New Roman" pitchFamily="18" charset="0"/>
                <a:cs typeface="Times New Roman" pitchFamily="18" charset="0"/>
              </a:rPr>
              <a:t>   speakers. Department of Phonetics &amp; Linguistics, University College, London.</a:t>
            </a:r>
          </a:p>
          <a:p>
            <a:r>
              <a:rPr lang="en-US" sz="2000" dirty="0" smtClean="0">
                <a:latin typeface="Times New Roman" pitchFamily="18" charset="0"/>
                <a:cs typeface="Times New Roman" pitchFamily="18" charset="0"/>
              </a:rPr>
              <a:t>Hincks, R. (2008). Presenting in English or Swedish: Differences in speaking rate. </a:t>
            </a:r>
            <a:r>
              <a:rPr lang="en-US" sz="2000" i="1" dirty="0" smtClean="0">
                <a:latin typeface="Times New Roman" pitchFamily="18" charset="0"/>
                <a:cs typeface="Times New Roman" pitchFamily="18" charset="0"/>
              </a:rPr>
              <a:t>Proceedings, FONETIK</a:t>
            </a:r>
            <a:r>
              <a:rPr lang="en-US" sz="2000" dirty="0" smtClean="0">
                <a:latin typeface="Times New Roman" pitchFamily="18" charset="0"/>
                <a:cs typeface="Times New Roman" pitchFamily="18" charset="0"/>
              </a:rPr>
              <a:t>, Department of Linguistics,  </a:t>
            </a:r>
          </a:p>
          <a:p>
            <a:r>
              <a:rPr lang="en-US" sz="2000" dirty="0" smtClean="0">
                <a:latin typeface="Times New Roman" pitchFamily="18" charset="0"/>
                <a:cs typeface="Times New Roman" pitchFamily="18" charset="0"/>
              </a:rPr>
              <a:t>   University of Gothenburg.  </a:t>
            </a:r>
          </a:p>
          <a:p>
            <a:r>
              <a:rPr lang="en-US" sz="2000" dirty="0" smtClean="0">
                <a:latin typeface="Times New Roman" pitchFamily="18" charset="0"/>
                <a:cs typeface="Times New Roman" pitchFamily="18" charset="0"/>
              </a:rPr>
              <a:t>Laver, John (1994). Principles of Phonetics. Retrieved September 21, 2008 from http://books.google.com/books?id=KQMiFZPkDkYC&amp; </a:t>
            </a:r>
          </a:p>
          <a:p>
            <a:r>
              <a:rPr lang="en-US" sz="2000" dirty="0" smtClean="0">
                <a:latin typeface="Times New Roman" pitchFamily="18" charset="0"/>
                <a:cs typeface="Times New Roman" pitchFamily="18" charset="0"/>
              </a:rPr>
              <a:t>   pg=PA542&amp;lpg=PA542&amp;dq=</a:t>
            </a:r>
            <a:r>
              <a:rPr lang="en-US" sz="2000" dirty="0" err="1" smtClean="0">
                <a:latin typeface="Times New Roman" pitchFamily="18" charset="0"/>
                <a:cs typeface="Times New Roman" pitchFamily="18" charset="0"/>
              </a:rPr>
              <a:t>Arabic+Syllables</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Second&amp;source</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web&amp;ots</a:t>
            </a:r>
            <a:r>
              <a:rPr lang="en-US" sz="2000" dirty="0" smtClean="0">
                <a:latin typeface="Times New Roman" pitchFamily="18" charset="0"/>
                <a:cs typeface="Times New Roman" pitchFamily="18" charset="0"/>
              </a:rPr>
              <a:t>=HMiJ12sqvI&amp;sig=oZTDquNOfoVN_JzWzJ4O7tBi9qo&amp;hl</a:t>
            </a:r>
          </a:p>
          <a:p>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en&amp;sa</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X&amp;oi</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book_result&amp;resnum</a:t>
            </a:r>
            <a:r>
              <a:rPr lang="en-US" sz="2000" dirty="0" smtClean="0">
                <a:latin typeface="Times New Roman" pitchFamily="18" charset="0"/>
                <a:cs typeface="Times New Roman" pitchFamily="18" charset="0"/>
              </a:rPr>
              <a:t>=2&amp;ct=result#PPA5,M1 </a:t>
            </a:r>
          </a:p>
          <a:p>
            <a:r>
              <a:rPr lang="en-US" sz="2000" dirty="0" err="1" smtClean="0">
                <a:latin typeface="Times New Roman" pitchFamily="18" charset="0"/>
                <a:cs typeface="Times New Roman" pitchFamily="18" charset="0"/>
              </a:rPr>
              <a:t>Nishio</a:t>
            </a:r>
            <a:r>
              <a:rPr lang="en-US" sz="2000" dirty="0" smtClean="0">
                <a:latin typeface="Times New Roman" pitchFamily="18" charset="0"/>
                <a:cs typeface="Times New Roman" pitchFamily="18" charset="0"/>
              </a:rPr>
              <a:t>, M. &amp; </a:t>
            </a:r>
            <a:r>
              <a:rPr lang="en-US" sz="2000" dirty="0" err="1" smtClean="0">
                <a:latin typeface="Times New Roman" pitchFamily="18" charset="0"/>
                <a:cs typeface="Times New Roman" pitchFamily="18" charset="0"/>
              </a:rPr>
              <a:t>Niimi</a:t>
            </a:r>
            <a:r>
              <a:rPr lang="en-US" sz="2000" dirty="0" smtClean="0">
                <a:latin typeface="Times New Roman" pitchFamily="18" charset="0"/>
                <a:cs typeface="Times New Roman" pitchFamily="18" charset="0"/>
              </a:rPr>
              <a:t>, S. (2006). Comparison of speaking rate, articulation rate and alternating motion rate in </a:t>
            </a:r>
            <a:r>
              <a:rPr lang="en-US" sz="2000" dirty="0" err="1" smtClean="0">
                <a:latin typeface="Times New Roman" pitchFamily="18" charset="0"/>
                <a:cs typeface="Times New Roman" pitchFamily="18" charset="0"/>
              </a:rPr>
              <a:t>dysarthric</a:t>
            </a:r>
            <a:r>
              <a:rPr lang="en-US" sz="2000" dirty="0" smtClean="0">
                <a:latin typeface="Times New Roman" pitchFamily="18" charset="0"/>
                <a:cs typeface="Times New Roman" pitchFamily="18" charset="0"/>
              </a:rPr>
              <a:t> speakers. </a:t>
            </a:r>
            <a:r>
              <a:rPr lang="en-US" sz="2000" i="1" dirty="0" smtClean="0">
                <a:latin typeface="Times New Roman" pitchFamily="18" charset="0"/>
                <a:cs typeface="Times New Roman" pitchFamily="18" charset="0"/>
              </a:rPr>
              <a:t>Folia </a:t>
            </a:r>
          </a:p>
          <a:p>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Phoniatr</a:t>
            </a:r>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Logop</a:t>
            </a:r>
            <a:r>
              <a:rPr lang="en-US" sz="2000" dirty="0" smtClean="0">
                <a:latin typeface="Times New Roman" pitchFamily="18" charset="0"/>
                <a:cs typeface="Times New Roman" pitchFamily="18" charset="0"/>
              </a:rPr>
              <a:t>, 58, 114-131.</a:t>
            </a:r>
          </a:p>
          <a:p>
            <a:r>
              <a:rPr lang="en-US" sz="2000" dirty="0" smtClean="0">
                <a:latin typeface="Times New Roman" pitchFamily="18" charset="0"/>
                <a:cs typeface="Times New Roman" pitchFamily="18" charset="0"/>
              </a:rPr>
              <a:t>Robb, M., </a:t>
            </a:r>
            <a:r>
              <a:rPr lang="en-US" sz="2000" dirty="0" err="1" smtClean="0">
                <a:latin typeface="Times New Roman" pitchFamily="18" charset="0"/>
                <a:cs typeface="Times New Roman" pitchFamily="18" charset="0"/>
              </a:rPr>
              <a:t>Maclagan</a:t>
            </a:r>
            <a:r>
              <a:rPr lang="en-US" sz="2000" dirty="0" smtClean="0">
                <a:latin typeface="Times New Roman" pitchFamily="18" charset="0"/>
                <a:cs typeface="Times New Roman" pitchFamily="18" charset="0"/>
              </a:rPr>
              <a:t>, M., &amp; Chen, Y. (2003). Speaking rates of American and New Zealand varieties of English. </a:t>
            </a:r>
            <a:r>
              <a:rPr lang="en-US" sz="2000" i="1" dirty="0" smtClean="0">
                <a:latin typeface="Times New Roman" pitchFamily="18" charset="0"/>
                <a:cs typeface="Times New Roman" pitchFamily="18" charset="0"/>
              </a:rPr>
              <a:t>Clinical Linguistics and </a:t>
            </a:r>
          </a:p>
          <a:p>
            <a:r>
              <a:rPr lang="en-US" sz="2000" i="1" dirty="0" smtClean="0">
                <a:latin typeface="Times New Roman" pitchFamily="18" charset="0"/>
                <a:cs typeface="Times New Roman" pitchFamily="18" charset="0"/>
              </a:rPr>
              <a:t>   Phonetics</a:t>
            </a:r>
            <a:r>
              <a:rPr lang="en-US" sz="2000" dirty="0" smtClean="0">
                <a:latin typeface="Times New Roman" pitchFamily="18" charset="0"/>
                <a:cs typeface="Times New Roman" pitchFamily="18" charset="0"/>
              </a:rPr>
              <a:t>, 17, 1-15.</a:t>
            </a:r>
          </a:p>
          <a:p>
            <a:r>
              <a:rPr lang="en-US" sz="2000" dirty="0" smtClean="0">
                <a:latin typeface="Times New Roman" pitchFamily="18" charset="0"/>
                <a:cs typeface="Times New Roman" pitchFamily="18" charset="0"/>
              </a:rPr>
              <a:t>Robb, M. &amp; </a:t>
            </a:r>
            <a:r>
              <a:rPr lang="en-US" sz="2000" dirty="0" err="1" smtClean="0">
                <a:latin typeface="Times New Roman" pitchFamily="18" charset="0"/>
                <a:cs typeface="Times New Roman" pitchFamily="18" charset="0"/>
              </a:rPr>
              <a:t>Gillon</a:t>
            </a:r>
            <a:r>
              <a:rPr lang="en-US" sz="2000" dirty="0" smtClean="0">
                <a:latin typeface="Times New Roman" pitchFamily="18" charset="0"/>
                <a:cs typeface="Times New Roman" pitchFamily="18" charset="0"/>
              </a:rPr>
              <a:t>, G. (2007). Speech rates of New Zealand English – and American English – speaking children. </a:t>
            </a:r>
            <a:r>
              <a:rPr lang="en-US" sz="2000" i="1" dirty="0" smtClean="0">
                <a:latin typeface="Times New Roman" pitchFamily="18" charset="0"/>
                <a:cs typeface="Times New Roman" pitchFamily="18" charset="0"/>
              </a:rPr>
              <a:t>Advances in Speech-</a:t>
            </a:r>
          </a:p>
          <a:p>
            <a:r>
              <a:rPr lang="en-US" sz="2000" i="1" dirty="0" smtClean="0">
                <a:latin typeface="Times New Roman" pitchFamily="18" charset="0"/>
                <a:cs typeface="Times New Roman" pitchFamily="18" charset="0"/>
              </a:rPr>
              <a:t>   Language Pathology</a:t>
            </a:r>
            <a:r>
              <a:rPr lang="en-US" sz="2000" dirty="0" smtClean="0">
                <a:latin typeface="Times New Roman" pitchFamily="18" charset="0"/>
                <a:cs typeface="Times New Roman" pitchFamily="18" charset="0"/>
              </a:rPr>
              <a:t>, 9 (2), 173-180.</a:t>
            </a:r>
          </a:p>
          <a:p>
            <a:r>
              <a:rPr lang="en-US" sz="2000" dirty="0" smtClean="0">
                <a:latin typeface="Times New Roman" pitchFamily="18" charset="0"/>
                <a:cs typeface="Times New Roman" pitchFamily="18" charset="0"/>
              </a:rPr>
              <a:t>Roach, P. (1998). </a:t>
            </a:r>
            <a:r>
              <a:rPr lang="en-US" sz="2000" i="1" dirty="0" smtClean="0">
                <a:latin typeface="Times New Roman" pitchFamily="18" charset="0"/>
                <a:cs typeface="Times New Roman" pitchFamily="18" charset="0"/>
              </a:rPr>
              <a:t>Some languages are spoken more quickly than others</a:t>
            </a:r>
            <a:r>
              <a:rPr lang="en-US" sz="2000" dirty="0" smtClean="0">
                <a:latin typeface="Times New Roman" pitchFamily="18" charset="0"/>
                <a:cs typeface="Times New Roman" pitchFamily="18" charset="0"/>
              </a:rPr>
              <a:t>. </a:t>
            </a:r>
            <a:r>
              <a:rPr lang="en-US" sz="2000" u="sng" dirty="0" smtClean="0">
                <a:latin typeface="Times New Roman" pitchFamily="18" charset="0"/>
                <a:cs typeface="Times New Roman" pitchFamily="18" charset="0"/>
              </a:rPr>
              <a:t>Language Myths</a:t>
            </a:r>
            <a:r>
              <a:rPr lang="en-US" sz="2000" dirty="0" smtClean="0">
                <a:latin typeface="Times New Roman" pitchFamily="18" charset="0"/>
                <a:cs typeface="Times New Roman" pitchFamily="18" charset="0"/>
              </a:rPr>
              <a:t> (Bauer, L. &amp; </a:t>
            </a:r>
            <a:r>
              <a:rPr lang="en-US" sz="2000" dirty="0" err="1" smtClean="0">
                <a:latin typeface="Times New Roman" pitchFamily="18" charset="0"/>
                <a:cs typeface="Times New Roman" pitchFamily="18" charset="0"/>
              </a:rPr>
              <a:t>Trudgill</a:t>
            </a:r>
            <a:r>
              <a:rPr lang="en-US" sz="2000" dirty="0" smtClean="0">
                <a:latin typeface="Times New Roman" pitchFamily="18" charset="0"/>
                <a:cs typeface="Times New Roman" pitchFamily="18" charset="0"/>
              </a:rPr>
              <a:t>, P. eds.). Penguin Group, </a:t>
            </a:r>
          </a:p>
          <a:p>
            <a:r>
              <a:rPr lang="en-US" sz="2000" dirty="0" smtClean="0">
                <a:latin typeface="Times New Roman" pitchFamily="18" charset="0"/>
                <a:cs typeface="Times New Roman" pitchFamily="18" charset="0"/>
              </a:rPr>
              <a:t>   150-158.</a:t>
            </a:r>
          </a:p>
          <a:p>
            <a:r>
              <a:rPr lang="en-US" sz="2000" dirty="0" smtClean="0">
                <a:latin typeface="Times New Roman" pitchFamily="18" charset="0"/>
                <a:cs typeface="Times New Roman" pitchFamily="18" charset="0"/>
              </a:rPr>
              <a:t>Sturm, J. A. &amp; </a:t>
            </a:r>
            <a:r>
              <a:rPr lang="en-US" sz="2000" dirty="0" err="1" smtClean="0">
                <a:latin typeface="Times New Roman" pitchFamily="18" charset="0"/>
                <a:cs typeface="Times New Roman" pitchFamily="18" charset="0"/>
              </a:rPr>
              <a:t>Seery</a:t>
            </a:r>
            <a:r>
              <a:rPr lang="en-US" sz="2000" dirty="0" smtClean="0">
                <a:latin typeface="Times New Roman" pitchFamily="18" charset="0"/>
                <a:cs typeface="Times New Roman" pitchFamily="18" charset="0"/>
              </a:rPr>
              <a:t>, C. H., (2007). Speech and articulatory rates of school-age children in conversation and narrative contexts. </a:t>
            </a:r>
            <a:r>
              <a:rPr lang="en-US" sz="2000" i="1" dirty="0" smtClean="0">
                <a:latin typeface="Times New Roman" pitchFamily="18" charset="0"/>
                <a:cs typeface="Times New Roman" pitchFamily="18" charset="0"/>
              </a:rPr>
              <a:t>Language, </a:t>
            </a:r>
          </a:p>
          <a:p>
            <a:r>
              <a:rPr lang="en-US" sz="2000" i="1" dirty="0" smtClean="0">
                <a:latin typeface="Times New Roman" pitchFamily="18" charset="0"/>
                <a:cs typeface="Times New Roman" pitchFamily="18" charset="0"/>
              </a:rPr>
              <a:t>   Speech and Hearing Sciences in Schools</a:t>
            </a:r>
            <a:r>
              <a:rPr lang="en-US" sz="2000" dirty="0" smtClean="0">
                <a:latin typeface="Times New Roman" pitchFamily="18" charset="0"/>
                <a:cs typeface="Times New Roman" pitchFamily="18" charset="0"/>
              </a:rPr>
              <a:t>, 38, 47-59.  </a:t>
            </a:r>
          </a:p>
          <a:p>
            <a:r>
              <a:rPr lang="en-US" sz="2000" dirty="0" err="1" smtClean="0">
                <a:latin typeface="Times New Roman" pitchFamily="18" charset="0"/>
                <a:cs typeface="Times New Roman" pitchFamily="18" charset="0"/>
              </a:rPr>
              <a:t>Tsao</a:t>
            </a:r>
            <a:r>
              <a:rPr lang="en-US" sz="2000" dirty="0" smtClean="0">
                <a:latin typeface="Times New Roman" pitchFamily="18" charset="0"/>
                <a:cs typeface="Times New Roman" pitchFamily="18" charset="0"/>
              </a:rPr>
              <a:t>, Y.C. &amp; </a:t>
            </a:r>
            <a:r>
              <a:rPr lang="en-US" sz="2000" dirty="0" err="1" smtClean="0">
                <a:latin typeface="Times New Roman" pitchFamily="18" charset="0"/>
                <a:cs typeface="Times New Roman" pitchFamily="18" charset="0"/>
              </a:rPr>
              <a:t>Weismer</a:t>
            </a:r>
            <a:r>
              <a:rPr lang="en-US" sz="2000" dirty="0" smtClean="0">
                <a:latin typeface="Times New Roman" pitchFamily="18" charset="0"/>
                <a:cs typeface="Times New Roman" pitchFamily="18" charset="0"/>
              </a:rPr>
              <a:t>, G. (1997). </a:t>
            </a:r>
            <a:r>
              <a:rPr lang="en-US" sz="2000" dirty="0" err="1" smtClean="0">
                <a:latin typeface="Times New Roman" pitchFamily="18" charset="0"/>
                <a:cs typeface="Times New Roman" pitchFamily="18" charset="0"/>
              </a:rPr>
              <a:t>Interspeaker</a:t>
            </a:r>
            <a:r>
              <a:rPr lang="en-US" sz="2000" dirty="0" smtClean="0">
                <a:latin typeface="Times New Roman" pitchFamily="18" charset="0"/>
                <a:cs typeface="Times New Roman" pitchFamily="18" charset="0"/>
              </a:rPr>
              <a:t> variation in habitual speaking rate: Evidence for a neuromuscular component. </a:t>
            </a:r>
            <a:r>
              <a:rPr lang="en-US" sz="2000" i="1" dirty="0" smtClean="0">
                <a:latin typeface="Times New Roman" pitchFamily="18" charset="0"/>
                <a:cs typeface="Times New Roman" pitchFamily="18" charset="0"/>
              </a:rPr>
              <a:t>Journal of </a:t>
            </a:r>
          </a:p>
          <a:p>
            <a:r>
              <a:rPr lang="en-US" sz="2000" i="1" dirty="0" smtClean="0">
                <a:latin typeface="Times New Roman" pitchFamily="18" charset="0"/>
                <a:cs typeface="Times New Roman" pitchFamily="18" charset="0"/>
              </a:rPr>
              <a:t>   Speech, Language, and Hearing Research</a:t>
            </a:r>
            <a:r>
              <a:rPr lang="en-US" sz="2000" dirty="0" smtClean="0">
                <a:latin typeface="Times New Roman" pitchFamily="18" charset="0"/>
                <a:cs typeface="Times New Roman" pitchFamily="18" charset="0"/>
              </a:rPr>
              <a:t>, 40, 858-866.</a:t>
            </a:r>
          </a:p>
          <a:p>
            <a:r>
              <a:rPr lang="en-US" sz="2000" dirty="0" err="1" smtClean="0">
                <a:latin typeface="Times New Roman" pitchFamily="18" charset="0"/>
                <a:cs typeface="Times New Roman" pitchFamily="18" charset="0"/>
              </a:rPr>
              <a:t>Tsao</a:t>
            </a:r>
            <a:r>
              <a:rPr lang="en-US" sz="2000" dirty="0" smtClean="0">
                <a:latin typeface="Times New Roman" pitchFamily="18" charset="0"/>
                <a:cs typeface="Times New Roman" pitchFamily="18" charset="0"/>
              </a:rPr>
              <a:t>, Y.C., </a:t>
            </a:r>
            <a:r>
              <a:rPr lang="en-US" sz="2000" dirty="0" err="1" smtClean="0">
                <a:latin typeface="Times New Roman" pitchFamily="18" charset="0"/>
                <a:cs typeface="Times New Roman" pitchFamily="18" charset="0"/>
              </a:rPr>
              <a:t>Weismer</a:t>
            </a:r>
            <a:r>
              <a:rPr lang="en-US" sz="2000" dirty="0" smtClean="0">
                <a:latin typeface="Times New Roman" pitchFamily="18" charset="0"/>
                <a:cs typeface="Times New Roman" pitchFamily="18" charset="0"/>
              </a:rPr>
              <a:t>, G. &amp; </a:t>
            </a:r>
            <a:r>
              <a:rPr lang="en-US" sz="2000" dirty="0" err="1" smtClean="0">
                <a:latin typeface="Times New Roman" pitchFamily="18" charset="0"/>
                <a:cs typeface="Times New Roman" pitchFamily="18" charset="0"/>
              </a:rPr>
              <a:t>Iqbal</a:t>
            </a:r>
            <a:r>
              <a:rPr lang="en-US" sz="2000" dirty="0" smtClean="0">
                <a:latin typeface="Times New Roman" pitchFamily="18" charset="0"/>
                <a:cs typeface="Times New Roman" pitchFamily="18" charset="0"/>
              </a:rPr>
              <a:t>, K. (2006). </a:t>
            </a:r>
            <a:r>
              <a:rPr lang="en-US" sz="2000" dirty="0" err="1" smtClean="0">
                <a:latin typeface="Times New Roman" pitchFamily="18" charset="0"/>
                <a:cs typeface="Times New Roman" pitchFamily="18" charset="0"/>
              </a:rPr>
              <a:t>Interspeaker</a:t>
            </a:r>
            <a:r>
              <a:rPr lang="en-US" sz="2000" dirty="0" smtClean="0">
                <a:latin typeface="Times New Roman" pitchFamily="18" charset="0"/>
                <a:cs typeface="Times New Roman" pitchFamily="18" charset="0"/>
              </a:rPr>
              <a:t> variation in habitual speaking rate: Additional evidence. </a:t>
            </a:r>
            <a:r>
              <a:rPr lang="en-US" sz="2000" i="1" dirty="0" smtClean="0">
                <a:latin typeface="Times New Roman" pitchFamily="18" charset="0"/>
                <a:cs typeface="Times New Roman" pitchFamily="18" charset="0"/>
              </a:rPr>
              <a:t>Journal of Speech, </a:t>
            </a:r>
          </a:p>
          <a:p>
            <a:r>
              <a:rPr lang="en-US" sz="2000" i="1" dirty="0" smtClean="0">
                <a:latin typeface="Times New Roman" pitchFamily="18" charset="0"/>
                <a:cs typeface="Times New Roman" pitchFamily="18" charset="0"/>
              </a:rPr>
              <a:t>   Language and Hearing Research</a:t>
            </a:r>
            <a:r>
              <a:rPr lang="en-US" sz="2000" dirty="0" smtClean="0">
                <a:latin typeface="Times New Roman" pitchFamily="18" charset="0"/>
                <a:cs typeface="Times New Roman" pitchFamily="18" charset="0"/>
              </a:rPr>
              <a:t>, 49, 1156-1164.</a:t>
            </a:r>
          </a:p>
          <a:p>
            <a:r>
              <a:rPr lang="en-US" sz="2000" dirty="0" err="1" smtClean="0">
                <a:latin typeface="Times New Roman" pitchFamily="18" charset="0"/>
                <a:cs typeface="Times New Roman" pitchFamily="18" charset="0"/>
              </a:rPr>
              <a:t>Verhoeven</a:t>
            </a:r>
            <a:r>
              <a:rPr lang="en-US" sz="2000" dirty="0" smtClean="0">
                <a:latin typeface="Times New Roman" pitchFamily="18" charset="0"/>
                <a:cs typeface="Times New Roman" pitchFamily="18" charset="0"/>
              </a:rPr>
              <a:t>, J., De </a:t>
            </a:r>
            <a:r>
              <a:rPr lang="en-US" sz="2000" dirty="0" err="1" smtClean="0">
                <a:latin typeface="Times New Roman" pitchFamily="18" charset="0"/>
                <a:cs typeface="Times New Roman" pitchFamily="18" charset="0"/>
              </a:rPr>
              <a:t>Pauw</a:t>
            </a:r>
            <a:r>
              <a:rPr lang="en-US" sz="2000" dirty="0" smtClean="0">
                <a:latin typeface="Times New Roman" pitchFamily="18" charset="0"/>
                <a:cs typeface="Times New Roman" pitchFamily="18" charset="0"/>
              </a:rPr>
              <a:t>, G., &amp; </a:t>
            </a:r>
            <a:r>
              <a:rPr lang="en-US" sz="2000" dirty="0" err="1" smtClean="0">
                <a:latin typeface="Times New Roman" pitchFamily="18" charset="0"/>
                <a:cs typeface="Times New Roman" pitchFamily="18" charset="0"/>
              </a:rPr>
              <a:t>Kloots</a:t>
            </a:r>
            <a:r>
              <a:rPr lang="en-US" sz="2000" dirty="0" smtClean="0">
                <a:latin typeface="Times New Roman" pitchFamily="18" charset="0"/>
                <a:cs typeface="Times New Roman" pitchFamily="18" charset="0"/>
              </a:rPr>
              <a:t>, H. (2004). Speech rate in a </a:t>
            </a:r>
            <a:r>
              <a:rPr lang="en-US" sz="2000" dirty="0" err="1" smtClean="0">
                <a:latin typeface="Times New Roman" pitchFamily="18" charset="0"/>
                <a:cs typeface="Times New Roman" pitchFamily="18" charset="0"/>
              </a:rPr>
              <a:t>pluricentric</a:t>
            </a:r>
            <a:r>
              <a:rPr lang="en-US" sz="2000" dirty="0" smtClean="0">
                <a:latin typeface="Times New Roman" pitchFamily="18" charset="0"/>
                <a:cs typeface="Times New Roman" pitchFamily="18" charset="0"/>
              </a:rPr>
              <a:t> language: A comparison between </a:t>
            </a:r>
            <a:r>
              <a:rPr lang="en-US" sz="2000" dirty="0" err="1" smtClean="0">
                <a:latin typeface="Times New Roman" pitchFamily="18" charset="0"/>
                <a:cs typeface="Times New Roman" pitchFamily="18" charset="0"/>
              </a:rPr>
              <a:t>dutch</a:t>
            </a:r>
            <a:r>
              <a:rPr lang="en-US" sz="2000" dirty="0" smtClean="0">
                <a:latin typeface="Times New Roman" pitchFamily="18" charset="0"/>
                <a:cs typeface="Times New Roman" pitchFamily="18" charset="0"/>
              </a:rPr>
              <a:t> in </a:t>
            </a:r>
            <a:r>
              <a:rPr lang="en-US" sz="2000" dirty="0" err="1" smtClean="0">
                <a:latin typeface="Times New Roman" pitchFamily="18" charset="0"/>
                <a:cs typeface="Times New Roman" pitchFamily="18" charset="0"/>
              </a:rPr>
              <a:t>belgium</a:t>
            </a:r>
            <a:r>
              <a:rPr lang="en-US" sz="2000" dirty="0" smtClean="0">
                <a:latin typeface="Times New Roman" pitchFamily="18" charset="0"/>
                <a:cs typeface="Times New Roman" pitchFamily="18" charset="0"/>
              </a:rPr>
              <a:t> and the </a:t>
            </a:r>
          </a:p>
          <a:p>
            <a:r>
              <a:rPr lang="en-US" sz="2000" dirty="0" smtClean="0">
                <a:latin typeface="Times New Roman" pitchFamily="18" charset="0"/>
                <a:cs typeface="Times New Roman" pitchFamily="18" charset="0"/>
              </a:rPr>
              <a:t>   Netherlands. </a:t>
            </a:r>
            <a:r>
              <a:rPr lang="en-US" sz="2000" i="1" dirty="0" smtClean="0">
                <a:latin typeface="Times New Roman" pitchFamily="18" charset="0"/>
                <a:cs typeface="Times New Roman" pitchFamily="18" charset="0"/>
              </a:rPr>
              <a:t>Language and Speech</a:t>
            </a:r>
            <a:r>
              <a:rPr lang="en-US" sz="2000" dirty="0" smtClean="0">
                <a:latin typeface="Times New Roman" pitchFamily="18" charset="0"/>
                <a:cs typeface="Times New Roman" pitchFamily="18" charset="0"/>
              </a:rPr>
              <a:t>, 47(3), 297-308.</a:t>
            </a:r>
          </a:p>
          <a:p>
            <a:pPr algn="ctr"/>
            <a:endParaRPr lang="en-US" dirty="0"/>
          </a:p>
        </p:txBody>
      </p:sp>
      <p:graphicFrame>
        <p:nvGraphicFramePr>
          <p:cNvPr id="10" name="Table 9"/>
          <p:cNvGraphicFramePr>
            <a:graphicFrameLocks noGrp="1"/>
          </p:cNvGraphicFramePr>
          <p:nvPr/>
        </p:nvGraphicFramePr>
        <p:xfrm>
          <a:off x="19583400" y="16992600"/>
          <a:ext cx="6913245" cy="4258157"/>
        </p:xfrm>
        <a:graphic>
          <a:graphicData uri="http://schemas.openxmlformats.org/drawingml/2006/table">
            <a:tbl>
              <a:tblPr firstRow="1" bandRow="1">
                <a:tableStyleId>{7DF18680-E054-41AD-8BC1-D1AEF772440D}</a:tableStyleId>
              </a:tblPr>
              <a:tblGrid>
                <a:gridCol w="1163955"/>
                <a:gridCol w="1916430"/>
                <a:gridCol w="1916430"/>
                <a:gridCol w="1916430"/>
              </a:tblGrid>
              <a:tr h="461720">
                <a:tc>
                  <a:txBody>
                    <a:bodyPr/>
                    <a:lstStyle/>
                    <a:p>
                      <a:endParaRPr lang="en-US" sz="2000" dirty="0">
                        <a:latin typeface="Times New Roman" pitchFamily="18" charset="0"/>
                        <a:cs typeface="Times New Roman" pitchFamily="18" charset="0"/>
                      </a:endParaRPr>
                    </a:p>
                  </a:txBody>
                  <a:tcPr/>
                </a:tc>
                <a:tc>
                  <a:txBody>
                    <a:bodyPr/>
                    <a:lstStyle/>
                    <a:p>
                      <a:r>
                        <a:rPr lang="en-US" sz="2000" dirty="0" smtClean="0"/>
                        <a:t>Participant</a:t>
                      </a:r>
                      <a:r>
                        <a:rPr lang="en-US" sz="2000" baseline="0" dirty="0" smtClean="0"/>
                        <a:t> 001</a:t>
                      </a:r>
                      <a:endParaRPr lang="en-US" sz="2000" dirty="0">
                        <a:latin typeface="Times New Roman" pitchFamily="18" charset="0"/>
                        <a:cs typeface="Times New Roman" pitchFamily="18" charset="0"/>
                      </a:endParaRPr>
                    </a:p>
                  </a:txBody>
                  <a:tcPr/>
                </a:tc>
                <a:tc>
                  <a:txBody>
                    <a:bodyPr/>
                    <a:lstStyle/>
                    <a:p>
                      <a:r>
                        <a:rPr lang="en-US" sz="2000" dirty="0" smtClean="0"/>
                        <a:t>Participant 002</a:t>
                      </a:r>
                      <a:endParaRPr lang="en-US" sz="2000" dirty="0">
                        <a:latin typeface="Times New Roman" pitchFamily="18" charset="0"/>
                        <a:cs typeface="Times New Roman" pitchFamily="18" charset="0"/>
                      </a:endParaRPr>
                    </a:p>
                  </a:txBody>
                  <a:tcPr/>
                </a:tc>
                <a:tc>
                  <a:txBody>
                    <a:bodyPr/>
                    <a:lstStyle/>
                    <a:p>
                      <a:r>
                        <a:rPr lang="en-US" sz="2000" dirty="0" smtClean="0"/>
                        <a:t>Participant 003</a:t>
                      </a:r>
                      <a:endParaRPr lang="en-US" sz="2000" dirty="0">
                        <a:latin typeface="Times New Roman" pitchFamily="18" charset="0"/>
                        <a:cs typeface="Times New Roman" pitchFamily="18" charset="0"/>
                      </a:endParaRPr>
                    </a:p>
                  </a:txBody>
                  <a:tcPr/>
                </a:tc>
              </a:tr>
              <a:tr h="528880">
                <a:tc>
                  <a:txBody>
                    <a:bodyPr/>
                    <a:lstStyle/>
                    <a:p>
                      <a:r>
                        <a:rPr lang="en-US" sz="2000" dirty="0" smtClean="0"/>
                        <a:t>Seconds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r>
              <a:tr h="461720">
                <a:tc>
                  <a:txBody>
                    <a:bodyPr/>
                    <a:lstStyle/>
                    <a:p>
                      <a:r>
                        <a:rPr lang="en-US" sz="2000" dirty="0" smtClean="0"/>
                        <a:t>0-10</a:t>
                      </a:r>
                      <a:endParaRPr lang="en-US" sz="2000" dirty="0">
                        <a:latin typeface="Times New Roman" pitchFamily="18" charset="0"/>
                        <a:cs typeface="Times New Roman" pitchFamily="18" charset="0"/>
                      </a:endParaRPr>
                    </a:p>
                  </a:txBody>
                  <a:tcPr/>
                </a:tc>
                <a:tc>
                  <a:txBody>
                    <a:bodyPr/>
                    <a:lstStyle/>
                    <a:p>
                      <a:pPr marL="0" marR="0" indent="0" algn="l" defTabSz="4807092" rtl="0" eaLnBrk="1" fontAlgn="auto" latinLnBrk="0" hangingPunct="1">
                        <a:lnSpc>
                          <a:spcPct val="100000"/>
                        </a:lnSpc>
                        <a:spcBef>
                          <a:spcPts val="0"/>
                        </a:spcBef>
                        <a:spcAft>
                          <a:spcPts val="0"/>
                        </a:spcAft>
                        <a:buClrTx/>
                        <a:buSzTx/>
                        <a:buFontTx/>
                        <a:buNone/>
                        <a:tabLst/>
                        <a:defRPr/>
                      </a:pPr>
                      <a:r>
                        <a:rPr lang="en-US" sz="2000" dirty="0" smtClean="0"/>
                        <a:t>5.3</a:t>
                      </a:r>
                      <a:endParaRPr lang="en-US" sz="2000" dirty="0" smtClean="0">
                        <a:latin typeface="Times New Roman" pitchFamily="18" charset="0"/>
                        <a:cs typeface="Times New Roman" pitchFamily="18" charset="0"/>
                      </a:endParaRPr>
                    </a:p>
                  </a:txBody>
                  <a:tcPr/>
                </a:tc>
                <a:tc>
                  <a:txBody>
                    <a:bodyPr/>
                    <a:lstStyle/>
                    <a:p>
                      <a:r>
                        <a:rPr lang="en-US" sz="2000" dirty="0" smtClean="0"/>
                        <a:t>5.9</a:t>
                      </a:r>
                      <a:endParaRPr lang="en-US" sz="2000" dirty="0">
                        <a:latin typeface="Times New Roman" pitchFamily="18" charset="0"/>
                        <a:cs typeface="Times New Roman" pitchFamily="18" charset="0"/>
                      </a:endParaRPr>
                    </a:p>
                  </a:txBody>
                  <a:tcPr/>
                </a:tc>
                <a:tc>
                  <a:txBody>
                    <a:bodyPr/>
                    <a:lstStyle/>
                    <a:p>
                      <a:r>
                        <a:rPr lang="en-US" sz="2000" dirty="0" smtClean="0"/>
                        <a:t>5.2</a:t>
                      </a:r>
                      <a:endParaRPr lang="en-US" sz="2000" dirty="0">
                        <a:latin typeface="Times New Roman" pitchFamily="18" charset="0"/>
                        <a:cs typeface="Times New Roman" pitchFamily="18" charset="0"/>
                      </a:endParaRPr>
                    </a:p>
                  </a:txBody>
                  <a:tcPr/>
                </a:tc>
              </a:tr>
              <a:tr h="461720">
                <a:tc>
                  <a:txBody>
                    <a:bodyPr/>
                    <a:lstStyle/>
                    <a:p>
                      <a:r>
                        <a:rPr lang="en-US" sz="2000" dirty="0" smtClean="0"/>
                        <a:t>10-20</a:t>
                      </a:r>
                      <a:endParaRPr lang="en-US" sz="2000" dirty="0">
                        <a:latin typeface="Times New Roman" pitchFamily="18" charset="0"/>
                        <a:cs typeface="Times New Roman" pitchFamily="18" charset="0"/>
                      </a:endParaRPr>
                    </a:p>
                  </a:txBody>
                  <a:tcPr/>
                </a:tc>
                <a:tc>
                  <a:txBody>
                    <a:bodyPr/>
                    <a:lstStyle/>
                    <a:p>
                      <a:r>
                        <a:rPr lang="en-US" sz="2000" dirty="0" smtClean="0"/>
                        <a:t>5.2</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c>
                  <a:txBody>
                    <a:bodyPr/>
                    <a:lstStyle/>
                    <a:p>
                      <a:r>
                        <a:rPr lang="en-US" sz="2000" dirty="0" smtClean="0"/>
                        <a:t>5.4</a:t>
                      </a:r>
                      <a:endParaRPr lang="en-US" sz="2000" dirty="0">
                        <a:latin typeface="Times New Roman" pitchFamily="18" charset="0"/>
                        <a:cs typeface="Times New Roman" pitchFamily="18" charset="0"/>
                      </a:endParaRPr>
                    </a:p>
                  </a:txBody>
                  <a:tcPr/>
                </a:tc>
              </a:tr>
              <a:tr h="461720">
                <a:tc>
                  <a:txBody>
                    <a:bodyPr/>
                    <a:lstStyle/>
                    <a:p>
                      <a:r>
                        <a:rPr lang="en-US" sz="2000" dirty="0" smtClean="0"/>
                        <a:t>20-30</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c>
                  <a:txBody>
                    <a:bodyPr/>
                    <a:lstStyle/>
                    <a:p>
                      <a:r>
                        <a:rPr lang="en-US" sz="2000" dirty="0" smtClean="0"/>
                        <a:t>5.4</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r>
              <a:tr h="461720">
                <a:tc>
                  <a:txBody>
                    <a:bodyPr/>
                    <a:lstStyle/>
                    <a:p>
                      <a:r>
                        <a:rPr lang="en-US" sz="2000" dirty="0" smtClean="0"/>
                        <a:t>30-40</a:t>
                      </a:r>
                      <a:endParaRPr lang="en-US" sz="2000" dirty="0">
                        <a:latin typeface="Times New Roman" pitchFamily="18" charset="0"/>
                        <a:cs typeface="Times New Roman" pitchFamily="18" charset="0"/>
                      </a:endParaRPr>
                    </a:p>
                  </a:txBody>
                  <a:tcPr/>
                </a:tc>
                <a:tc>
                  <a:txBody>
                    <a:bodyPr/>
                    <a:lstStyle/>
                    <a:p>
                      <a:r>
                        <a:rPr lang="en-US" sz="2000" dirty="0" smtClean="0"/>
                        <a:t>6.1</a:t>
                      </a:r>
                      <a:endParaRPr lang="en-US" sz="2000" dirty="0">
                        <a:latin typeface="Times New Roman" pitchFamily="18" charset="0"/>
                        <a:cs typeface="Times New Roman" pitchFamily="18" charset="0"/>
                      </a:endParaRPr>
                    </a:p>
                  </a:txBody>
                  <a:tcPr/>
                </a:tc>
                <a:tc>
                  <a:txBody>
                    <a:bodyPr/>
                    <a:lstStyle/>
                    <a:p>
                      <a:r>
                        <a:rPr lang="en-US" sz="2000" dirty="0" smtClean="0"/>
                        <a:t>5.8</a:t>
                      </a:r>
                      <a:endParaRPr lang="en-US" sz="2000" dirty="0">
                        <a:latin typeface="Times New Roman" pitchFamily="18" charset="0"/>
                        <a:cs typeface="Times New Roman" pitchFamily="18" charset="0"/>
                      </a:endParaRPr>
                    </a:p>
                  </a:txBody>
                  <a:tcPr/>
                </a:tc>
                <a:tc>
                  <a:txBody>
                    <a:bodyPr/>
                    <a:lstStyle/>
                    <a:p>
                      <a:r>
                        <a:rPr lang="en-US" sz="2000" dirty="0" smtClean="0"/>
                        <a:t>5.0</a:t>
                      </a:r>
                      <a:endParaRPr lang="en-US" sz="2000" dirty="0">
                        <a:latin typeface="Times New Roman" pitchFamily="18" charset="0"/>
                        <a:cs typeface="Times New Roman" pitchFamily="18" charset="0"/>
                      </a:endParaRPr>
                    </a:p>
                  </a:txBody>
                  <a:tcPr/>
                </a:tc>
              </a:tr>
              <a:tr h="461720">
                <a:tc>
                  <a:txBody>
                    <a:bodyPr/>
                    <a:lstStyle/>
                    <a:p>
                      <a:r>
                        <a:rPr lang="en-US" sz="2000" dirty="0" smtClean="0"/>
                        <a:t>40-50</a:t>
                      </a:r>
                      <a:endParaRPr lang="en-US" sz="2000" dirty="0">
                        <a:latin typeface="Times New Roman" pitchFamily="18" charset="0"/>
                        <a:cs typeface="Times New Roman" pitchFamily="18" charset="0"/>
                      </a:endParaRPr>
                    </a:p>
                  </a:txBody>
                  <a:tcPr/>
                </a:tc>
                <a:tc>
                  <a:txBody>
                    <a:bodyPr/>
                    <a:lstStyle/>
                    <a:p>
                      <a:r>
                        <a:rPr lang="en-US" sz="2000" dirty="0" smtClean="0"/>
                        <a:t>6.2</a:t>
                      </a:r>
                      <a:endParaRPr lang="en-US" sz="2000" dirty="0">
                        <a:latin typeface="Times New Roman" pitchFamily="18" charset="0"/>
                        <a:cs typeface="Times New Roman" pitchFamily="18" charset="0"/>
                      </a:endParaRPr>
                    </a:p>
                  </a:txBody>
                  <a:tcPr/>
                </a:tc>
                <a:tc>
                  <a:txBody>
                    <a:bodyPr/>
                    <a:lstStyle/>
                    <a:p>
                      <a:r>
                        <a:rPr lang="en-US" sz="2000" dirty="0" smtClean="0"/>
                        <a:t>5.9</a:t>
                      </a:r>
                      <a:endParaRPr lang="en-US" sz="2000" dirty="0">
                        <a:latin typeface="Times New Roman" pitchFamily="18" charset="0"/>
                        <a:cs typeface="Times New Roman" pitchFamily="18" charset="0"/>
                      </a:endParaRPr>
                    </a:p>
                  </a:txBody>
                  <a:tcPr/>
                </a:tc>
                <a:tc>
                  <a:txBody>
                    <a:bodyPr/>
                    <a:lstStyle/>
                    <a:p>
                      <a:r>
                        <a:rPr lang="en-US" sz="2000" dirty="0" smtClean="0"/>
                        <a:t>5.6</a:t>
                      </a:r>
                      <a:endParaRPr lang="en-US" sz="2000" dirty="0">
                        <a:latin typeface="Times New Roman" pitchFamily="18" charset="0"/>
                        <a:cs typeface="Times New Roman" pitchFamily="18" charset="0"/>
                      </a:endParaRPr>
                    </a:p>
                  </a:txBody>
                  <a:tcPr/>
                </a:tc>
              </a:tr>
              <a:tr h="461720">
                <a:tc>
                  <a:txBody>
                    <a:bodyPr/>
                    <a:lstStyle/>
                    <a:p>
                      <a:r>
                        <a:rPr lang="en-US" sz="2000" dirty="0" smtClean="0"/>
                        <a:t>50-60</a:t>
                      </a:r>
                      <a:endParaRPr lang="en-US" sz="2000" dirty="0">
                        <a:latin typeface="Times New Roman" pitchFamily="18" charset="0"/>
                        <a:cs typeface="Times New Roman" pitchFamily="18" charset="0"/>
                      </a:endParaRPr>
                    </a:p>
                  </a:txBody>
                  <a:tcPr/>
                </a:tc>
                <a:tc>
                  <a:txBody>
                    <a:bodyPr/>
                    <a:lstStyle/>
                    <a:p>
                      <a:r>
                        <a:rPr lang="en-US" sz="2000" dirty="0" smtClean="0"/>
                        <a:t>4.5</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r>
              <a:tr h="497237">
                <a:tc>
                  <a:txBody>
                    <a:bodyPr/>
                    <a:lstStyle/>
                    <a:p>
                      <a:r>
                        <a:rPr lang="en-US" sz="2000" dirty="0" smtClean="0"/>
                        <a:t>Total</a:t>
                      </a:r>
                      <a:endParaRPr lang="en-US" sz="2000" dirty="0">
                        <a:latin typeface="Times New Roman" pitchFamily="18" charset="0"/>
                        <a:cs typeface="Times New Roman" pitchFamily="18" charset="0"/>
                      </a:endParaRPr>
                    </a:p>
                  </a:txBody>
                  <a:tcPr/>
                </a:tc>
                <a:tc>
                  <a:txBody>
                    <a:bodyPr/>
                    <a:lstStyle/>
                    <a:p>
                      <a:r>
                        <a:rPr lang="en-US" sz="2000" dirty="0" smtClean="0"/>
                        <a:t>5.5</a:t>
                      </a:r>
                      <a:endParaRPr lang="en-US" sz="2000" dirty="0">
                        <a:latin typeface="Times New Roman" pitchFamily="18" charset="0"/>
                        <a:cs typeface="Times New Roman" pitchFamily="18" charset="0"/>
                      </a:endParaRPr>
                    </a:p>
                  </a:txBody>
                  <a:tcPr/>
                </a:tc>
                <a:tc>
                  <a:txBody>
                    <a:bodyPr/>
                    <a:lstStyle/>
                    <a:p>
                      <a:r>
                        <a:rPr lang="en-US" sz="2000" dirty="0" smtClean="0"/>
                        <a:t>5.7</a:t>
                      </a:r>
                      <a:endParaRPr lang="en-US" sz="2000" dirty="0">
                        <a:latin typeface="Times New Roman" pitchFamily="18" charset="0"/>
                        <a:cs typeface="Times New Roman" pitchFamily="18" charset="0"/>
                      </a:endParaRPr>
                    </a:p>
                  </a:txBody>
                  <a:tcPr/>
                </a:tc>
                <a:tc>
                  <a:txBody>
                    <a:bodyPr/>
                    <a:lstStyle/>
                    <a:p>
                      <a:r>
                        <a:rPr lang="en-US" sz="2000" dirty="0" smtClean="0"/>
                        <a:t>5.4</a:t>
                      </a:r>
                      <a:endParaRPr lang="en-US" sz="2000" dirty="0">
                        <a:latin typeface="Times New Roman" pitchFamily="18" charset="0"/>
                        <a:cs typeface="Times New Roman" pitchFamily="18" charset="0"/>
                      </a:endParaRPr>
                    </a:p>
                  </a:txBody>
                  <a:tcPr/>
                </a:tc>
              </a:tr>
            </a:tbl>
          </a:graphicData>
        </a:graphic>
      </p:graphicFrame>
      <p:graphicFrame>
        <p:nvGraphicFramePr>
          <p:cNvPr id="11" name="Table 10"/>
          <p:cNvGraphicFramePr>
            <a:graphicFrameLocks noGrp="1"/>
          </p:cNvGraphicFramePr>
          <p:nvPr/>
        </p:nvGraphicFramePr>
        <p:xfrm>
          <a:off x="26670000" y="16992599"/>
          <a:ext cx="6918008" cy="4191000"/>
        </p:xfrm>
        <a:graphic>
          <a:graphicData uri="http://schemas.openxmlformats.org/drawingml/2006/table">
            <a:tbl>
              <a:tblPr firstRow="1" bandRow="1">
                <a:tableStyleId>{00A15C55-8517-42AA-B614-E9B94910E393}</a:tableStyleId>
              </a:tblPr>
              <a:tblGrid>
                <a:gridCol w="1104686"/>
                <a:gridCol w="1937774"/>
                <a:gridCol w="1937774"/>
                <a:gridCol w="1937774"/>
              </a:tblGrid>
              <a:tr h="460850">
                <a:tc>
                  <a:txBody>
                    <a:bodyPr/>
                    <a:lstStyle/>
                    <a:p>
                      <a:endParaRPr lang="en-US" sz="2000" dirty="0">
                        <a:latin typeface="Times New Roman" pitchFamily="18" charset="0"/>
                        <a:cs typeface="Times New Roman" pitchFamily="18" charset="0"/>
                      </a:endParaRPr>
                    </a:p>
                  </a:txBody>
                  <a:tcPr/>
                </a:tc>
                <a:tc>
                  <a:txBody>
                    <a:bodyPr/>
                    <a:lstStyle/>
                    <a:p>
                      <a:r>
                        <a:rPr lang="en-US" sz="2000" dirty="0" smtClean="0"/>
                        <a:t>Participant 004</a:t>
                      </a:r>
                      <a:endParaRPr lang="en-US" sz="2000" dirty="0">
                        <a:latin typeface="Times New Roman" pitchFamily="18" charset="0"/>
                        <a:cs typeface="Times New Roman" pitchFamily="18" charset="0"/>
                      </a:endParaRPr>
                    </a:p>
                  </a:txBody>
                  <a:tcPr/>
                </a:tc>
                <a:tc>
                  <a:txBody>
                    <a:bodyPr/>
                    <a:lstStyle/>
                    <a:p>
                      <a:r>
                        <a:rPr lang="en-US" sz="2000" dirty="0" smtClean="0"/>
                        <a:t>Participant 005</a:t>
                      </a:r>
                      <a:endParaRPr lang="en-US" sz="2000" dirty="0">
                        <a:latin typeface="Times New Roman" pitchFamily="18" charset="0"/>
                        <a:cs typeface="Times New Roman" pitchFamily="18" charset="0"/>
                      </a:endParaRPr>
                    </a:p>
                  </a:txBody>
                  <a:tcPr/>
                </a:tc>
                <a:tc>
                  <a:txBody>
                    <a:bodyPr/>
                    <a:lstStyle/>
                    <a:p>
                      <a:r>
                        <a:rPr lang="en-US" sz="2000" dirty="0" smtClean="0"/>
                        <a:t>Participant 006</a:t>
                      </a:r>
                      <a:endParaRPr lang="en-US" sz="2000" dirty="0">
                        <a:latin typeface="Times New Roman" pitchFamily="18" charset="0"/>
                        <a:cs typeface="Times New Roman" pitchFamily="18" charset="0"/>
                      </a:endParaRPr>
                    </a:p>
                  </a:txBody>
                  <a:tcPr/>
                </a:tc>
              </a:tr>
              <a:tr h="458922">
                <a:tc>
                  <a:txBody>
                    <a:bodyPr/>
                    <a:lstStyle/>
                    <a:p>
                      <a:r>
                        <a:rPr lang="en-US" sz="2000" dirty="0" smtClean="0"/>
                        <a:t>Seconds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c>
                  <a:txBody>
                    <a:bodyPr/>
                    <a:lstStyle/>
                    <a:p>
                      <a:r>
                        <a:rPr lang="en-US" sz="2000" dirty="0" smtClean="0"/>
                        <a:t>Average SPS</a:t>
                      </a:r>
                      <a:endParaRPr lang="en-US" sz="2000" dirty="0">
                        <a:latin typeface="Times New Roman" pitchFamily="18" charset="0"/>
                        <a:cs typeface="Times New Roman" pitchFamily="18" charset="0"/>
                      </a:endParaRPr>
                    </a:p>
                  </a:txBody>
                  <a:tcPr/>
                </a:tc>
              </a:tr>
              <a:tr h="483244">
                <a:tc>
                  <a:txBody>
                    <a:bodyPr/>
                    <a:lstStyle/>
                    <a:p>
                      <a:pPr marL="0" marR="0" algn="l">
                        <a:lnSpc>
                          <a:spcPct val="115000"/>
                        </a:lnSpc>
                        <a:spcBef>
                          <a:spcPts val="0"/>
                        </a:spcBef>
                        <a:spcAft>
                          <a:spcPts val="0"/>
                        </a:spcAft>
                      </a:pPr>
                      <a:r>
                        <a:rPr lang="en-US" sz="2000" dirty="0"/>
                        <a:t>0-10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indent="0" algn="l" defTabSz="4807092" rtl="0" eaLnBrk="1" fontAlgn="auto" latinLnBrk="0" hangingPunct="1">
                        <a:lnSpc>
                          <a:spcPct val="115000"/>
                        </a:lnSpc>
                        <a:spcBef>
                          <a:spcPts val="0"/>
                        </a:spcBef>
                        <a:spcAft>
                          <a:spcPts val="0"/>
                        </a:spcAft>
                        <a:buClrTx/>
                        <a:buSzTx/>
                        <a:buFontTx/>
                        <a:buNone/>
                        <a:tabLst/>
                        <a:defRPr/>
                      </a:pPr>
                      <a:r>
                        <a:rPr lang="en-US" sz="2000" dirty="0" smtClean="0"/>
                        <a:t>7.0</a:t>
                      </a:r>
                      <a:endParaRPr lang="en-US" sz="2000" dirty="0" smtClean="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5.8</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6.5</a:t>
                      </a:r>
                      <a:endParaRPr lang="en-US" sz="2000" dirty="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a:t>10-20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6.6</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5.9</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6.4</a:t>
                      </a:r>
                      <a:endParaRPr lang="en-US" sz="200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a:t>20-30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6.8</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6.1</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6.8</a:t>
                      </a:r>
                      <a:endParaRPr lang="en-US" sz="200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a:t>30-40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6.7</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6.1</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6.6</a:t>
                      </a:r>
                      <a:endParaRPr lang="en-US" sz="2000" dirty="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a:t>40-50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6.4</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6.3</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7.5</a:t>
                      </a:r>
                      <a:endParaRPr lang="en-US" sz="200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a:t>50-60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6.8</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6.4</a:t>
                      </a:r>
                      <a:endParaRPr lang="en-US" sz="2000">
                        <a:latin typeface="Times New Roman" pitchFamily="18" charset="0"/>
                        <a:ea typeface="Calibri"/>
                        <a:cs typeface="Times New Roman" pitchFamily="18" charset="0"/>
                      </a:endParaRPr>
                    </a:p>
                  </a:txBody>
                  <a:tcPr marL="68580" marR="68580" marT="0" marB="0"/>
                </a:tc>
              </a:tr>
              <a:tr h="464664">
                <a:tc>
                  <a:txBody>
                    <a:bodyPr/>
                    <a:lstStyle/>
                    <a:p>
                      <a:pPr marL="0" marR="0" algn="l">
                        <a:lnSpc>
                          <a:spcPct val="115000"/>
                        </a:lnSpc>
                        <a:spcBef>
                          <a:spcPts val="0"/>
                        </a:spcBef>
                        <a:spcAft>
                          <a:spcPts val="0"/>
                        </a:spcAft>
                      </a:pPr>
                      <a:r>
                        <a:rPr lang="en-US" sz="2000" dirty="0"/>
                        <a:t>Total</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6.7 </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tabLst>
                          <a:tab pos="480060" algn="ctr"/>
                        </a:tabLst>
                      </a:pPr>
                      <a:r>
                        <a:rPr lang="en-US" sz="2000" dirty="0"/>
                        <a:t>6.0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6.7</a:t>
                      </a:r>
                      <a:endParaRPr lang="en-US" sz="2000" dirty="0">
                        <a:latin typeface="Times New Roman" pitchFamily="18" charset="0"/>
                        <a:ea typeface="Calibri"/>
                        <a:cs typeface="Times New Roman" pitchFamily="18" charset="0"/>
                      </a:endParaRPr>
                    </a:p>
                  </a:txBody>
                  <a:tcPr marL="68580" marR="68580" marT="0" marB="0"/>
                </a:tc>
              </a:tr>
            </a:tbl>
          </a:graphicData>
        </a:graphic>
      </p:graphicFrame>
      <p:graphicFrame>
        <p:nvGraphicFramePr>
          <p:cNvPr id="12" name="Table 11"/>
          <p:cNvGraphicFramePr>
            <a:graphicFrameLocks noGrp="1"/>
          </p:cNvGraphicFramePr>
          <p:nvPr/>
        </p:nvGraphicFramePr>
        <p:xfrm>
          <a:off x="19583400" y="23012400"/>
          <a:ext cx="6781800" cy="4419596"/>
        </p:xfrm>
        <a:graphic>
          <a:graphicData uri="http://schemas.openxmlformats.org/drawingml/2006/table">
            <a:tbl>
              <a:tblPr firstRow="1" bandRow="1">
                <a:tableStyleId>{5C22544A-7EE6-4342-B048-85BDC9FD1C3A}</a:tableStyleId>
              </a:tblPr>
              <a:tblGrid>
                <a:gridCol w="1090536"/>
                <a:gridCol w="1897088"/>
                <a:gridCol w="1897088"/>
                <a:gridCol w="1897088"/>
              </a:tblGrid>
              <a:tr h="528788">
                <a:tc>
                  <a:txBody>
                    <a:bodyPr/>
                    <a:lstStyle/>
                    <a:p>
                      <a:pPr marL="0" marR="0" algn="l">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Participant 007</a:t>
                      </a:r>
                      <a:endParaRPr lang="en-US" sz="2000" b="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Participant 008</a:t>
                      </a:r>
                      <a:endParaRPr lang="en-US" sz="2000" b="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Participant 009</a:t>
                      </a:r>
                      <a:endParaRPr lang="en-US" sz="2000" b="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dirty="0"/>
                        <a:t>Seconds</a:t>
                      </a:r>
                      <a:endParaRPr lang="en-US" sz="2000" b="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Average SPS</a:t>
                      </a:r>
                      <a:endParaRPr lang="en-US" sz="2000" b="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Average SPS</a:t>
                      </a:r>
                      <a:endParaRPr lang="en-US" sz="2000" b="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Average SPS</a:t>
                      </a:r>
                      <a:endParaRPr lang="en-US" sz="2000" b="0" dirty="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dirty="0"/>
                        <a:t>0-10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3.9</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3.9</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4.0</a:t>
                      </a:r>
                      <a:endParaRPr lang="en-US" sz="200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10-20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3.2</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4.6</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4.0</a:t>
                      </a:r>
                      <a:endParaRPr lang="en-US" sz="2000" dirty="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20-30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3.1</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4.5</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2.0</a:t>
                      </a:r>
                      <a:endParaRPr lang="en-US" sz="200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30-40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4.2</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3.2</a:t>
                      </a:r>
                      <a:endParaRPr lang="en-US" sz="200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40-50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3.7</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2.9</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a:t>3.0</a:t>
                      </a:r>
                      <a:endParaRPr lang="en-US" sz="200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50-60</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2.6</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4.0</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3.0</a:t>
                      </a:r>
                      <a:endParaRPr lang="en-US" sz="2000" dirty="0">
                        <a:latin typeface="Times New Roman" pitchFamily="18" charset="0"/>
                        <a:ea typeface="Calibri"/>
                        <a:cs typeface="Times New Roman" pitchFamily="18" charset="0"/>
                      </a:endParaRPr>
                    </a:p>
                  </a:txBody>
                  <a:tcPr marL="68580" marR="68580" marT="0" marB="0"/>
                </a:tc>
              </a:tr>
              <a:tr h="486351">
                <a:tc>
                  <a:txBody>
                    <a:bodyPr/>
                    <a:lstStyle/>
                    <a:p>
                      <a:pPr marL="0" marR="0" algn="l">
                        <a:lnSpc>
                          <a:spcPct val="115000"/>
                        </a:lnSpc>
                        <a:spcBef>
                          <a:spcPts val="0"/>
                        </a:spcBef>
                        <a:spcAft>
                          <a:spcPts val="0"/>
                        </a:spcAft>
                      </a:pPr>
                      <a:r>
                        <a:rPr lang="en-US" sz="2000"/>
                        <a:t>Total</a:t>
                      </a:r>
                      <a:endParaRPr lang="en-US" sz="200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3.5</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3.8</a:t>
                      </a:r>
                      <a:endParaRPr lang="en-US" sz="2000" dirty="0">
                        <a:latin typeface="Times New Roman" pitchFamily="18" charset="0"/>
                        <a:ea typeface="Calibri"/>
                        <a:cs typeface="Times New Roman" pitchFamily="18" charset="0"/>
                      </a:endParaRPr>
                    </a:p>
                  </a:txBody>
                  <a:tcPr marL="68580" marR="68580" marT="0" marB="0"/>
                </a:tc>
                <a:tc>
                  <a:txBody>
                    <a:bodyPr/>
                    <a:lstStyle/>
                    <a:p>
                      <a:pPr marL="0" marR="0" algn="l">
                        <a:lnSpc>
                          <a:spcPct val="115000"/>
                        </a:lnSpc>
                        <a:spcBef>
                          <a:spcPts val="0"/>
                        </a:spcBef>
                        <a:spcAft>
                          <a:spcPts val="0"/>
                        </a:spcAft>
                      </a:pPr>
                      <a:r>
                        <a:rPr lang="en-US" sz="2000" dirty="0"/>
                        <a:t>3.2</a:t>
                      </a:r>
                      <a:endParaRPr lang="en-US" sz="2000" dirty="0">
                        <a:latin typeface="Times New Roman" pitchFamily="18" charset="0"/>
                        <a:ea typeface="Calibri"/>
                        <a:cs typeface="Times New Roman" pitchFamily="18" charset="0"/>
                      </a:endParaRPr>
                    </a:p>
                  </a:txBody>
                  <a:tcPr marL="68580" marR="68580" marT="0" marB="0"/>
                </a:tc>
              </a:tr>
            </a:tbl>
          </a:graphicData>
        </a:graphic>
      </p:graphicFrame>
      <p:graphicFrame>
        <p:nvGraphicFramePr>
          <p:cNvPr id="13" name="Table 12"/>
          <p:cNvGraphicFramePr>
            <a:graphicFrameLocks noGrp="1"/>
          </p:cNvGraphicFramePr>
          <p:nvPr/>
        </p:nvGraphicFramePr>
        <p:xfrm>
          <a:off x="26898600" y="23012400"/>
          <a:ext cx="6629399" cy="4419600"/>
        </p:xfrm>
        <a:graphic>
          <a:graphicData uri="http://schemas.openxmlformats.org/drawingml/2006/table">
            <a:tbl>
              <a:tblPr firstRow="1" bandRow="1">
                <a:tableStyleId>{21E4AEA4-8DFA-4A89-87EB-49C32662AFE0}</a:tableStyleId>
              </a:tblPr>
              <a:tblGrid>
                <a:gridCol w="2592218"/>
                <a:gridCol w="1345727"/>
                <a:gridCol w="1345727"/>
                <a:gridCol w="1345727"/>
              </a:tblGrid>
              <a:tr h="883920">
                <a:tc>
                  <a:txBody>
                    <a:bodyPr/>
                    <a:lstStyle/>
                    <a:p>
                      <a:endParaRPr lang="en-US" sz="2000" dirty="0">
                        <a:latin typeface="Times New Roman" pitchFamily="18" charset="0"/>
                        <a:cs typeface="Times New Roman" pitchFamily="18" charset="0"/>
                      </a:endParaRPr>
                    </a:p>
                  </a:txBody>
                  <a:tcPr/>
                </a:tc>
                <a:tc>
                  <a:txBody>
                    <a:bodyPr/>
                    <a:lstStyle/>
                    <a:p>
                      <a:endParaRPr lang="en-US" sz="2000" dirty="0" smtClean="0"/>
                    </a:p>
                    <a:p>
                      <a:r>
                        <a:rPr lang="en-US" sz="2000" dirty="0" smtClean="0"/>
                        <a:t>English</a:t>
                      </a:r>
                      <a:endParaRPr lang="en-US" sz="2000" dirty="0">
                        <a:latin typeface="Times New Roman" pitchFamily="18" charset="0"/>
                        <a:cs typeface="Times New Roman" pitchFamily="18" charset="0"/>
                      </a:endParaRPr>
                    </a:p>
                  </a:txBody>
                  <a:tcPr/>
                </a:tc>
                <a:tc>
                  <a:txBody>
                    <a:bodyPr/>
                    <a:lstStyle/>
                    <a:p>
                      <a:endParaRPr lang="en-US" sz="2000" dirty="0" smtClean="0"/>
                    </a:p>
                    <a:p>
                      <a:r>
                        <a:rPr lang="en-US" sz="2000" dirty="0" smtClean="0"/>
                        <a:t>Arabic</a:t>
                      </a:r>
                      <a:endParaRPr lang="en-US" sz="2000" dirty="0">
                        <a:latin typeface="Times New Roman" pitchFamily="18" charset="0"/>
                        <a:cs typeface="Times New Roman" pitchFamily="18" charset="0"/>
                      </a:endParaRPr>
                    </a:p>
                  </a:txBody>
                  <a:tcPr/>
                </a:tc>
                <a:tc>
                  <a:txBody>
                    <a:bodyPr/>
                    <a:lstStyle/>
                    <a:p>
                      <a:endParaRPr lang="en-US" sz="2000" dirty="0" smtClean="0"/>
                    </a:p>
                    <a:p>
                      <a:r>
                        <a:rPr lang="en-US" sz="2000" dirty="0" smtClean="0"/>
                        <a:t>Tamil</a:t>
                      </a:r>
                      <a:endParaRPr lang="en-US" sz="2000" dirty="0">
                        <a:latin typeface="Times New Roman" pitchFamily="18" charset="0"/>
                        <a:cs typeface="Times New Roman" pitchFamily="18" charset="0"/>
                      </a:endParaRPr>
                    </a:p>
                  </a:txBody>
                  <a:tcPr/>
                </a:tc>
              </a:tr>
              <a:tr h="883920">
                <a:tc>
                  <a:txBody>
                    <a:bodyPr/>
                    <a:lstStyle/>
                    <a:p>
                      <a:r>
                        <a:rPr lang="en-US" sz="2000" dirty="0" smtClean="0">
                          <a:latin typeface="Times New Roman" pitchFamily="18" charset="0"/>
                          <a:cs typeface="Times New Roman" pitchFamily="18" charset="0"/>
                        </a:rPr>
                        <a:t>Average</a:t>
                      </a:r>
                      <a:r>
                        <a:rPr lang="en-US" sz="2000" baseline="0" dirty="0" smtClean="0">
                          <a:latin typeface="Times New Roman" pitchFamily="18" charset="0"/>
                          <a:cs typeface="Times New Roman" pitchFamily="18" charset="0"/>
                        </a:rPr>
                        <a:t> SPS</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3.5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6.7</a:t>
                      </a:r>
                      <a:endParaRPr lang="en-US" sz="2000" dirty="0">
                        <a:latin typeface="Times New Roman" pitchFamily="18" charset="0"/>
                        <a:cs typeface="Times New Roman" pitchFamily="18" charset="0"/>
                      </a:endParaRPr>
                    </a:p>
                  </a:txBody>
                  <a:tcPr/>
                </a:tc>
              </a:tr>
              <a:tr h="883920">
                <a:tc>
                  <a:txBody>
                    <a:bodyPr/>
                    <a:lstStyle/>
                    <a:p>
                      <a:r>
                        <a:rPr lang="en-US" sz="2000" dirty="0" smtClean="0">
                          <a:latin typeface="Times New Roman" pitchFamily="18" charset="0"/>
                          <a:cs typeface="Times New Roman" pitchFamily="18" charset="0"/>
                        </a:rPr>
                        <a:t>Average SPS</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3.8</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5.7</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6.0</a:t>
                      </a:r>
                      <a:endParaRPr lang="en-US" sz="2000" dirty="0">
                        <a:latin typeface="Times New Roman" pitchFamily="18" charset="0"/>
                        <a:cs typeface="Times New Roman" pitchFamily="18" charset="0"/>
                      </a:endParaRPr>
                    </a:p>
                  </a:txBody>
                  <a:tcPr/>
                </a:tc>
              </a:tr>
              <a:tr h="883920">
                <a:tc>
                  <a:txBody>
                    <a:bodyPr/>
                    <a:lstStyle/>
                    <a:p>
                      <a:r>
                        <a:rPr lang="en-US" sz="2000" dirty="0" smtClean="0">
                          <a:latin typeface="Times New Roman" pitchFamily="18" charset="0"/>
                          <a:cs typeface="Times New Roman" pitchFamily="18" charset="0"/>
                        </a:rPr>
                        <a:t>Average SPS</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3.2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6.7</a:t>
                      </a:r>
                      <a:endParaRPr lang="en-US" sz="2000" dirty="0">
                        <a:latin typeface="Times New Roman" pitchFamily="18" charset="0"/>
                        <a:cs typeface="Times New Roman" pitchFamily="18" charset="0"/>
                      </a:endParaRPr>
                    </a:p>
                  </a:txBody>
                  <a:tcPr/>
                </a:tc>
              </a:tr>
              <a:tr h="883920">
                <a:tc>
                  <a:txBody>
                    <a:bodyPr/>
                    <a:lstStyle/>
                    <a:p>
                      <a:r>
                        <a:rPr lang="en-US" sz="2000" dirty="0" smtClean="0">
                          <a:latin typeface="Times New Roman" pitchFamily="18" charset="0"/>
                          <a:cs typeface="Times New Roman" pitchFamily="18" charset="0"/>
                        </a:rPr>
                        <a:t>Overall Average SPS</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3.5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6.5</a:t>
                      </a:r>
                      <a:endParaRPr lang="en-US" sz="20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461</TotalTime>
  <Words>1434</Words>
  <Application>Microsoft Office PowerPoint</Application>
  <PresentationFormat>Custom</PresentationFormat>
  <Paragraphs>183</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Apex</vt:lpstr>
      <vt:lpstr>Slide 1</vt:lpstr>
    </vt:vector>
  </TitlesOfParts>
  <Company>Missouri State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csl311</dc:creator>
  <cp:lastModifiedBy>ila1</cp:lastModifiedBy>
  <cp:revision>49</cp:revision>
  <dcterms:created xsi:type="dcterms:W3CDTF">2008-03-06T17:43:17Z</dcterms:created>
  <dcterms:modified xsi:type="dcterms:W3CDTF">2009-02-28T18:37:43Z</dcterms:modified>
</cp:coreProperties>
</file>