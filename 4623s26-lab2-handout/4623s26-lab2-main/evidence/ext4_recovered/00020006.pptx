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layout2.xml" ContentType="application/vnd.openxmlformats-officedocument.drawingml.diagram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legacyDocTextInfo.bin" ContentType="application/vnd.ms-office.legacyDocTextInfo"/>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Default Extension="bin" ContentType="application/vnd.ms-office.legacyDiagramText"/>
  <Override PartName="/ppt/diagrams/colors2.xml" ContentType="application/vnd.openxmlformats-officedocument.drawingml.diagramColors+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74" r:id="rId3"/>
    <p:sldId id="269" r:id="rId4"/>
    <p:sldId id="257" r:id="rId5"/>
    <p:sldId id="258" r:id="rId6"/>
    <p:sldId id="259" r:id="rId7"/>
    <p:sldId id="260" r:id="rId8"/>
    <p:sldId id="261" r:id="rId9"/>
    <p:sldId id="262" r:id="rId10"/>
    <p:sldId id="263" r:id="rId11"/>
    <p:sldId id="264" r:id="rId12"/>
    <p:sldId id="267" r:id="rId13"/>
    <p:sldId id="268" r:id="rId14"/>
    <p:sldId id="266" r:id="rId15"/>
    <p:sldId id="265" r:id="rId16"/>
  </p:sldIdLst>
  <p:sldSz cx="9144000" cy="6858000" type="screen4x3"/>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07" d="100"/>
          <a:sy n="107" d="100"/>
        </p:scale>
        <p:origin x="-54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06/relationships/legacyDocTextInfo" Target="legacyDocTextInfo.bin"/><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D38A11-8D75-4CEE-9D0F-17B33E92AE18}" type="doc">
      <dgm:prSet loTypeId="urn:microsoft.com/office/officeart/2005/8/layout/cycle8" loCatId="cycle" qsTypeId="urn:microsoft.com/office/officeart/2005/8/quickstyle/simple1" qsCatId="simple" csTypeId="urn:microsoft.com/office/officeart/2005/8/colors/accent1_2" csCatId="accent1" phldr="1"/>
      <dgm:spPr/>
    </dgm:pt>
    <dgm:pt modelId="{2540BB6F-6404-4540-86F5-3FD2AA7E6432}">
      <dgm:prSet phldrT="[Text]"/>
      <dgm:spPr/>
      <dgm:t>
        <a:bodyPr/>
        <a:lstStyle/>
        <a:p>
          <a:r>
            <a:rPr lang="en-US" dirty="0" smtClean="0"/>
            <a:t>Modernists</a:t>
          </a:r>
        </a:p>
        <a:p>
          <a:r>
            <a:rPr lang="en-US" dirty="0" smtClean="0"/>
            <a:t>NEALE/ELTON</a:t>
          </a:r>
        </a:p>
        <a:p>
          <a:r>
            <a:rPr lang="en-US" dirty="0" smtClean="0"/>
            <a:t>Truth achieved through empirical method- acknowledge documents as </a:t>
          </a:r>
          <a:r>
            <a:rPr lang="en-US" dirty="0" err="1" smtClean="0"/>
            <a:t>authoritorial</a:t>
          </a:r>
          <a:r>
            <a:rPr lang="en-US" dirty="0" smtClean="0"/>
            <a:t> evidence</a:t>
          </a:r>
          <a:endParaRPr lang="en-US" dirty="0"/>
        </a:p>
      </dgm:t>
    </dgm:pt>
    <dgm:pt modelId="{10155DA2-362F-4946-8B9C-BB00141EE227}" type="parTrans" cxnId="{0E195937-AF94-4D79-B36D-D13D0C5584E0}">
      <dgm:prSet/>
      <dgm:spPr/>
      <dgm:t>
        <a:bodyPr/>
        <a:lstStyle/>
        <a:p>
          <a:endParaRPr lang="en-US"/>
        </a:p>
      </dgm:t>
    </dgm:pt>
    <dgm:pt modelId="{E0A1365B-6DBB-4D79-A672-81944A90C82F}" type="sibTrans" cxnId="{0E195937-AF94-4D79-B36D-D13D0C5584E0}">
      <dgm:prSet/>
      <dgm:spPr/>
      <dgm:t>
        <a:bodyPr/>
        <a:lstStyle/>
        <a:p>
          <a:endParaRPr lang="en-US"/>
        </a:p>
      </dgm:t>
    </dgm:pt>
    <dgm:pt modelId="{B6B2FF2A-BE82-4A5F-8AD1-AEB49AAD2928}">
      <dgm:prSet phldrT="[Text]"/>
      <dgm:spPr/>
      <dgm:t>
        <a:bodyPr/>
        <a:lstStyle/>
        <a:p>
          <a:r>
            <a:rPr lang="en-US" dirty="0" smtClean="0"/>
            <a:t>Post Modernists</a:t>
          </a:r>
        </a:p>
        <a:p>
          <a:r>
            <a:rPr lang="en-US" dirty="0" smtClean="0"/>
            <a:t>Everyone else</a:t>
          </a:r>
        </a:p>
        <a:p>
          <a:r>
            <a:rPr lang="en-US" dirty="0" smtClean="0"/>
            <a:t>All perspectives valid</a:t>
          </a:r>
        </a:p>
        <a:p>
          <a:r>
            <a:rPr lang="en-US" dirty="0" smtClean="0"/>
            <a:t>Sources evidence can be anything. New Historicists particularly rely on cultural meaning. They reason that cultural texts, </a:t>
          </a:r>
          <a:r>
            <a:rPr lang="en-US" dirty="0" err="1" smtClean="0"/>
            <a:t>eg</a:t>
          </a:r>
          <a:r>
            <a:rPr lang="en-US" dirty="0" smtClean="0"/>
            <a:t> plays and poems rise above the bias of document since they reflect collective attitudes.</a:t>
          </a:r>
          <a:endParaRPr lang="en-US" dirty="0"/>
        </a:p>
      </dgm:t>
    </dgm:pt>
    <dgm:pt modelId="{54AA8E13-66CA-40B5-BA4A-9A172838470C}" type="parTrans" cxnId="{BFAA121C-2FFC-496F-B095-05E55835E6A7}">
      <dgm:prSet/>
      <dgm:spPr/>
      <dgm:t>
        <a:bodyPr/>
        <a:lstStyle/>
        <a:p>
          <a:endParaRPr lang="en-US"/>
        </a:p>
      </dgm:t>
    </dgm:pt>
    <dgm:pt modelId="{7D960209-8BBB-4314-9B49-33EC3D30F337}" type="sibTrans" cxnId="{BFAA121C-2FFC-496F-B095-05E55835E6A7}">
      <dgm:prSet/>
      <dgm:spPr/>
      <dgm:t>
        <a:bodyPr/>
        <a:lstStyle/>
        <a:p>
          <a:endParaRPr lang="en-US"/>
        </a:p>
      </dgm:t>
    </dgm:pt>
    <dgm:pt modelId="{7B9DFEC8-4483-4CBD-8147-103E0FB1CD55}">
      <dgm:prSet phldrT="[Text]"/>
      <dgm:spPr/>
      <dgm:t>
        <a:bodyPr/>
        <a:lstStyle/>
        <a:p>
          <a:r>
            <a:rPr lang="en-US" dirty="0" smtClean="0"/>
            <a:t>Camden</a:t>
          </a:r>
        </a:p>
        <a:p>
          <a:r>
            <a:rPr lang="en-US" dirty="0" smtClean="0"/>
            <a:t>Influenced by Tacitus- qualities of good leader</a:t>
          </a:r>
        </a:p>
        <a:p>
          <a:r>
            <a:rPr lang="en-US" dirty="0" smtClean="0"/>
            <a:t>Black and white/ good or bad</a:t>
          </a:r>
        </a:p>
        <a:p>
          <a:r>
            <a:rPr lang="en-US" dirty="0" smtClean="0"/>
            <a:t>Truth </a:t>
          </a:r>
          <a:r>
            <a:rPr lang="en-US" dirty="0" err="1" smtClean="0"/>
            <a:t>focussed</a:t>
          </a:r>
          <a:endParaRPr lang="en-US" dirty="0"/>
        </a:p>
      </dgm:t>
    </dgm:pt>
    <dgm:pt modelId="{8303FA2F-6FC5-4876-956F-9344476661F4}" type="parTrans" cxnId="{8DD895BA-52D4-42CE-A88D-78A6B78F0A55}">
      <dgm:prSet/>
      <dgm:spPr/>
      <dgm:t>
        <a:bodyPr/>
        <a:lstStyle/>
        <a:p>
          <a:endParaRPr lang="en-US"/>
        </a:p>
      </dgm:t>
    </dgm:pt>
    <dgm:pt modelId="{0DB6663F-CD52-4996-AAB0-09CE4D1A404D}" type="sibTrans" cxnId="{8DD895BA-52D4-42CE-A88D-78A6B78F0A55}">
      <dgm:prSet/>
      <dgm:spPr/>
      <dgm:t>
        <a:bodyPr/>
        <a:lstStyle/>
        <a:p>
          <a:endParaRPr lang="en-US"/>
        </a:p>
      </dgm:t>
    </dgm:pt>
    <dgm:pt modelId="{2962CA34-512B-4138-BB4C-6D81C74E5A7C}" type="pres">
      <dgm:prSet presAssocID="{5BD38A11-8D75-4CEE-9D0F-17B33E92AE18}" presName="compositeShape" presStyleCnt="0">
        <dgm:presLayoutVars>
          <dgm:chMax val="7"/>
          <dgm:dir/>
          <dgm:resizeHandles val="exact"/>
        </dgm:presLayoutVars>
      </dgm:prSet>
      <dgm:spPr/>
    </dgm:pt>
    <dgm:pt modelId="{3DBDB19A-4DAB-47C8-9872-62944FEC6DB9}" type="pres">
      <dgm:prSet presAssocID="{5BD38A11-8D75-4CEE-9D0F-17B33E92AE18}" presName="wedge1" presStyleLbl="node1" presStyleIdx="0" presStyleCnt="3"/>
      <dgm:spPr/>
      <dgm:t>
        <a:bodyPr/>
        <a:lstStyle/>
        <a:p>
          <a:endParaRPr lang="en-US"/>
        </a:p>
      </dgm:t>
    </dgm:pt>
    <dgm:pt modelId="{A60FAEB8-B1EA-493C-945A-D3381D9433FE}" type="pres">
      <dgm:prSet presAssocID="{5BD38A11-8D75-4CEE-9D0F-17B33E92AE18}" presName="dummy1a" presStyleCnt="0"/>
      <dgm:spPr/>
    </dgm:pt>
    <dgm:pt modelId="{CA99B7B8-0DCE-4043-9C9D-994E6D2831B7}" type="pres">
      <dgm:prSet presAssocID="{5BD38A11-8D75-4CEE-9D0F-17B33E92AE18}" presName="dummy1b" presStyleCnt="0"/>
      <dgm:spPr/>
    </dgm:pt>
    <dgm:pt modelId="{FD6B686E-5277-4ABA-A3E5-78C19F865B04}" type="pres">
      <dgm:prSet presAssocID="{5BD38A11-8D75-4CEE-9D0F-17B33E92AE18}" presName="wedge1Tx" presStyleLbl="node1" presStyleIdx="0" presStyleCnt="3">
        <dgm:presLayoutVars>
          <dgm:chMax val="0"/>
          <dgm:chPref val="0"/>
          <dgm:bulletEnabled val="1"/>
        </dgm:presLayoutVars>
      </dgm:prSet>
      <dgm:spPr/>
      <dgm:t>
        <a:bodyPr/>
        <a:lstStyle/>
        <a:p>
          <a:endParaRPr lang="en-US"/>
        </a:p>
      </dgm:t>
    </dgm:pt>
    <dgm:pt modelId="{0DE8C386-742F-4084-BDC8-B5047942A26F}" type="pres">
      <dgm:prSet presAssocID="{5BD38A11-8D75-4CEE-9D0F-17B33E92AE18}" presName="wedge2" presStyleLbl="node1" presStyleIdx="1" presStyleCnt="3"/>
      <dgm:spPr/>
      <dgm:t>
        <a:bodyPr/>
        <a:lstStyle/>
        <a:p>
          <a:endParaRPr lang="en-US"/>
        </a:p>
      </dgm:t>
    </dgm:pt>
    <dgm:pt modelId="{69EBDA2A-9610-4169-BFC9-F9B1BE4967EE}" type="pres">
      <dgm:prSet presAssocID="{5BD38A11-8D75-4CEE-9D0F-17B33E92AE18}" presName="dummy2a" presStyleCnt="0"/>
      <dgm:spPr/>
    </dgm:pt>
    <dgm:pt modelId="{6991C485-4AEF-400F-B213-D94C9FC5E62F}" type="pres">
      <dgm:prSet presAssocID="{5BD38A11-8D75-4CEE-9D0F-17B33E92AE18}" presName="dummy2b" presStyleCnt="0"/>
      <dgm:spPr/>
    </dgm:pt>
    <dgm:pt modelId="{438491B1-4111-4C57-AB77-D44C312D9706}" type="pres">
      <dgm:prSet presAssocID="{5BD38A11-8D75-4CEE-9D0F-17B33E92AE18}" presName="wedge2Tx" presStyleLbl="node1" presStyleIdx="1" presStyleCnt="3">
        <dgm:presLayoutVars>
          <dgm:chMax val="0"/>
          <dgm:chPref val="0"/>
          <dgm:bulletEnabled val="1"/>
        </dgm:presLayoutVars>
      </dgm:prSet>
      <dgm:spPr/>
      <dgm:t>
        <a:bodyPr/>
        <a:lstStyle/>
        <a:p>
          <a:endParaRPr lang="en-US"/>
        </a:p>
      </dgm:t>
    </dgm:pt>
    <dgm:pt modelId="{ABC8C792-361C-462B-8D9E-DCF8057F1E20}" type="pres">
      <dgm:prSet presAssocID="{5BD38A11-8D75-4CEE-9D0F-17B33E92AE18}" presName="wedge3" presStyleLbl="node1" presStyleIdx="2" presStyleCnt="3"/>
      <dgm:spPr/>
      <dgm:t>
        <a:bodyPr/>
        <a:lstStyle/>
        <a:p>
          <a:endParaRPr lang="en-US"/>
        </a:p>
      </dgm:t>
    </dgm:pt>
    <dgm:pt modelId="{B69BE3A8-9B38-4467-8A33-9BAB8C1AD4B5}" type="pres">
      <dgm:prSet presAssocID="{5BD38A11-8D75-4CEE-9D0F-17B33E92AE18}" presName="dummy3a" presStyleCnt="0"/>
      <dgm:spPr/>
    </dgm:pt>
    <dgm:pt modelId="{49FB2AF2-F14C-498E-A7C1-DB2185D52858}" type="pres">
      <dgm:prSet presAssocID="{5BD38A11-8D75-4CEE-9D0F-17B33E92AE18}" presName="dummy3b" presStyleCnt="0"/>
      <dgm:spPr/>
    </dgm:pt>
    <dgm:pt modelId="{58A2033D-38FF-4DA7-8589-0421E378DF28}" type="pres">
      <dgm:prSet presAssocID="{5BD38A11-8D75-4CEE-9D0F-17B33E92AE18}" presName="wedge3Tx" presStyleLbl="node1" presStyleIdx="2" presStyleCnt="3">
        <dgm:presLayoutVars>
          <dgm:chMax val="0"/>
          <dgm:chPref val="0"/>
          <dgm:bulletEnabled val="1"/>
        </dgm:presLayoutVars>
      </dgm:prSet>
      <dgm:spPr/>
      <dgm:t>
        <a:bodyPr/>
        <a:lstStyle/>
        <a:p>
          <a:endParaRPr lang="en-US"/>
        </a:p>
      </dgm:t>
    </dgm:pt>
    <dgm:pt modelId="{6DEAB9A5-4E04-458F-A6A5-4933491B0BA9}" type="pres">
      <dgm:prSet presAssocID="{E0A1365B-6DBB-4D79-A672-81944A90C82F}" presName="arrowWedge1" presStyleLbl="fgSibTrans2D1" presStyleIdx="0" presStyleCnt="3"/>
      <dgm:spPr/>
    </dgm:pt>
    <dgm:pt modelId="{B07B41D9-F0A3-4554-A9C8-785824866105}" type="pres">
      <dgm:prSet presAssocID="{7D960209-8BBB-4314-9B49-33EC3D30F337}" presName="arrowWedge2" presStyleLbl="fgSibTrans2D1" presStyleIdx="1" presStyleCnt="3"/>
      <dgm:spPr/>
    </dgm:pt>
    <dgm:pt modelId="{B64EEE5D-3FB6-4C49-8E9C-80B11B72FDBC}" type="pres">
      <dgm:prSet presAssocID="{0DB6663F-CD52-4996-AAB0-09CE4D1A404D}" presName="arrowWedge3" presStyleLbl="fgSibTrans2D1" presStyleIdx="2" presStyleCnt="3"/>
      <dgm:spPr/>
    </dgm:pt>
  </dgm:ptLst>
  <dgm:cxnLst>
    <dgm:cxn modelId="{CC7B8BEC-FF88-4485-AFC6-2B9C5782C3E3}" type="presOf" srcId="{B6B2FF2A-BE82-4A5F-8AD1-AEB49AAD2928}" destId="{0DE8C386-742F-4084-BDC8-B5047942A26F}" srcOrd="0" destOrd="0" presId="urn:microsoft.com/office/officeart/2005/8/layout/cycle8"/>
    <dgm:cxn modelId="{701CF370-CE35-4916-8428-7724EE8400B1}" type="presOf" srcId="{B6B2FF2A-BE82-4A5F-8AD1-AEB49AAD2928}" destId="{438491B1-4111-4C57-AB77-D44C312D9706}" srcOrd="1" destOrd="0" presId="urn:microsoft.com/office/officeart/2005/8/layout/cycle8"/>
    <dgm:cxn modelId="{FFFFC155-F0EA-442F-AB13-38DC10FB323E}" type="presOf" srcId="{7B9DFEC8-4483-4CBD-8147-103E0FB1CD55}" destId="{ABC8C792-361C-462B-8D9E-DCF8057F1E20}" srcOrd="0" destOrd="0" presId="urn:microsoft.com/office/officeart/2005/8/layout/cycle8"/>
    <dgm:cxn modelId="{E4CA4ED7-EFE8-4282-A0DD-DE122AED3498}" type="presOf" srcId="{7B9DFEC8-4483-4CBD-8147-103E0FB1CD55}" destId="{58A2033D-38FF-4DA7-8589-0421E378DF28}" srcOrd="1" destOrd="0" presId="urn:microsoft.com/office/officeart/2005/8/layout/cycle8"/>
    <dgm:cxn modelId="{0E195937-AF94-4D79-B36D-D13D0C5584E0}" srcId="{5BD38A11-8D75-4CEE-9D0F-17B33E92AE18}" destId="{2540BB6F-6404-4540-86F5-3FD2AA7E6432}" srcOrd="0" destOrd="0" parTransId="{10155DA2-362F-4946-8B9C-BB00141EE227}" sibTransId="{E0A1365B-6DBB-4D79-A672-81944A90C82F}"/>
    <dgm:cxn modelId="{BFAA121C-2FFC-496F-B095-05E55835E6A7}" srcId="{5BD38A11-8D75-4CEE-9D0F-17B33E92AE18}" destId="{B6B2FF2A-BE82-4A5F-8AD1-AEB49AAD2928}" srcOrd="1" destOrd="0" parTransId="{54AA8E13-66CA-40B5-BA4A-9A172838470C}" sibTransId="{7D960209-8BBB-4314-9B49-33EC3D30F337}"/>
    <dgm:cxn modelId="{8DD895BA-52D4-42CE-A88D-78A6B78F0A55}" srcId="{5BD38A11-8D75-4CEE-9D0F-17B33E92AE18}" destId="{7B9DFEC8-4483-4CBD-8147-103E0FB1CD55}" srcOrd="2" destOrd="0" parTransId="{8303FA2F-6FC5-4876-956F-9344476661F4}" sibTransId="{0DB6663F-CD52-4996-AAB0-09CE4D1A404D}"/>
    <dgm:cxn modelId="{BF8EBDEA-B1AA-402A-901C-80CEA1416FC5}" type="presOf" srcId="{2540BB6F-6404-4540-86F5-3FD2AA7E6432}" destId="{3DBDB19A-4DAB-47C8-9872-62944FEC6DB9}" srcOrd="0" destOrd="0" presId="urn:microsoft.com/office/officeart/2005/8/layout/cycle8"/>
    <dgm:cxn modelId="{EA10E304-65DA-41E2-8E16-24E36F3FE7FB}" type="presOf" srcId="{2540BB6F-6404-4540-86F5-3FD2AA7E6432}" destId="{FD6B686E-5277-4ABA-A3E5-78C19F865B04}" srcOrd="1" destOrd="0" presId="urn:microsoft.com/office/officeart/2005/8/layout/cycle8"/>
    <dgm:cxn modelId="{423FF9BF-A2B5-4C5C-A163-29D332740322}" type="presOf" srcId="{5BD38A11-8D75-4CEE-9D0F-17B33E92AE18}" destId="{2962CA34-512B-4138-BB4C-6D81C74E5A7C}" srcOrd="0" destOrd="0" presId="urn:microsoft.com/office/officeart/2005/8/layout/cycle8"/>
    <dgm:cxn modelId="{9C913CFC-C940-4FA0-8D4A-8DDBD3DCD3F3}" type="presParOf" srcId="{2962CA34-512B-4138-BB4C-6D81C74E5A7C}" destId="{3DBDB19A-4DAB-47C8-9872-62944FEC6DB9}" srcOrd="0" destOrd="0" presId="urn:microsoft.com/office/officeart/2005/8/layout/cycle8"/>
    <dgm:cxn modelId="{C96153F6-4C5A-4490-8EE4-85966B8C850C}" type="presParOf" srcId="{2962CA34-512B-4138-BB4C-6D81C74E5A7C}" destId="{A60FAEB8-B1EA-493C-945A-D3381D9433FE}" srcOrd="1" destOrd="0" presId="urn:microsoft.com/office/officeart/2005/8/layout/cycle8"/>
    <dgm:cxn modelId="{99CF0B76-961D-490D-9629-0E730EEEB93C}" type="presParOf" srcId="{2962CA34-512B-4138-BB4C-6D81C74E5A7C}" destId="{CA99B7B8-0DCE-4043-9C9D-994E6D2831B7}" srcOrd="2" destOrd="0" presId="urn:microsoft.com/office/officeart/2005/8/layout/cycle8"/>
    <dgm:cxn modelId="{D9FB0F90-685D-4F46-877C-2A23912DF1D1}" type="presParOf" srcId="{2962CA34-512B-4138-BB4C-6D81C74E5A7C}" destId="{FD6B686E-5277-4ABA-A3E5-78C19F865B04}" srcOrd="3" destOrd="0" presId="urn:microsoft.com/office/officeart/2005/8/layout/cycle8"/>
    <dgm:cxn modelId="{46CFB2E7-6E5E-46CF-95BE-F7EBCDCCAF3A}" type="presParOf" srcId="{2962CA34-512B-4138-BB4C-6D81C74E5A7C}" destId="{0DE8C386-742F-4084-BDC8-B5047942A26F}" srcOrd="4" destOrd="0" presId="urn:microsoft.com/office/officeart/2005/8/layout/cycle8"/>
    <dgm:cxn modelId="{8BF5784E-B963-4812-A870-FD33E1D9C17B}" type="presParOf" srcId="{2962CA34-512B-4138-BB4C-6D81C74E5A7C}" destId="{69EBDA2A-9610-4169-BFC9-F9B1BE4967EE}" srcOrd="5" destOrd="0" presId="urn:microsoft.com/office/officeart/2005/8/layout/cycle8"/>
    <dgm:cxn modelId="{F0CC0649-0292-4796-AB93-923F9AAAF233}" type="presParOf" srcId="{2962CA34-512B-4138-BB4C-6D81C74E5A7C}" destId="{6991C485-4AEF-400F-B213-D94C9FC5E62F}" srcOrd="6" destOrd="0" presId="urn:microsoft.com/office/officeart/2005/8/layout/cycle8"/>
    <dgm:cxn modelId="{AE612F4E-8ACD-4E0A-9747-BEB7E52C073D}" type="presParOf" srcId="{2962CA34-512B-4138-BB4C-6D81C74E5A7C}" destId="{438491B1-4111-4C57-AB77-D44C312D9706}" srcOrd="7" destOrd="0" presId="urn:microsoft.com/office/officeart/2005/8/layout/cycle8"/>
    <dgm:cxn modelId="{F709040D-AE21-4653-945C-F0368CF9E615}" type="presParOf" srcId="{2962CA34-512B-4138-BB4C-6D81C74E5A7C}" destId="{ABC8C792-361C-462B-8D9E-DCF8057F1E20}" srcOrd="8" destOrd="0" presId="urn:microsoft.com/office/officeart/2005/8/layout/cycle8"/>
    <dgm:cxn modelId="{C89876B5-38F7-4F1D-9627-67FF620D57B4}" type="presParOf" srcId="{2962CA34-512B-4138-BB4C-6D81C74E5A7C}" destId="{B69BE3A8-9B38-4467-8A33-9BAB8C1AD4B5}" srcOrd="9" destOrd="0" presId="urn:microsoft.com/office/officeart/2005/8/layout/cycle8"/>
    <dgm:cxn modelId="{6ECAF4BA-AB0E-481F-A95C-5BB5169EF835}" type="presParOf" srcId="{2962CA34-512B-4138-BB4C-6D81C74E5A7C}" destId="{49FB2AF2-F14C-498E-A7C1-DB2185D52858}" srcOrd="10" destOrd="0" presId="urn:microsoft.com/office/officeart/2005/8/layout/cycle8"/>
    <dgm:cxn modelId="{0B51C790-D50C-4610-9347-AE71D1E4E1C2}" type="presParOf" srcId="{2962CA34-512B-4138-BB4C-6D81C74E5A7C}" destId="{58A2033D-38FF-4DA7-8589-0421E378DF28}" srcOrd="11" destOrd="0" presId="urn:microsoft.com/office/officeart/2005/8/layout/cycle8"/>
    <dgm:cxn modelId="{7C49053C-2803-4408-A1E7-BDBC3BC26EE8}" type="presParOf" srcId="{2962CA34-512B-4138-BB4C-6D81C74E5A7C}" destId="{6DEAB9A5-4E04-458F-A6A5-4933491B0BA9}" srcOrd="12" destOrd="0" presId="urn:microsoft.com/office/officeart/2005/8/layout/cycle8"/>
    <dgm:cxn modelId="{70262952-9CC2-4322-9031-83F67C98C3D4}" type="presParOf" srcId="{2962CA34-512B-4138-BB4C-6D81C74E5A7C}" destId="{B07B41D9-F0A3-4554-A9C8-785824866105}" srcOrd="13" destOrd="0" presId="urn:microsoft.com/office/officeart/2005/8/layout/cycle8"/>
    <dgm:cxn modelId="{91C8A6C9-1C52-4370-9E88-5FFCF9F83797}" type="presParOf" srcId="{2962CA34-512B-4138-BB4C-6D81C74E5A7C}" destId="{B64EEE5D-3FB6-4C49-8E9C-80B11B72FDBC}" srcOrd="14" destOrd="0" presId="urn:microsoft.com/office/officeart/2005/8/layout/cycle8"/>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0E5A77-0CD1-409E-B63C-05DFBD0C6420}" type="doc">
      <dgm:prSet loTypeId="urn:microsoft.com/office/officeart/2005/8/layout/arrow1" loCatId="process" qsTypeId="urn:microsoft.com/office/officeart/2005/8/quickstyle/simple1" qsCatId="simple" csTypeId="urn:microsoft.com/office/officeart/2005/8/colors/accent1_2" csCatId="accent1" phldr="0"/>
      <dgm:spPr/>
      <dgm:t>
        <a:bodyPr/>
        <a:lstStyle/>
        <a:p>
          <a:endParaRPr lang="en-US"/>
        </a:p>
      </dgm:t>
    </dgm:pt>
    <dgm:pt modelId="{E2E0DC25-1406-4B06-B73C-8F37D4786C09}">
      <dgm:prSet phldrT="[Text]" phldr="1"/>
      <dgm:spPr/>
      <dgm:t>
        <a:bodyPr/>
        <a:lstStyle/>
        <a:p>
          <a:endParaRPr lang="en-US"/>
        </a:p>
      </dgm:t>
    </dgm:pt>
    <dgm:pt modelId="{11F8A2D2-1469-4E59-BB3F-07233E149CC4}" type="parTrans" cxnId="{5CA3BFAA-7A53-4ED2-AFFD-092AEE1FF992}">
      <dgm:prSet/>
      <dgm:spPr/>
      <dgm:t>
        <a:bodyPr/>
        <a:lstStyle/>
        <a:p>
          <a:endParaRPr lang="en-US"/>
        </a:p>
      </dgm:t>
    </dgm:pt>
    <dgm:pt modelId="{EA556494-EFD9-433C-9E84-B90A1EE5043A}" type="sibTrans" cxnId="{5CA3BFAA-7A53-4ED2-AFFD-092AEE1FF992}">
      <dgm:prSet/>
      <dgm:spPr/>
      <dgm:t>
        <a:bodyPr/>
        <a:lstStyle/>
        <a:p>
          <a:endParaRPr lang="en-US"/>
        </a:p>
      </dgm:t>
    </dgm:pt>
    <dgm:pt modelId="{B4C39F25-AC99-41BD-B078-3DBE75FC4844}">
      <dgm:prSet phldrT="[Text]" phldr="1"/>
      <dgm:spPr/>
      <dgm:t>
        <a:bodyPr/>
        <a:lstStyle/>
        <a:p>
          <a:endParaRPr lang="en-US"/>
        </a:p>
      </dgm:t>
    </dgm:pt>
    <dgm:pt modelId="{099626FB-079B-41D5-A734-7C112310395F}" type="parTrans" cxnId="{D104D910-34E3-4D89-BCDA-9DC24267E159}">
      <dgm:prSet/>
      <dgm:spPr/>
      <dgm:t>
        <a:bodyPr/>
        <a:lstStyle/>
        <a:p>
          <a:endParaRPr lang="en-US"/>
        </a:p>
      </dgm:t>
    </dgm:pt>
    <dgm:pt modelId="{3E724010-5010-4454-ACD3-27AF4D7F32D7}" type="sibTrans" cxnId="{D104D910-34E3-4D89-BCDA-9DC24267E159}">
      <dgm:prSet/>
      <dgm:spPr/>
      <dgm:t>
        <a:bodyPr/>
        <a:lstStyle/>
        <a:p>
          <a:endParaRPr lang="en-US"/>
        </a:p>
      </dgm:t>
    </dgm:pt>
    <dgm:pt modelId="{91490DBD-718E-4D83-8F95-952B4DD0EAE1}" type="pres">
      <dgm:prSet presAssocID="{680E5A77-0CD1-409E-B63C-05DFBD0C6420}" presName="cycle" presStyleCnt="0">
        <dgm:presLayoutVars>
          <dgm:dir/>
          <dgm:resizeHandles val="exact"/>
        </dgm:presLayoutVars>
      </dgm:prSet>
      <dgm:spPr/>
      <dgm:t>
        <a:bodyPr/>
        <a:lstStyle/>
        <a:p>
          <a:endParaRPr lang="en-US"/>
        </a:p>
      </dgm:t>
    </dgm:pt>
    <dgm:pt modelId="{C7910211-FE69-410F-9C1D-B3DE25EBCB6A}" type="pres">
      <dgm:prSet presAssocID="{E2E0DC25-1406-4B06-B73C-8F37D4786C09}" presName="arrow" presStyleLbl="node1" presStyleIdx="0" presStyleCnt="2" custRadScaleRad="99733" custRadScaleInc="3953">
        <dgm:presLayoutVars>
          <dgm:bulletEnabled val="1"/>
        </dgm:presLayoutVars>
      </dgm:prSet>
      <dgm:spPr/>
      <dgm:t>
        <a:bodyPr/>
        <a:lstStyle/>
        <a:p>
          <a:endParaRPr lang="en-US"/>
        </a:p>
      </dgm:t>
    </dgm:pt>
    <dgm:pt modelId="{7908999B-1F45-4150-8937-DA8EC03CD1B8}" type="pres">
      <dgm:prSet presAssocID="{B4C39F25-AC99-41BD-B078-3DBE75FC4844}" presName="arrow" presStyleLbl="node1" presStyleIdx="1" presStyleCnt="2">
        <dgm:presLayoutVars>
          <dgm:bulletEnabled val="1"/>
        </dgm:presLayoutVars>
      </dgm:prSet>
      <dgm:spPr/>
      <dgm:t>
        <a:bodyPr/>
        <a:lstStyle/>
        <a:p>
          <a:endParaRPr lang="en-US"/>
        </a:p>
      </dgm:t>
    </dgm:pt>
  </dgm:ptLst>
  <dgm:cxnLst>
    <dgm:cxn modelId="{5CA3BFAA-7A53-4ED2-AFFD-092AEE1FF992}" srcId="{680E5A77-0CD1-409E-B63C-05DFBD0C6420}" destId="{E2E0DC25-1406-4B06-B73C-8F37D4786C09}" srcOrd="0" destOrd="0" parTransId="{11F8A2D2-1469-4E59-BB3F-07233E149CC4}" sibTransId="{EA556494-EFD9-433C-9E84-B90A1EE5043A}"/>
    <dgm:cxn modelId="{53DA9919-AD8F-4EC5-9F4D-F4A4DE20A2FF}" type="presOf" srcId="{B4C39F25-AC99-41BD-B078-3DBE75FC4844}" destId="{7908999B-1F45-4150-8937-DA8EC03CD1B8}" srcOrd="0" destOrd="0" presId="urn:microsoft.com/office/officeart/2005/8/layout/arrow1"/>
    <dgm:cxn modelId="{D104D910-34E3-4D89-BCDA-9DC24267E159}" srcId="{680E5A77-0CD1-409E-B63C-05DFBD0C6420}" destId="{B4C39F25-AC99-41BD-B078-3DBE75FC4844}" srcOrd="1" destOrd="0" parTransId="{099626FB-079B-41D5-A734-7C112310395F}" sibTransId="{3E724010-5010-4454-ACD3-27AF4D7F32D7}"/>
    <dgm:cxn modelId="{675D641D-EC3B-428F-9700-D9E9C9D8FB56}" type="presOf" srcId="{680E5A77-0CD1-409E-B63C-05DFBD0C6420}" destId="{91490DBD-718E-4D83-8F95-952B4DD0EAE1}" srcOrd="0" destOrd="0" presId="urn:microsoft.com/office/officeart/2005/8/layout/arrow1"/>
    <dgm:cxn modelId="{4A25A112-6A81-4737-BA5F-3DA5F9491157}" type="presOf" srcId="{E2E0DC25-1406-4B06-B73C-8F37D4786C09}" destId="{C7910211-FE69-410F-9C1D-B3DE25EBCB6A}" srcOrd="0" destOrd="0" presId="urn:microsoft.com/office/officeart/2005/8/layout/arrow1"/>
    <dgm:cxn modelId="{99B6A98C-6D54-4725-B99B-1DC6D24D8A71}" type="presParOf" srcId="{91490DBD-718E-4D83-8F95-952B4DD0EAE1}" destId="{C7910211-FE69-410F-9C1D-B3DE25EBCB6A}" srcOrd="0" destOrd="0" presId="urn:microsoft.com/office/officeart/2005/8/layout/arrow1"/>
    <dgm:cxn modelId="{5A359165-2DA4-4A8E-A12A-59F079CC796B}" type="presParOf" srcId="{91490DBD-718E-4D83-8F95-952B4DD0EAE1}" destId="{7908999B-1F45-4150-8937-DA8EC03CD1B8}" srcOrd="1" destOrd="0" presId="urn:microsoft.com/office/officeart/2005/8/layout/arrow1"/>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DBDB19A-4DAB-47C8-9872-62944FEC6DB9}">
      <dsp:nvSpPr>
        <dsp:cNvPr id="0" name=""/>
        <dsp:cNvSpPr/>
      </dsp:nvSpPr>
      <dsp:spPr>
        <a:xfrm>
          <a:off x="1232177" y="293092"/>
          <a:ext cx="3787660" cy="3787660"/>
        </a:xfrm>
        <a:prstGeom prst="pie">
          <a:avLst>
            <a:gd name="adj1" fmla="val 16200000"/>
            <a:gd name="adj2" fmla="val 180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311150">
            <a:lnSpc>
              <a:spcPct val="90000"/>
            </a:lnSpc>
            <a:spcBef>
              <a:spcPct val="0"/>
            </a:spcBef>
            <a:spcAft>
              <a:spcPct val="35000"/>
            </a:spcAft>
          </a:pPr>
          <a:r>
            <a:rPr lang="en-US" sz="700" kern="1200" dirty="0" smtClean="0"/>
            <a:t>Modernists</a:t>
          </a:r>
        </a:p>
        <a:p>
          <a:pPr lvl="0" algn="ctr" defTabSz="311150">
            <a:lnSpc>
              <a:spcPct val="90000"/>
            </a:lnSpc>
            <a:spcBef>
              <a:spcPct val="0"/>
            </a:spcBef>
            <a:spcAft>
              <a:spcPct val="35000"/>
            </a:spcAft>
          </a:pPr>
          <a:r>
            <a:rPr lang="en-US" sz="700" kern="1200" dirty="0" smtClean="0"/>
            <a:t>NEALE/ELTON</a:t>
          </a:r>
        </a:p>
        <a:p>
          <a:pPr lvl="0" algn="ctr" defTabSz="311150">
            <a:lnSpc>
              <a:spcPct val="90000"/>
            </a:lnSpc>
            <a:spcBef>
              <a:spcPct val="0"/>
            </a:spcBef>
            <a:spcAft>
              <a:spcPct val="35000"/>
            </a:spcAft>
          </a:pPr>
          <a:r>
            <a:rPr lang="en-US" sz="700" kern="1200" dirty="0" smtClean="0"/>
            <a:t>Truth achieved through empirical method- acknowledge documents as </a:t>
          </a:r>
          <a:r>
            <a:rPr lang="en-US" sz="700" kern="1200" dirty="0" err="1" smtClean="0"/>
            <a:t>authoritorial</a:t>
          </a:r>
          <a:r>
            <a:rPr lang="en-US" sz="700" kern="1200" dirty="0" smtClean="0"/>
            <a:t> evidence</a:t>
          </a:r>
          <a:endParaRPr lang="en-US" sz="700" kern="1200" dirty="0"/>
        </a:p>
      </dsp:txBody>
      <dsp:txXfrm>
        <a:off x="3228364" y="1095716"/>
        <a:ext cx="1352736" cy="1127280"/>
      </dsp:txXfrm>
    </dsp:sp>
    <dsp:sp modelId="{0DE8C386-742F-4084-BDC8-B5047942A26F}">
      <dsp:nvSpPr>
        <dsp:cNvPr id="0" name=""/>
        <dsp:cNvSpPr/>
      </dsp:nvSpPr>
      <dsp:spPr>
        <a:xfrm>
          <a:off x="1154169" y="428366"/>
          <a:ext cx="3787660" cy="3787660"/>
        </a:xfrm>
        <a:prstGeom prst="pie">
          <a:avLst>
            <a:gd name="adj1" fmla="val 1800000"/>
            <a:gd name="adj2" fmla="val 900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311150">
            <a:lnSpc>
              <a:spcPct val="90000"/>
            </a:lnSpc>
            <a:spcBef>
              <a:spcPct val="0"/>
            </a:spcBef>
            <a:spcAft>
              <a:spcPct val="35000"/>
            </a:spcAft>
          </a:pPr>
          <a:r>
            <a:rPr lang="en-US" sz="700" kern="1200" dirty="0" smtClean="0"/>
            <a:t>Post Modernists</a:t>
          </a:r>
        </a:p>
        <a:p>
          <a:pPr lvl="0" algn="ctr" defTabSz="311150">
            <a:lnSpc>
              <a:spcPct val="90000"/>
            </a:lnSpc>
            <a:spcBef>
              <a:spcPct val="0"/>
            </a:spcBef>
            <a:spcAft>
              <a:spcPct val="35000"/>
            </a:spcAft>
          </a:pPr>
          <a:r>
            <a:rPr lang="en-US" sz="700" kern="1200" dirty="0" smtClean="0"/>
            <a:t>Everyone else</a:t>
          </a:r>
        </a:p>
        <a:p>
          <a:pPr lvl="0" algn="ctr" defTabSz="311150">
            <a:lnSpc>
              <a:spcPct val="90000"/>
            </a:lnSpc>
            <a:spcBef>
              <a:spcPct val="0"/>
            </a:spcBef>
            <a:spcAft>
              <a:spcPct val="35000"/>
            </a:spcAft>
          </a:pPr>
          <a:r>
            <a:rPr lang="en-US" sz="700" kern="1200" dirty="0" smtClean="0"/>
            <a:t>All perspectives valid</a:t>
          </a:r>
        </a:p>
        <a:p>
          <a:pPr lvl="0" algn="ctr" defTabSz="311150">
            <a:lnSpc>
              <a:spcPct val="90000"/>
            </a:lnSpc>
            <a:spcBef>
              <a:spcPct val="0"/>
            </a:spcBef>
            <a:spcAft>
              <a:spcPct val="35000"/>
            </a:spcAft>
          </a:pPr>
          <a:r>
            <a:rPr lang="en-US" sz="700" kern="1200" dirty="0" smtClean="0"/>
            <a:t>Sources evidence can be anything. New Historicists particularly rely on cultural meaning. They reason that cultural texts, </a:t>
          </a:r>
          <a:r>
            <a:rPr lang="en-US" sz="700" kern="1200" dirty="0" err="1" smtClean="0"/>
            <a:t>eg</a:t>
          </a:r>
          <a:r>
            <a:rPr lang="en-US" sz="700" kern="1200" dirty="0" smtClean="0"/>
            <a:t> plays and poems rise above the bias of document since they reflect collective attitudes.</a:t>
          </a:r>
          <a:endParaRPr lang="en-US" sz="700" kern="1200" dirty="0"/>
        </a:p>
      </dsp:txBody>
      <dsp:txXfrm>
        <a:off x="2055993" y="2885836"/>
        <a:ext cx="2029104" cy="992006"/>
      </dsp:txXfrm>
    </dsp:sp>
    <dsp:sp modelId="{ABC8C792-361C-462B-8D9E-DCF8057F1E20}">
      <dsp:nvSpPr>
        <dsp:cNvPr id="0" name=""/>
        <dsp:cNvSpPr/>
      </dsp:nvSpPr>
      <dsp:spPr>
        <a:xfrm>
          <a:off x="1076161" y="293092"/>
          <a:ext cx="3787660" cy="3787660"/>
        </a:xfrm>
        <a:prstGeom prst="pie">
          <a:avLst>
            <a:gd name="adj1" fmla="val 9000000"/>
            <a:gd name="adj2" fmla="val 1620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311150">
            <a:lnSpc>
              <a:spcPct val="90000"/>
            </a:lnSpc>
            <a:spcBef>
              <a:spcPct val="0"/>
            </a:spcBef>
            <a:spcAft>
              <a:spcPct val="35000"/>
            </a:spcAft>
          </a:pPr>
          <a:r>
            <a:rPr lang="en-US" sz="700" kern="1200" dirty="0" smtClean="0"/>
            <a:t>Camden</a:t>
          </a:r>
        </a:p>
        <a:p>
          <a:pPr lvl="0" algn="ctr" defTabSz="311150">
            <a:lnSpc>
              <a:spcPct val="90000"/>
            </a:lnSpc>
            <a:spcBef>
              <a:spcPct val="0"/>
            </a:spcBef>
            <a:spcAft>
              <a:spcPct val="35000"/>
            </a:spcAft>
          </a:pPr>
          <a:r>
            <a:rPr lang="en-US" sz="700" kern="1200" dirty="0" smtClean="0"/>
            <a:t>Influenced by Tacitus- qualities of good leader</a:t>
          </a:r>
        </a:p>
        <a:p>
          <a:pPr lvl="0" algn="ctr" defTabSz="311150">
            <a:lnSpc>
              <a:spcPct val="90000"/>
            </a:lnSpc>
            <a:spcBef>
              <a:spcPct val="0"/>
            </a:spcBef>
            <a:spcAft>
              <a:spcPct val="35000"/>
            </a:spcAft>
          </a:pPr>
          <a:r>
            <a:rPr lang="en-US" sz="700" kern="1200" dirty="0" smtClean="0"/>
            <a:t>Black and white/ good or bad</a:t>
          </a:r>
        </a:p>
        <a:p>
          <a:pPr lvl="0" algn="ctr" defTabSz="311150">
            <a:lnSpc>
              <a:spcPct val="90000"/>
            </a:lnSpc>
            <a:spcBef>
              <a:spcPct val="0"/>
            </a:spcBef>
            <a:spcAft>
              <a:spcPct val="35000"/>
            </a:spcAft>
          </a:pPr>
          <a:r>
            <a:rPr lang="en-US" sz="700" kern="1200" dirty="0" smtClean="0"/>
            <a:t>Truth </a:t>
          </a:r>
          <a:r>
            <a:rPr lang="en-US" sz="700" kern="1200" dirty="0" err="1" smtClean="0"/>
            <a:t>focussed</a:t>
          </a:r>
          <a:endParaRPr lang="en-US" sz="700" kern="1200" dirty="0"/>
        </a:p>
      </dsp:txBody>
      <dsp:txXfrm>
        <a:off x="1514899" y="1095716"/>
        <a:ext cx="1352736" cy="1127280"/>
      </dsp:txXfrm>
    </dsp:sp>
    <dsp:sp modelId="{6DEAB9A5-4E04-458F-A6A5-4933491B0BA9}">
      <dsp:nvSpPr>
        <dsp:cNvPr id="0" name=""/>
        <dsp:cNvSpPr/>
      </dsp:nvSpPr>
      <dsp:spPr>
        <a:xfrm>
          <a:off x="998015" y="58618"/>
          <a:ext cx="4256609" cy="4256609"/>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7B41D9-F0A3-4554-A9C8-785824866105}">
      <dsp:nvSpPr>
        <dsp:cNvPr id="0" name=""/>
        <dsp:cNvSpPr/>
      </dsp:nvSpPr>
      <dsp:spPr>
        <a:xfrm>
          <a:off x="919695" y="193652"/>
          <a:ext cx="4256609" cy="4256609"/>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4EEE5D-3FB6-4C49-8E9C-80B11B72FDBC}">
      <dsp:nvSpPr>
        <dsp:cNvPr id="0" name=""/>
        <dsp:cNvSpPr/>
      </dsp:nvSpPr>
      <dsp:spPr>
        <a:xfrm>
          <a:off x="841374" y="58618"/>
          <a:ext cx="4256609" cy="4256609"/>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7910211-FE69-410F-9C1D-B3DE25EBCB6A}">
      <dsp:nvSpPr>
        <dsp:cNvPr id="0" name=""/>
        <dsp:cNvSpPr/>
      </dsp:nvSpPr>
      <dsp:spPr>
        <a:xfrm rot="16200000">
          <a:off x="23670" y="0"/>
          <a:ext cx="1669851" cy="1669851"/>
        </a:xfrm>
        <a:prstGeom prst="upArrow">
          <a:avLst>
            <a:gd name="adj1" fmla="val 50000"/>
            <a:gd name="adj2" fmla="val 35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endParaRPr lang="en-US" sz="2800" kern="1200"/>
        </a:p>
      </dsp:txBody>
      <dsp:txXfrm rot="16200000">
        <a:off x="23670" y="0"/>
        <a:ext cx="1669851" cy="1669851"/>
      </dsp:txXfrm>
    </dsp:sp>
    <dsp:sp modelId="{7908999B-1F45-4150-8937-DA8EC03CD1B8}">
      <dsp:nvSpPr>
        <dsp:cNvPr id="0" name=""/>
        <dsp:cNvSpPr/>
      </dsp:nvSpPr>
      <dsp:spPr>
        <a:xfrm rot="5400000">
          <a:off x="4425376" y="1054"/>
          <a:ext cx="1669851" cy="1669851"/>
        </a:xfrm>
        <a:prstGeom prst="upArrow">
          <a:avLst>
            <a:gd name="adj1" fmla="val 50000"/>
            <a:gd name="adj2" fmla="val 35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endParaRPr lang="en-US" sz="2800" kern="1200"/>
        </a:p>
      </dsp:txBody>
      <dsp:txXfrm rot="5400000">
        <a:off x="4425376" y="1054"/>
        <a:ext cx="1669851" cy="1669851"/>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8" Type="http://schemas.microsoft.com/office/2006/relationships/legacyDiagramText" Target="legacyDiagramText8.bin"/><Relationship Id="rId3" Type="http://schemas.microsoft.com/office/2006/relationships/legacyDiagramText" Target="legacyDiagramText3.bin"/><Relationship Id="rId7" Type="http://schemas.microsoft.com/office/2006/relationships/legacyDiagramText" Target="legacyDiagramText7.bin"/><Relationship Id="rId2" Type="http://schemas.microsoft.com/office/2006/relationships/legacyDiagramText" Target="legacyDiagramText2.bin"/><Relationship Id="rId1" Type="http://schemas.microsoft.com/office/2006/relationships/legacyDiagramText" Target="legacyDiagramText1.bin"/><Relationship Id="rId6" Type="http://schemas.microsoft.com/office/2006/relationships/legacyDiagramText" Target="legacyDiagramText6.bin"/><Relationship Id="rId5" Type="http://schemas.microsoft.com/office/2006/relationships/legacyDiagramText" Target="legacyDiagramText5.bin"/><Relationship Id="rId4" Type="http://schemas.microsoft.com/office/2006/relationships/legacyDiagramText" Target="legacyDiagramText4.bin"/></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D8D60-924F-488F-8A89-4E3D0FA22489}" type="datetimeFigureOut">
              <a:rPr lang="en-US" smtClean="0"/>
              <a:pPr/>
              <a:t>9/13/2010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037DE6-2F2D-416E-9681-F88C34C053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037DE6-2F2D-416E-9681-F88C34C05350}"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F263C55-4088-4281-A633-D8828196C9DE}" type="datetimeFigureOut">
              <a:rPr lang="en-AU" smtClean="0"/>
              <a:pPr/>
              <a:t>13/09/2010</a:t>
            </a:fld>
            <a:endParaRPr lang="en-AU" dirty="0"/>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AU" dirty="0"/>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2CE1397E-1222-4D77-A623-54B27869E4C4}" type="slidenum">
              <a:rPr lang="en-AU" smtClean="0"/>
              <a:pPr/>
              <a:t>‹#›</a:t>
            </a:fld>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5" name="Footer Placeholder 4"/>
          <p:cNvSpPr>
            <a:spLocks noGrp="1"/>
          </p:cNvSpPr>
          <p:nvPr>
            <p:ph type="ftr" sz="quarter" idx="11"/>
          </p:nvPr>
        </p:nvSpPr>
        <p:spPr/>
        <p:txBody>
          <a:bodyPr/>
          <a:lstStyle>
            <a:extLst/>
          </a:lstStyle>
          <a:p>
            <a:endParaRPr lang="en-AU" dirty="0"/>
          </a:p>
        </p:txBody>
      </p:sp>
      <p:sp>
        <p:nvSpPr>
          <p:cNvPr id="6" name="Slide Number Placeholder 5"/>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F263C55-4088-4281-A633-D8828196C9DE}" type="datetimeFigureOut">
              <a:rPr lang="en-AU" smtClean="0"/>
              <a:pPr/>
              <a:t>13/09/2010</a:t>
            </a:fld>
            <a:endParaRPr lang="en-AU" dirty="0"/>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AU" dirty="0"/>
          </a:p>
        </p:txBody>
      </p:sp>
      <p:sp>
        <p:nvSpPr>
          <p:cNvPr id="6" name="Slide Number Placeholder 5"/>
          <p:cNvSpPr>
            <a:spLocks noGrp="1"/>
          </p:cNvSpPr>
          <p:nvPr>
            <p:ph type="sldNum" sz="quarter" idx="12"/>
          </p:nvPr>
        </p:nvSpPr>
        <p:spPr>
          <a:xfrm>
            <a:off x="6733952" y="6555112"/>
            <a:ext cx="588336" cy="228600"/>
          </a:xfrm>
        </p:spPr>
        <p:txBody>
          <a:bodyPr/>
          <a:lstStyle>
            <a:extLst/>
          </a:lstStyle>
          <a:p>
            <a:fld id="{2CE1397E-1222-4D77-A623-54B27869E4C4}" type="slidenum">
              <a:rPr lang="en-AU" smtClean="0"/>
              <a:pPr/>
              <a:t>‹#›</a:t>
            </a:fld>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6" name="Footer Placeholder 5"/>
          <p:cNvSpPr>
            <a:spLocks noGrp="1"/>
          </p:cNvSpPr>
          <p:nvPr>
            <p:ph type="ftr" sz="quarter" idx="11"/>
          </p:nvPr>
        </p:nvSpPr>
        <p:spPr/>
        <p:txBody>
          <a:bodyPr/>
          <a:lstStyle>
            <a:extLst/>
          </a:lstStyle>
          <a:p>
            <a:endParaRPr lang="en-AU" dirty="0"/>
          </a:p>
        </p:txBody>
      </p:sp>
      <p:sp>
        <p:nvSpPr>
          <p:cNvPr id="7" name="Slide Number Placeholder 6"/>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8" name="Footer Placeholder 7"/>
          <p:cNvSpPr>
            <a:spLocks noGrp="1"/>
          </p:cNvSpPr>
          <p:nvPr>
            <p:ph type="ftr" sz="quarter" idx="11"/>
          </p:nvPr>
        </p:nvSpPr>
        <p:spPr/>
        <p:txBody>
          <a:bodyPr/>
          <a:lstStyle>
            <a:extLst/>
          </a:lstStyle>
          <a:p>
            <a:endParaRPr lang="en-AU" dirty="0"/>
          </a:p>
        </p:txBody>
      </p:sp>
      <p:sp>
        <p:nvSpPr>
          <p:cNvPr id="9" name="Slide Number Placeholder 8"/>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4" name="Footer Placeholder 3"/>
          <p:cNvSpPr>
            <a:spLocks noGrp="1"/>
          </p:cNvSpPr>
          <p:nvPr>
            <p:ph type="ftr" sz="quarter" idx="11"/>
          </p:nvPr>
        </p:nvSpPr>
        <p:spPr/>
        <p:txBody>
          <a:bodyPr/>
          <a:lstStyle>
            <a:extLst/>
          </a:lstStyle>
          <a:p>
            <a:endParaRPr lang="en-AU" dirty="0"/>
          </a:p>
        </p:txBody>
      </p:sp>
      <p:sp>
        <p:nvSpPr>
          <p:cNvPr id="5" name="Slide Number Placeholder 4"/>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F263C55-4088-4281-A633-D8828196C9DE}" type="datetimeFigureOut">
              <a:rPr lang="en-AU" smtClean="0"/>
              <a:pPr/>
              <a:t>13/09/2010</a:t>
            </a:fld>
            <a:endParaRPr lang="en-AU" dirty="0"/>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AU" dirty="0"/>
          </a:p>
        </p:txBody>
      </p:sp>
      <p:sp>
        <p:nvSpPr>
          <p:cNvPr id="4" name="Slide Number Placeholder 3"/>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6" name="Footer Placeholder 5"/>
          <p:cNvSpPr>
            <a:spLocks noGrp="1"/>
          </p:cNvSpPr>
          <p:nvPr>
            <p:ph type="ftr" sz="quarter" idx="11"/>
          </p:nvPr>
        </p:nvSpPr>
        <p:spPr/>
        <p:txBody>
          <a:bodyPr/>
          <a:lstStyle>
            <a:extLst/>
          </a:lstStyle>
          <a:p>
            <a:endParaRPr lang="en-AU" dirty="0"/>
          </a:p>
        </p:txBody>
      </p:sp>
      <p:sp>
        <p:nvSpPr>
          <p:cNvPr id="7" name="Slide Number Placeholder 6"/>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6" name="Footer Placeholder 5"/>
          <p:cNvSpPr>
            <a:spLocks noGrp="1"/>
          </p:cNvSpPr>
          <p:nvPr>
            <p:ph type="ftr" sz="quarter" idx="11"/>
          </p:nvPr>
        </p:nvSpPr>
        <p:spPr/>
        <p:txBody>
          <a:bodyPr/>
          <a:lstStyle>
            <a:extLst/>
          </a:lstStyle>
          <a:p>
            <a:endParaRPr lang="en-AU" dirty="0"/>
          </a:p>
        </p:txBody>
      </p:sp>
      <p:sp>
        <p:nvSpPr>
          <p:cNvPr id="7" name="Slide Number Placeholder 6"/>
          <p:cNvSpPr>
            <a:spLocks noGrp="1"/>
          </p:cNvSpPr>
          <p:nvPr>
            <p:ph type="sldNum" sz="quarter" idx="12"/>
          </p:nvPr>
        </p:nvSpPr>
        <p:spPr/>
        <p:txBody>
          <a:bodyPr/>
          <a:lstStyle>
            <a:extLst/>
          </a:lstStyle>
          <a:p>
            <a:fld id="{2CE1397E-1222-4D77-A623-54B27869E4C4}" type="slidenum">
              <a:rPr lang="en-AU" smtClean="0"/>
              <a:pPr/>
              <a:t>‹#›</a:t>
            </a:fld>
            <a:endParaRPr lang="en-AU" dirty="0"/>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dirty="0"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263C55-4088-4281-A633-D8828196C9DE}" type="datetimeFigureOut">
              <a:rPr lang="en-AU" smtClean="0"/>
              <a:pPr/>
              <a:t>13/09/2010</a:t>
            </a:fld>
            <a:endParaRPr lang="en-AU" dirty="0"/>
          </a:p>
        </p:txBody>
      </p:sp>
      <p:sp>
        <p:nvSpPr>
          <p:cNvPr id="5" name="Footer Placeholder 4"/>
          <p:cNvSpPr>
            <a:spLocks noGrp="1"/>
          </p:cNvSpPr>
          <p:nvPr>
            <p:ph type="ftr" sz="quarter" idx="11"/>
          </p:nvPr>
        </p:nvSpPr>
        <p:spPr/>
        <p:txBody>
          <a:bodyPr/>
          <a:lstStyle>
            <a:extLst/>
          </a:lstStyle>
          <a:p>
            <a:endParaRPr lang="en-AU" dirty="0"/>
          </a:p>
        </p:txBody>
      </p:sp>
      <p:sp>
        <p:nvSpPr>
          <p:cNvPr id="6" name="Slide Number Placeholder 5"/>
          <p:cNvSpPr>
            <a:spLocks noGrp="1"/>
          </p:cNvSpPr>
          <p:nvPr>
            <p:ph type="sldNum" sz="quarter" idx="12"/>
          </p:nvPr>
        </p:nvSpPr>
        <p:spPr/>
        <p:txBody>
          <a:bodyPr/>
          <a:lstStyle>
            <a:extLst/>
          </a:lstStyle>
          <a:p>
            <a:fld id="{2CE1397E-1222-4D77-A623-54B27869E4C4}"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5F263C55-4088-4281-A633-D8828196C9DE}" type="datetimeFigureOut">
              <a:rPr lang="en-AU" smtClean="0"/>
              <a:pPr/>
              <a:t>13/09/2010</a:t>
            </a:fld>
            <a:endParaRPr lang="en-AU" dirty="0"/>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AU"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2CE1397E-1222-4D77-A623-54B27869E4C4}"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F263C55-4088-4281-A633-D8828196C9DE}" type="datetimeFigureOut">
              <a:rPr lang="en-AU" smtClean="0"/>
              <a:pPr/>
              <a:t>13/09/2010</a:t>
            </a:fld>
            <a:endParaRPr lang="en-AU" dirty="0"/>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AU" dirty="0"/>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2CE1397E-1222-4D77-A623-54B27869E4C4}"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wmf"/><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eg"/><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2.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jpeg"/><Relationship Id="rId9" Type="http://schemas.microsoft.com/office/2007/relationships/diagramDrawing" Target="../diagrams/drawing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Elizabeth</a:t>
            </a:r>
            <a:br>
              <a:rPr lang="en-AU" dirty="0" smtClean="0"/>
            </a:br>
            <a:r>
              <a:rPr lang="en-AU" dirty="0" smtClean="0"/>
              <a:t>revision</a:t>
            </a:r>
            <a:endParaRPr lang="en-AU" dirty="0"/>
          </a:p>
        </p:txBody>
      </p:sp>
      <p:sp>
        <p:nvSpPr>
          <p:cNvPr id="3" name="Subtitle 2"/>
          <p:cNvSpPr>
            <a:spLocks noGrp="1"/>
          </p:cNvSpPr>
          <p:nvPr>
            <p:ph type="subTitle" idx="1"/>
          </p:nvPr>
        </p:nvSpPr>
        <p:spPr/>
        <p:txBody>
          <a:bodyPr/>
          <a:lstStyle/>
          <a:p>
            <a:r>
              <a:rPr lang="en-AU" i="1" dirty="0" smtClean="0"/>
              <a:t>“In mirrors more than one can see”</a:t>
            </a:r>
            <a:endParaRPr lang="en-AU" i="1"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A good quote</a:t>
            </a:r>
            <a:endParaRPr lang="en-AU" dirty="0"/>
          </a:p>
        </p:txBody>
      </p:sp>
      <p:sp>
        <p:nvSpPr>
          <p:cNvPr id="3" name="Subtitle 2"/>
          <p:cNvSpPr>
            <a:spLocks noGrp="1"/>
          </p:cNvSpPr>
          <p:nvPr>
            <p:ph type="subTitle" idx="1"/>
          </p:nvPr>
        </p:nvSpPr>
        <p:spPr>
          <a:xfrm>
            <a:off x="3354442" y="3539864"/>
            <a:ext cx="5114778" cy="2337408"/>
          </a:xfrm>
        </p:spPr>
        <p:txBody>
          <a:bodyPr>
            <a:normAutofit fontScale="77500" lnSpcReduction="20000"/>
          </a:bodyPr>
          <a:lstStyle/>
          <a:p>
            <a:r>
              <a:rPr lang="en-US" i="1" dirty="0" smtClean="0"/>
              <a:t>“Elizabeth Tudor remains an enigma despite the intense </a:t>
            </a:r>
            <a:r>
              <a:rPr lang="en-US" i="1" dirty="0" err="1" smtClean="0"/>
              <a:t>historiographical</a:t>
            </a:r>
            <a:r>
              <a:rPr lang="en-US" i="1" dirty="0" smtClean="0"/>
              <a:t> tradition. In part this can be explained by the relative silence of Elizabeth’s own voice in a medieval, patriarchal society. Where there is scant evidence there is always endless debate. Each generation redefines   Elizabeth according to the types of evidence they select ,  their own personal and historical context and the needs of the society in which they write.”</a:t>
            </a:r>
          </a:p>
          <a:p>
            <a:r>
              <a:rPr lang="en-US" i="1" dirty="0" smtClean="0"/>
              <a:t>Some really smart person</a:t>
            </a:r>
            <a:endParaRPr lang="en-US" dirty="0" smtClean="0"/>
          </a:p>
          <a:p>
            <a:endParaRPr lang="en-AU" i="1"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pic>
        <p:nvPicPr>
          <p:cNvPr id="43010" name="Picture 2" descr="C:\Documents and Settings\Graham\Local Settings\Temporary Internet Files\Content.IE5\B897WP5E\MC900440452[1].wmf"/>
          <p:cNvPicPr>
            <a:picLocks noChangeAspect="1" noChangeArrowheads="1"/>
          </p:cNvPicPr>
          <p:nvPr/>
        </p:nvPicPr>
        <p:blipFill>
          <a:blip r:embed="rId5" cstate="print"/>
          <a:srcRect/>
          <a:stretch>
            <a:fillRect/>
          </a:stretch>
        </p:blipFill>
        <p:spPr bwMode="auto">
          <a:xfrm>
            <a:off x="7740352" y="5749280"/>
            <a:ext cx="829615" cy="110872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FOUNDATIONAL MYTHS</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
        <p:nvSpPr>
          <p:cNvPr id="6" name="TextBox 5"/>
          <p:cNvSpPr txBox="1"/>
          <p:nvPr/>
        </p:nvSpPr>
        <p:spPr>
          <a:xfrm>
            <a:off x="2987824" y="3501008"/>
            <a:ext cx="5688632" cy="3046988"/>
          </a:xfrm>
          <a:prstGeom prst="rect">
            <a:avLst/>
          </a:prstGeom>
          <a:noFill/>
        </p:spPr>
        <p:txBody>
          <a:bodyPr wrap="square" rtlCol="0">
            <a:spAutoFit/>
          </a:bodyPr>
          <a:lstStyle/>
          <a:p>
            <a:r>
              <a:rPr lang="en-US" sz="3200" dirty="0" smtClean="0"/>
              <a:t>Not just CAMDEN- </a:t>
            </a:r>
            <a:r>
              <a:rPr lang="en-US" sz="3200" i="1" u="sng" dirty="0" smtClean="0"/>
              <a:t>A History of the most renowned and Glorious Princess Elizabeth</a:t>
            </a:r>
          </a:p>
          <a:p>
            <a:r>
              <a:rPr lang="en-US" sz="3200" dirty="0" smtClean="0"/>
              <a:t>SPENCER- </a:t>
            </a:r>
            <a:r>
              <a:rPr lang="en-US" sz="3200" i="1" u="sng" dirty="0" smtClean="0"/>
              <a:t>The </a:t>
            </a:r>
            <a:r>
              <a:rPr lang="en-US" sz="3200" i="1" u="sng" dirty="0" err="1" smtClean="0"/>
              <a:t>Fairie</a:t>
            </a:r>
            <a:r>
              <a:rPr lang="en-US" sz="3200" i="1" u="sng" dirty="0" smtClean="0"/>
              <a:t> Queen</a:t>
            </a:r>
          </a:p>
          <a:p>
            <a:r>
              <a:rPr lang="en-US" sz="3200" dirty="0" smtClean="0"/>
              <a:t>AYLMER ? </a:t>
            </a:r>
            <a:r>
              <a:rPr lang="en-US" sz="3200" i="1" u="sng" dirty="0" smtClean="0"/>
              <a:t>An </a:t>
            </a:r>
            <a:r>
              <a:rPr lang="en-US" sz="3200" i="1" u="sng" dirty="0" err="1" smtClean="0"/>
              <a:t>harborowe</a:t>
            </a:r>
            <a:r>
              <a:rPr lang="en-US" sz="3200" i="1" u="sng" dirty="0" smtClean="0"/>
              <a:t> for faithful and </a:t>
            </a:r>
            <a:r>
              <a:rPr lang="en-US" sz="3200" i="1" u="sng" dirty="0" err="1" smtClean="0"/>
              <a:t>trewe</a:t>
            </a:r>
            <a:r>
              <a:rPr lang="en-US" sz="3200" i="1" u="sng" dirty="0" smtClean="0"/>
              <a:t> </a:t>
            </a:r>
            <a:r>
              <a:rPr lang="en-US" sz="3200" i="1" u="sng" dirty="0" err="1" smtClean="0"/>
              <a:t>subiectes</a:t>
            </a:r>
            <a:r>
              <a:rPr lang="en-US" sz="3200" i="1" u="sng" dirty="0" smtClean="0"/>
              <a:t> </a:t>
            </a:r>
            <a:endParaRPr lang="en-US" sz="3200" i="1" u="sng"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7864" y="0"/>
            <a:ext cx="5472608" cy="980680"/>
          </a:xfrm>
        </p:spPr>
        <p:txBody>
          <a:bodyPr/>
          <a:lstStyle/>
          <a:p>
            <a:r>
              <a:rPr lang="en-AU" dirty="0" smtClean="0"/>
              <a:t>IMAGES OFELIZABETH</a:t>
            </a:r>
          </a:p>
        </p:txBody>
      </p:sp>
      <p:pic>
        <p:nvPicPr>
          <p:cNvPr id="4" name="Picture 4"/>
          <p:cNvPicPr>
            <a:picLocks noChangeAspect="1" noChangeArrowheads="1"/>
          </p:cNvPicPr>
          <p:nvPr/>
        </p:nvPicPr>
        <p:blipFill>
          <a:blip r:embed="rId4"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5" cstate="print"/>
          <a:srcRect/>
          <a:stretch>
            <a:fillRect/>
          </a:stretch>
        </p:blipFill>
        <p:spPr>
          <a:xfrm>
            <a:off x="0" y="3212976"/>
            <a:ext cx="2699792" cy="3645024"/>
          </a:xfrm>
          <a:prstGeom prst="rect">
            <a:avLst/>
          </a:prstGeom>
          <a:noFill/>
          <a:ln/>
        </p:spPr>
      </p:pic>
      <p:graphicFrame>
        <p:nvGraphicFramePr>
          <p:cNvPr id="1026" name="Diagram 2"/>
          <p:cNvGraphicFramePr>
            <a:graphicFrameLocks/>
          </p:cNvGraphicFramePr>
          <p:nvPr/>
        </p:nvGraphicFramePr>
        <p:xfrm>
          <a:off x="2771800" y="1447800"/>
          <a:ext cx="6372200" cy="3709392"/>
        </p:xfrm>
        <a:graphic>
          <a:graphicData uri="http://schemas.openxmlformats.org/drawingml/2006/compatibility">
            <com:legacyDrawing xmlns:com="http://schemas.openxmlformats.org/drawingml/2006/compatibility" spid="_x0000_s1026"/>
          </a:graphicData>
        </a:graphic>
      </p:graphicFrame>
      <p:sp>
        <p:nvSpPr>
          <p:cNvPr id="6" name="TextBox 5"/>
          <p:cNvSpPr txBox="1"/>
          <p:nvPr/>
        </p:nvSpPr>
        <p:spPr>
          <a:xfrm>
            <a:off x="2843808" y="5229200"/>
            <a:ext cx="6300192" cy="1569660"/>
          </a:xfrm>
          <a:prstGeom prst="rect">
            <a:avLst/>
          </a:prstGeom>
          <a:noFill/>
        </p:spPr>
        <p:txBody>
          <a:bodyPr wrap="square" rtlCol="0">
            <a:spAutoFit/>
          </a:bodyPr>
          <a:lstStyle/>
          <a:p>
            <a:r>
              <a:rPr lang="en-US" sz="1600" dirty="0" smtClean="0"/>
              <a:t>All of these images are static, implying that these were defining features throughout her reign. A more rational view would be that Elizabeth learned quickly and evolved as a Queen and leader despite Camden’s claim of “</a:t>
            </a:r>
            <a:r>
              <a:rPr lang="en-US" sz="1600" i="1" dirty="0" err="1" smtClean="0"/>
              <a:t>Semper</a:t>
            </a:r>
            <a:r>
              <a:rPr lang="en-US" sz="1600" i="1" dirty="0" smtClean="0"/>
              <a:t> </a:t>
            </a:r>
            <a:r>
              <a:rPr lang="en-US" sz="1600" i="1" dirty="0" err="1" smtClean="0"/>
              <a:t>Aedeum</a:t>
            </a:r>
            <a:r>
              <a:rPr lang="en-US" sz="1600" dirty="0" smtClean="0"/>
              <a:t>.” This is one of the reasons for constant debate in that they assume a static quality. It largely depends what period the Historian is looking at.</a:t>
            </a:r>
            <a:endParaRPr lang="en-US" sz="1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Why have the views of Elizabeth changed over time</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
        <p:nvSpPr>
          <p:cNvPr id="6" name="TextBox 5"/>
          <p:cNvSpPr txBox="1"/>
          <p:nvPr/>
        </p:nvSpPr>
        <p:spPr>
          <a:xfrm>
            <a:off x="2843808" y="3356992"/>
            <a:ext cx="6120680" cy="2554545"/>
          </a:xfrm>
          <a:prstGeom prst="rect">
            <a:avLst/>
          </a:prstGeom>
          <a:noFill/>
        </p:spPr>
        <p:txBody>
          <a:bodyPr wrap="square" rtlCol="0">
            <a:spAutoFit/>
          </a:bodyPr>
          <a:lstStyle/>
          <a:p>
            <a:pPr>
              <a:buFont typeface="Arial" pitchFamily="34" charset="0"/>
              <a:buChar char="•"/>
            </a:pPr>
            <a:r>
              <a:rPr lang="en-AU" sz="3200" dirty="0" smtClean="0"/>
              <a:t>PURPOSE</a:t>
            </a:r>
          </a:p>
          <a:p>
            <a:pPr>
              <a:buFont typeface="Arial" pitchFamily="34" charset="0"/>
              <a:buChar char="•"/>
            </a:pPr>
            <a:r>
              <a:rPr lang="en-AU" sz="3200" dirty="0" smtClean="0"/>
              <a:t>AUDIENCE</a:t>
            </a:r>
          </a:p>
          <a:p>
            <a:pPr>
              <a:buFont typeface="Arial" pitchFamily="34" charset="0"/>
              <a:buChar char="•"/>
            </a:pPr>
            <a:r>
              <a:rPr lang="en-AU" sz="3200" dirty="0" smtClean="0"/>
              <a:t>EVIDENCE</a:t>
            </a:r>
          </a:p>
          <a:p>
            <a:pPr>
              <a:buFont typeface="Arial" pitchFamily="34" charset="0"/>
              <a:buChar char="•"/>
            </a:pPr>
            <a:r>
              <a:rPr lang="en-AU" sz="3200" dirty="0" smtClean="0"/>
              <a:t>IDEOLOGICAL VIEW OF HISTORY</a:t>
            </a:r>
          </a:p>
          <a:p>
            <a:pPr>
              <a:buFont typeface="Arial" pitchFamily="34" charset="0"/>
              <a:buChar char="•"/>
            </a:pPr>
            <a:r>
              <a:rPr lang="en-AU" sz="3200" dirty="0"/>
              <a:t> </a:t>
            </a:r>
            <a:r>
              <a:rPr lang="en-AU" sz="3200" dirty="0" smtClean="0"/>
              <a:t>CONTEXT OF HISTORIANS</a:t>
            </a:r>
            <a:endParaRPr lang="en-AU" sz="3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533400"/>
            <a:ext cx="5105400" cy="663352"/>
          </a:xfrm>
        </p:spPr>
        <p:txBody>
          <a:bodyPr/>
          <a:lstStyle/>
          <a:p>
            <a:r>
              <a:rPr lang="en-AU" dirty="0" smtClean="0"/>
              <a:t>WHO ARE THE HISTORIANS</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
        <p:nvSpPr>
          <p:cNvPr id="6" name="TextBox 5"/>
          <p:cNvSpPr txBox="1"/>
          <p:nvPr/>
        </p:nvSpPr>
        <p:spPr>
          <a:xfrm>
            <a:off x="3131840" y="1484784"/>
            <a:ext cx="5760640" cy="4339650"/>
          </a:xfrm>
          <a:prstGeom prst="rect">
            <a:avLst/>
          </a:prstGeom>
          <a:noFill/>
        </p:spPr>
        <p:txBody>
          <a:bodyPr wrap="square" rtlCol="0">
            <a:spAutoFit/>
          </a:bodyPr>
          <a:lstStyle/>
          <a:p>
            <a:r>
              <a:rPr lang="en-US" sz="2000" b="1" i="1" dirty="0" smtClean="0"/>
              <a:t>Constructions of Elizabeth’s identities and gender;</a:t>
            </a:r>
            <a:r>
              <a:rPr lang="en-US" b="1" i="1" dirty="0" smtClean="0"/>
              <a:t>   </a:t>
            </a:r>
          </a:p>
          <a:p>
            <a:r>
              <a:rPr lang="en-US" sz="2400" i="1" dirty="0" smtClean="0"/>
              <a:t> </a:t>
            </a:r>
            <a:r>
              <a:rPr lang="en-US" sz="2400" dirty="0" smtClean="0"/>
              <a:t> Neale, Elton, Haigh, Basnett Doran, Strong Walker</a:t>
            </a:r>
          </a:p>
          <a:p>
            <a:endParaRPr lang="en-US" sz="2400" dirty="0" smtClean="0"/>
          </a:p>
          <a:p>
            <a:r>
              <a:rPr lang="en-US" sz="2000" b="1" i="1" dirty="0" smtClean="0"/>
              <a:t>Political and Administrative Leadership</a:t>
            </a:r>
            <a:r>
              <a:rPr lang="en-US" b="1" dirty="0" smtClean="0"/>
              <a:t>;  </a:t>
            </a:r>
            <a:r>
              <a:rPr lang="en-US" sz="2400" dirty="0" smtClean="0"/>
              <a:t>Camden, Neale, Elton, Haigh,  Basnett, Mears</a:t>
            </a:r>
          </a:p>
          <a:p>
            <a:endParaRPr lang="en-US" sz="2400" dirty="0" smtClean="0"/>
          </a:p>
          <a:p>
            <a:r>
              <a:rPr lang="en-US" sz="2400" b="1" i="1" dirty="0" smtClean="0"/>
              <a:t>Religious beliefs and policies</a:t>
            </a:r>
            <a:r>
              <a:rPr lang="en-US" dirty="0" smtClean="0"/>
              <a:t>; </a:t>
            </a:r>
          </a:p>
          <a:p>
            <a:r>
              <a:rPr lang="en-US" sz="2400" dirty="0" smtClean="0"/>
              <a:t>Camden, Lingard, Neale Elton  Haigh Basnett</a:t>
            </a:r>
            <a:endParaRPr 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
        <p:nvSpPr>
          <p:cNvPr id="6" name="TextBox 5"/>
          <p:cNvSpPr txBox="1"/>
          <p:nvPr/>
        </p:nvSpPr>
        <p:spPr>
          <a:xfrm>
            <a:off x="2771800" y="188640"/>
            <a:ext cx="6192688" cy="1077218"/>
          </a:xfrm>
          <a:prstGeom prst="rect">
            <a:avLst/>
          </a:prstGeom>
          <a:noFill/>
        </p:spPr>
        <p:txBody>
          <a:bodyPr wrap="square" rtlCol="0">
            <a:spAutoFit/>
          </a:bodyPr>
          <a:lstStyle/>
          <a:p>
            <a:r>
              <a:rPr lang="en-AU" sz="3200" dirty="0" smtClean="0"/>
              <a:t>PURPOSE- MODERNIST/POST MODERNIST STRETCH</a:t>
            </a:r>
            <a:endParaRPr lang="en-AU" sz="3200" dirty="0"/>
          </a:p>
        </p:txBody>
      </p:sp>
      <p:sp>
        <p:nvSpPr>
          <p:cNvPr id="7" name="TextBox 6"/>
          <p:cNvSpPr txBox="1"/>
          <p:nvPr/>
        </p:nvSpPr>
        <p:spPr>
          <a:xfrm>
            <a:off x="3059832" y="1484784"/>
            <a:ext cx="5616624" cy="1600438"/>
          </a:xfrm>
          <a:prstGeom prst="rect">
            <a:avLst/>
          </a:prstGeom>
          <a:noFill/>
        </p:spPr>
        <p:txBody>
          <a:bodyPr wrap="square" rtlCol="0">
            <a:spAutoFit/>
          </a:bodyPr>
          <a:lstStyle/>
          <a:p>
            <a:r>
              <a:rPr lang="en-US" sz="1400" b="1" dirty="0" smtClean="0">
                <a:latin typeface="Lucida Calligraphy" pitchFamily="66" charset="0"/>
              </a:rPr>
              <a:t>“Camden </a:t>
            </a:r>
            <a:r>
              <a:rPr lang="en-US" sz="1400" i="1" dirty="0" smtClean="0">
                <a:latin typeface="Lucida Calligraphy" pitchFamily="66" charset="0"/>
              </a:rPr>
              <a:t>“Mine own </a:t>
            </a:r>
            <a:r>
              <a:rPr lang="en-US" sz="1400" i="1" dirty="0" err="1" smtClean="0">
                <a:latin typeface="Lucida Calligraphy" pitchFamily="66" charset="0"/>
              </a:rPr>
              <a:t>judgement</a:t>
            </a:r>
            <a:r>
              <a:rPr lang="en-US" sz="1400" i="1" dirty="0" smtClean="0">
                <a:latin typeface="Lucida Calligraphy" pitchFamily="66" charset="0"/>
              </a:rPr>
              <a:t> I have not delivered by affection; </a:t>
            </a:r>
            <a:r>
              <a:rPr lang="en-US" sz="1400" i="1" dirty="0" err="1" smtClean="0">
                <a:latin typeface="Lucida Calligraphy" pitchFamily="66" charset="0"/>
              </a:rPr>
              <a:t>whilest</a:t>
            </a:r>
            <a:r>
              <a:rPr lang="en-US" sz="1400" i="1" dirty="0" smtClean="0">
                <a:latin typeface="Lucida Calligraphy" pitchFamily="66" charset="0"/>
              </a:rPr>
              <a:t> writing with an </a:t>
            </a:r>
            <a:r>
              <a:rPr lang="en-US" sz="1400" i="1" dirty="0" err="1" smtClean="0">
                <a:latin typeface="Lucida Calligraphy" pitchFamily="66" charset="0"/>
              </a:rPr>
              <a:t>undistempered</a:t>
            </a:r>
            <a:r>
              <a:rPr lang="en-US" sz="1400" i="1" dirty="0" smtClean="0">
                <a:latin typeface="Lucida Calligraphy" pitchFamily="66" charset="0"/>
              </a:rPr>
              <a:t> </a:t>
            </a:r>
            <a:r>
              <a:rPr lang="en-US" sz="1400" i="1" dirty="0" err="1" smtClean="0">
                <a:latin typeface="Lucida Calligraphy" pitchFamily="66" charset="0"/>
              </a:rPr>
              <a:t>minde</a:t>
            </a:r>
            <a:r>
              <a:rPr lang="en-US" sz="1400" i="1" dirty="0" smtClean="0">
                <a:latin typeface="Lucida Calligraphy" pitchFamily="66" charset="0"/>
              </a:rPr>
              <a:t>, I have rather sifted out the </a:t>
            </a:r>
            <a:r>
              <a:rPr lang="en-US" sz="1400" i="1" dirty="0" err="1" smtClean="0">
                <a:latin typeface="Lucida Calligraphy" pitchFamily="66" charset="0"/>
              </a:rPr>
              <a:t>judgement</a:t>
            </a:r>
            <a:r>
              <a:rPr lang="en-US" sz="1400" i="1" dirty="0" smtClean="0">
                <a:latin typeface="Lucida Calligraphy" pitchFamily="66" charset="0"/>
              </a:rPr>
              <a:t> of others, and scarcely have interposed mine </a:t>
            </a:r>
            <a:r>
              <a:rPr lang="en-US" sz="1400" i="1" dirty="0" err="1" smtClean="0">
                <a:latin typeface="Lucida Calligraphy" pitchFamily="66" charset="0"/>
              </a:rPr>
              <a:t>owne</a:t>
            </a:r>
            <a:r>
              <a:rPr lang="en-US" sz="1400" i="1" dirty="0" smtClean="0">
                <a:latin typeface="Lucida Calligraphy" pitchFamily="66" charset="0"/>
              </a:rPr>
              <a:t> in any place</a:t>
            </a:r>
            <a:endParaRPr lang="en-US" sz="1400" dirty="0" smtClean="0">
              <a:latin typeface="Lucida Calligraphy" pitchFamily="66" charset="0"/>
            </a:endParaRPr>
          </a:p>
          <a:p>
            <a:r>
              <a:rPr lang="en-US" sz="1400" dirty="0" smtClean="0">
                <a:latin typeface="Lucida Calligraphy" pitchFamily="66" charset="0"/>
              </a:rPr>
              <a:t>“History of the Most </a:t>
            </a:r>
            <a:r>
              <a:rPr lang="en-US" sz="1400" b="1" dirty="0" smtClean="0">
                <a:latin typeface="Lucida Calligraphy" pitchFamily="66" charset="0"/>
              </a:rPr>
              <a:t>Glorious </a:t>
            </a:r>
            <a:r>
              <a:rPr lang="en-US" sz="1400" dirty="0" smtClean="0">
                <a:latin typeface="Lucida Calligraphy" pitchFamily="66" charset="0"/>
              </a:rPr>
              <a:t>and </a:t>
            </a:r>
            <a:r>
              <a:rPr lang="en-US" sz="1400" b="1" dirty="0" smtClean="0">
                <a:latin typeface="Lucida Calligraphy" pitchFamily="66" charset="0"/>
              </a:rPr>
              <a:t>Renowned </a:t>
            </a:r>
            <a:r>
              <a:rPr lang="en-US" sz="1400" dirty="0" smtClean="0">
                <a:latin typeface="Lucida Calligraphy" pitchFamily="66" charset="0"/>
              </a:rPr>
              <a:t>Princess Elizabeth</a:t>
            </a:r>
          </a:p>
          <a:p>
            <a:r>
              <a:rPr lang="en-US" sz="1400" dirty="0" smtClean="0">
                <a:latin typeface="Lucida Calligraphy" pitchFamily="66" charset="0"/>
              </a:rPr>
              <a:t> a golden queen tending her people in a golden age.”</a:t>
            </a:r>
            <a:endParaRPr lang="en-AU" sz="1400" dirty="0">
              <a:latin typeface="Lucida Calligraphy" pitchFamily="66" charset="0"/>
            </a:endParaRPr>
          </a:p>
        </p:txBody>
      </p:sp>
      <p:sp>
        <p:nvSpPr>
          <p:cNvPr id="8" name="TextBox 7"/>
          <p:cNvSpPr txBox="1"/>
          <p:nvPr/>
        </p:nvSpPr>
        <p:spPr>
          <a:xfrm>
            <a:off x="3059832" y="3284984"/>
            <a:ext cx="5328592" cy="1477328"/>
          </a:xfrm>
          <a:prstGeom prst="rect">
            <a:avLst/>
          </a:prstGeom>
          <a:noFill/>
        </p:spPr>
        <p:txBody>
          <a:bodyPr wrap="square" rtlCol="0">
            <a:spAutoFit/>
          </a:bodyPr>
          <a:lstStyle/>
          <a:p>
            <a:r>
              <a:rPr lang="en-US" dirty="0" smtClean="0">
                <a:latin typeface="Monotype Corsiva" pitchFamily="66" charset="0"/>
              </a:rPr>
              <a:t>J E Neale “ honest and considered judgments based upon careful study of the original authorities.”</a:t>
            </a:r>
          </a:p>
          <a:p>
            <a:r>
              <a:rPr lang="en-US" dirty="0" smtClean="0">
                <a:latin typeface="Monotype Corsiva" pitchFamily="66" charset="0"/>
              </a:rPr>
              <a:t>“This biography has been written for a particular occasion and a particular public.” ( 4</a:t>
            </a:r>
            <a:r>
              <a:rPr lang="en-US" baseline="30000" dirty="0" smtClean="0">
                <a:latin typeface="Monotype Corsiva" pitchFamily="66" charset="0"/>
              </a:rPr>
              <a:t>th</a:t>
            </a:r>
            <a:r>
              <a:rPr lang="en-US" dirty="0" smtClean="0">
                <a:latin typeface="Monotype Corsiva" pitchFamily="66" charset="0"/>
              </a:rPr>
              <a:t> centenary of Queen Elizabeth’s birth) 1933</a:t>
            </a:r>
            <a:endParaRPr lang="en-US" dirty="0">
              <a:latin typeface="Monotype Corsiva" pitchFamily="66" charset="0"/>
            </a:endParaRPr>
          </a:p>
        </p:txBody>
      </p:sp>
      <p:sp>
        <p:nvSpPr>
          <p:cNvPr id="9" name="TextBox 8"/>
          <p:cNvSpPr txBox="1"/>
          <p:nvPr/>
        </p:nvSpPr>
        <p:spPr>
          <a:xfrm>
            <a:off x="3275856" y="5517232"/>
            <a:ext cx="5256584" cy="1477328"/>
          </a:xfrm>
          <a:prstGeom prst="rect">
            <a:avLst/>
          </a:prstGeom>
          <a:noFill/>
        </p:spPr>
        <p:txBody>
          <a:bodyPr wrap="square" rtlCol="0">
            <a:spAutoFit/>
          </a:bodyPr>
          <a:lstStyle/>
          <a:p>
            <a:r>
              <a:rPr lang="en-US" dirty="0" smtClean="0">
                <a:latin typeface="Monotype Corsiva" pitchFamily="66" charset="0"/>
              </a:rPr>
              <a:t>Julia Walker “What we seek to illuminate, however, is another, darker discourse, the less famous discourse of disrespect and dissent which also existed from Elizabeth's troubled days as a princess and into the decades after her death. </a:t>
            </a:r>
            <a:endParaRPr lang="en-US" dirty="0">
              <a:latin typeface="Monotype Corsiva" pitchFamily="66"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533400"/>
            <a:ext cx="5105400" cy="879376"/>
          </a:xfrm>
        </p:spPr>
        <p:txBody>
          <a:bodyPr/>
          <a:lstStyle/>
          <a:p>
            <a:r>
              <a:rPr lang="en-AU" dirty="0" smtClean="0"/>
              <a:t>AUDIENCE</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graphicFrame>
        <p:nvGraphicFramePr>
          <p:cNvPr id="6" name="Table 5"/>
          <p:cNvGraphicFramePr>
            <a:graphicFrameLocks noGrp="1"/>
          </p:cNvGraphicFramePr>
          <p:nvPr/>
        </p:nvGraphicFramePr>
        <p:xfrm>
          <a:off x="3635896" y="1844824"/>
          <a:ext cx="5256584" cy="4866640"/>
        </p:xfrm>
        <a:graphic>
          <a:graphicData uri="http://schemas.openxmlformats.org/drawingml/2006/table">
            <a:tbl>
              <a:tblPr firstRow="1" bandRow="1">
                <a:tableStyleId>{5C22544A-7EE6-4342-B048-85BDC9FD1C3A}</a:tableStyleId>
              </a:tblPr>
              <a:tblGrid>
                <a:gridCol w="2304256"/>
                <a:gridCol w="2952328"/>
              </a:tblGrid>
              <a:tr h="370840">
                <a:tc>
                  <a:txBody>
                    <a:bodyPr/>
                    <a:lstStyle/>
                    <a:p>
                      <a:r>
                        <a:rPr lang="en-US" dirty="0" smtClean="0"/>
                        <a:t>HISTORIANS WORK</a:t>
                      </a:r>
                      <a:endParaRPr lang="en-US" dirty="0"/>
                    </a:p>
                  </a:txBody>
                  <a:tcPr/>
                </a:tc>
                <a:tc>
                  <a:txBody>
                    <a:bodyPr/>
                    <a:lstStyle/>
                    <a:p>
                      <a:r>
                        <a:rPr lang="en-US" dirty="0" smtClean="0"/>
                        <a:t>AUDIENCE</a:t>
                      </a:r>
                      <a:endParaRPr lang="en-US" dirty="0"/>
                    </a:p>
                  </a:txBody>
                  <a:tcPr/>
                </a:tc>
              </a:tr>
              <a:tr h="370840">
                <a:tc>
                  <a:txBody>
                    <a:bodyPr/>
                    <a:lstStyle/>
                    <a:p>
                      <a:r>
                        <a:rPr lang="en-US" dirty="0" smtClean="0"/>
                        <a:t>Camden</a:t>
                      </a:r>
                    </a:p>
                    <a:p>
                      <a:r>
                        <a:rPr lang="en-US" dirty="0" smtClean="0"/>
                        <a:t>The History of the Most renowned and Glorious Princess Elizabeth</a:t>
                      </a:r>
                      <a:endParaRPr lang="en-US" dirty="0"/>
                    </a:p>
                  </a:txBody>
                  <a:tcPr/>
                </a:tc>
                <a:tc>
                  <a:txBody>
                    <a:bodyPr/>
                    <a:lstStyle/>
                    <a:p>
                      <a:r>
                        <a:rPr lang="en-US" dirty="0" smtClean="0"/>
                        <a:t>Those</a:t>
                      </a:r>
                      <a:r>
                        <a:rPr lang="en-US" baseline="0" dirty="0" smtClean="0"/>
                        <a:t> literate English class living under Stuart rule</a:t>
                      </a:r>
                      <a:endParaRPr lang="en-US" dirty="0"/>
                    </a:p>
                  </a:txBody>
                  <a:tcPr/>
                </a:tc>
              </a:tr>
              <a:tr h="370840">
                <a:tc>
                  <a:txBody>
                    <a:bodyPr/>
                    <a:lstStyle/>
                    <a:p>
                      <a:r>
                        <a:rPr lang="en-US" dirty="0" smtClean="0"/>
                        <a:t>Neale</a:t>
                      </a:r>
                    </a:p>
                    <a:p>
                      <a:r>
                        <a:rPr lang="en-US" dirty="0" smtClean="0"/>
                        <a:t>Elizabeth</a:t>
                      </a:r>
                      <a:endParaRPr lang="en-US" dirty="0"/>
                    </a:p>
                  </a:txBody>
                  <a:tcPr/>
                </a:tc>
                <a:tc>
                  <a:txBody>
                    <a:bodyPr/>
                    <a:lstStyle/>
                    <a:p>
                      <a:r>
                        <a:rPr lang="en-US" dirty="0" smtClean="0"/>
                        <a:t>Admirers of Elizabeth 11</a:t>
                      </a:r>
                      <a:endParaRPr lang="en-US" dirty="0"/>
                    </a:p>
                  </a:txBody>
                  <a:tcPr/>
                </a:tc>
              </a:tr>
              <a:tr h="370840">
                <a:tc>
                  <a:txBody>
                    <a:bodyPr/>
                    <a:lstStyle/>
                    <a:p>
                      <a:r>
                        <a:rPr lang="en-US" dirty="0" smtClean="0"/>
                        <a:t>ELTON</a:t>
                      </a:r>
                      <a:endParaRPr lang="en-US" dirty="0"/>
                    </a:p>
                  </a:txBody>
                  <a:tcPr/>
                </a:tc>
                <a:tc>
                  <a:txBody>
                    <a:bodyPr/>
                    <a:lstStyle/>
                    <a:p>
                      <a:r>
                        <a:rPr lang="en-US" dirty="0" smtClean="0"/>
                        <a:t>Academics</a:t>
                      </a:r>
                      <a:r>
                        <a:rPr lang="en-US" baseline="0" dirty="0" smtClean="0"/>
                        <a:t> studying Tudor Politics</a:t>
                      </a:r>
                      <a:endParaRPr lang="en-US" dirty="0"/>
                    </a:p>
                  </a:txBody>
                  <a:tcPr/>
                </a:tc>
              </a:tr>
              <a:tr h="370840">
                <a:tc>
                  <a:txBody>
                    <a:bodyPr/>
                    <a:lstStyle/>
                    <a:p>
                      <a:r>
                        <a:rPr lang="en-US" dirty="0" err="1" smtClean="0"/>
                        <a:t>Basnett</a:t>
                      </a:r>
                      <a:endParaRPr lang="en-US" dirty="0"/>
                    </a:p>
                  </a:txBody>
                  <a:tcPr/>
                </a:tc>
                <a:tc>
                  <a:txBody>
                    <a:bodyPr/>
                    <a:lstStyle/>
                    <a:p>
                      <a:r>
                        <a:rPr lang="en-US" dirty="0" smtClean="0"/>
                        <a:t>Feminists</a:t>
                      </a:r>
                      <a:endParaRPr lang="en-US" dirty="0"/>
                    </a:p>
                  </a:txBody>
                  <a:tcPr/>
                </a:tc>
              </a:tr>
              <a:tr h="370840">
                <a:tc>
                  <a:txBody>
                    <a:bodyPr/>
                    <a:lstStyle/>
                    <a:p>
                      <a:r>
                        <a:rPr lang="en-US" dirty="0" err="1" smtClean="0"/>
                        <a:t>Haigh</a:t>
                      </a:r>
                      <a:endParaRPr lang="en-US" dirty="0"/>
                    </a:p>
                  </a:txBody>
                  <a:tcPr/>
                </a:tc>
                <a:tc>
                  <a:txBody>
                    <a:bodyPr/>
                    <a:lstStyle/>
                    <a:p>
                      <a:r>
                        <a:rPr lang="en-US" dirty="0" smtClean="0"/>
                        <a:t>Anti Feminists</a:t>
                      </a:r>
                      <a:endParaRPr lang="en-US" dirty="0"/>
                    </a:p>
                  </a:txBody>
                  <a:tcPr/>
                </a:tc>
              </a:tr>
              <a:tr h="370840">
                <a:tc>
                  <a:txBody>
                    <a:bodyPr/>
                    <a:lstStyle/>
                    <a:p>
                      <a:r>
                        <a:rPr lang="en-US" dirty="0" smtClean="0"/>
                        <a:t>NEW HISTORICISTS</a:t>
                      </a:r>
                      <a:endParaRPr lang="en-US" dirty="0"/>
                    </a:p>
                  </a:txBody>
                  <a:tcPr/>
                </a:tc>
                <a:tc>
                  <a:txBody>
                    <a:bodyPr/>
                    <a:lstStyle/>
                    <a:p>
                      <a:r>
                        <a:rPr lang="en-US" dirty="0" smtClean="0"/>
                        <a:t>Those who seek to hear a different voice</a:t>
                      </a:r>
                      <a:endParaRPr lang="en-US" dirty="0"/>
                    </a:p>
                  </a:txBody>
                  <a:tcPr/>
                </a:tc>
              </a:tr>
              <a:tr h="370840">
                <a:tc>
                  <a:txBody>
                    <a:bodyPr/>
                    <a:lstStyle/>
                    <a:p>
                      <a:endParaRPr lang="en-US"/>
                    </a:p>
                  </a:txBody>
                  <a:tcPr/>
                </a:tc>
                <a:tc>
                  <a:txBody>
                    <a:bodyPr/>
                    <a:lstStyle/>
                    <a:p>
                      <a:endParaRPr lang="en-US" dirty="0"/>
                    </a:p>
                  </a:txBody>
                  <a:tcPr/>
                </a:tc>
              </a:tr>
            </a:tbl>
          </a:graphicData>
        </a:graphic>
      </p:graphicFrame>
      <p:sp>
        <p:nvSpPr>
          <p:cNvPr id="7" name="Down Arrow 6"/>
          <p:cNvSpPr/>
          <p:nvPr/>
        </p:nvSpPr>
        <p:spPr>
          <a:xfrm>
            <a:off x="2051720" y="4797152"/>
            <a:ext cx="1728192" cy="18722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Wider</a:t>
            </a:r>
          </a:p>
          <a:p>
            <a:pPr algn="ctr"/>
            <a:r>
              <a:rPr lang="en-US" dirty="0" smtClean="0"/>
              <a:t>audience</a:t>
            </a:r>
            <a:endParaRPr lang="en-US" dirty="0"/>
          </a:p>
        </p:txBody>
      </p:sp>
      <p:sp>
        <p:nvSpPr>
          <p:cNvPr id="8" name="Up Arrow 7"/>
          <p:cNvSpPr/>
          <p:nvPr/>
        </p:nvSpPr>
        <p:spPr>
          <a:xfrm>
            <a:off x="1835696" y="1772816"/>
            <a:ext cx="2088232" cy="266429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Narrow</a:t>
            </a:r>
          </a:p>
          <a:p>
            <a:pPr algn="ctr"/>
            <a:r>
              <a:rPr lang="en-US" dirty="0" smtClean="0"/>
              <a:t>Male</a:t>
            </a:r>
          </a:p>
          <a:p>
            <a:pPr algn="ctr"/>
            <a:r>
              <a:rPr lang="en-US" dirty="0" smtClean="0"/>
              <a:t>Elite</a:t>
            </a:r>
          </a:p>
          <a:p>
            <a:pPr algn="ctr"/>
            <a:r>
              <a:rPr lang="en-US" dirty="0" smtClean="0"/>
              <a:t>literate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533400"/>
            <a:ext cx="5105400" cy="663352"/>
          </a:xfrm>
        </p:spPr>
        <p:txBody>
          <a:bodyPr/>
          <a:lstStyle/>
          <a:p>
            <a:r>
              <a:rPr lang="en-AU" dirty="0" smtClean="0"/>
              <a:t>evidence</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graphicFrame>
        <p:nvGraphicFramePr>
          <p:cNvPr id="6" name="Table 5"/>
          <p:cNvGraphicFramePr>
            <a:graphicFrameLocks noGrp="1"/>
          </p:cNvGraphicFramePr>
          <p:nvPr/>
        </p:nvGraphicFramePr>
        <p:xfrm>
          <a:off x="2843808" y="1340771"/>
          <a:ext cx="6048672" cy="6244396"/>
        </p:xfrm>
        <a:graphic>
          <a:graphicData uri="http://schemas.openxmlformats.org/drawingml/2006/table">
            <a:tbl>
              <a:tblPr firstRow="1" bandRow="1">
                <a:tableStyleId>{5C22544A-7EE6-4342-B048-85BDC9FD1C3A}</a:tableStyleId>
              </a:tblPr>
              <a:tblGrid>
                <a:gridCol w="2042409"/>
                <a:gridCol w="4006263"/>
              </a:tblGrid>
              <a:tr h="421295">
                <a:tc>
                  <a:txBody>
                    <a:bodyPr/>
                    <a:lstStyle/>
                    <a:p>
                      <a:r>
                        <a:rPr lang="en-US" dirty="0" smtClean="0"/>
                        <a:t>HISTORIAN </a:t>
                      </a:r>
                      <a:endParaRPr lang="en-US" dirty="0"/>
                    </a:p>
                  </a:txBody>
                  <a:tcPr/>
                </a:tc>
                <a:tc>
                  <a:txBody>
                    <a:bodyPr/>
                    <a:lstStyle/>
                    <a:p>
                      <a:r>
                        <a:rPr lang="en-US" dirty="0" smtClean="0"/>
                        <a:t>EVIDENCE</a:t>
                      </a:r>
                      <a:endParaRPr lang="en-US" dirty="0"/>
                    </a:p>
                  </a:txBody>
                  <a:tcPr/>
                </a:tc>
              </a:tr>
              <a:tr h="727166">
                <a:tc>
                  <a:txBody>
                    <a:bodyPr/>
                    <a:lstStyle/>
                    <a:p>
                      <a:r>
                        <a:rPr lang="en-US" dirty="0" smtClean="0"/>
                        <a:t>CAMDEN</a:t>
                      </a:r>
                      <a:endParaRPr lang="en-US" dirty="0"/>
                    </a:p>
                  </a:txBody>
                  <a:tcPr/>
                </a:tc>
                <a:tc>
                  <a:txBody>
                    <a:bodyPr/>
                    <a:lstStyle/>
                    <a:p>
                      <a:r>
                        <a:rPr lang="en-US" dirty="0" smtClean="0"/>
                        <a:t>BURGHLEY PAPERS, ACTS OF PARLIAMENT, SPEECHES</a:t>
                      </a:r>
                      <a:endParaRPr lang="en-US" dirty="0"/>
                    </a:p>
                  </a:txBody>
                  <a:tcPr/>
                </a:tc>
              </a:tr>
              <a:tr h="1038810">
                <a:tc>
                  <a:txBody>
                    <a:bodyPr/>
                    <a:lstStyle/>
                    <a:p>
                      <a:r>
                        <a:rPr lang="en-US" dirty="0" smtClean="0"/>
                        <a:t>NEALE</a:t>
                      </a:r>
                      <a:endParaRPr lang="en-US" dirty="0"/>
                    </a:p>
                  </a:txBody>
                  <a:tcPr/>
                </a:tc>
                <a:tc>
                  <a:txBody>
                    <a:bodyPr/>
                    <a:lstStyle/>
                    <a:p>
                      <a:r>
                        <a:rPr lang="en-US" dirty="0" smtClean="0"/>
                        <a:t>CAMDEN WITH FOOTNOTES/PAMPHLETTS FOR PURITAN CHOIR</a:t>
                      </a:r>
                      <a:endParaRPr lang="en-US" dirty="0"/>
                    </a:p>
                  </a:txBody>
                  <a:tcPr/>
                </a:tc>
              </a:tr>
              <a:tr h="727166">
                <a:tc>
                  <a:txBody>
                    <a:bodyPr/>
                    <a:lstStyle/>
                    <a:p>
                      <a:r>
                        <a:rPr lang="en-US" dirty="0" smtClean="0"/>
                        <a:t>ELTON</a:t>
                      </a:r>
                      <a:endParaRPr lang="en-US" dirty="0"/>
                    </a:p>
                  </a:txBody>
                  <a:tcPr/>
                </a:tc>
                <a:tc>
                  <a:txBody>
                    <a:bodyPr/>
                    <a:lstStyle/>
                    <a:p>
                      <a:r>
                        <a:rPr lang="en-US" dirty="0" smtClean="0"/>
                        <a:t>STRUCTURALIST</a:t>
                      </a:r>
                      <a:r>
                        <a:rPr lang="en-US" baseline="0" dirty="0" smtClean="0"/>
                        <a:t> HEAVY FOCUS ON PRIVY COUNCIL PAPERS</a:t>
                      </a:r>
                      <a:endParaRPr lang="en-US" dirty="0"/>
                    </a:p>
                  </a:txBody>
                  <a:tcPr/>
                </a:tc>
              </a:tr>
              <a:tr h="727166">
                <a:tc>
                  <a:txBody>
                    <a:bodyPr/>
                    <a:lstStyle/>
                    <a:p>
                      <a:r>
                        <a:rPr lang="en-US" dirty="0" smtClean="0"/>
                        <a:t>HAIGH</a:t>
                      </a:r>
                      <a:endParaRPr lang="en-US" dirty="0"/>
                    </a:p>
                  </a:txBody>
                  <a:tcPr/>
                </a:tc>
                <a:tc>
                  <a:txBody>
                    <a:bodyPr/>
                    <a:lstStyle/>
                    <a:p>
                      <a:r>
                        <a:rPr lang="en-US" dirty="0" smtClean="0"/>
                        <a:t>All of the above plus AMBASSADORIAL REPORTS</a:t>
                      </a:r>
                      <a:endParaRPr lang="en-US" dirty="0"/>
                    </a:p>
                  </a:txBody>
                  <a:tcPr/>
                </a:tc>
              </a:tr>
              <a:tr h="421295">
                <a:tc>
                  <a:txBody>
                    <a:bodyPr/>
                    <a:lstStyle/>
                    <a:p>
                      <a:r>
                        <a:rPr lang="en-US" dirty="0" smtClean="0"/>
                        <a:t>STRONG</a:t>
                      </a:r>
                      <a:endParaRPr lang="en-US" dirty="0"/>
                    </a:p>
                  </a:txBody>
                  <a:tcPr/>
                </a:tc>
                <a:tc>
                  <a:txBody>
                    <a:bodyPr/>
                    <a:lstStyle/>
                    <a:p>
                      <a:r>
                        <a:rPr lang="en-US" dirty="0" smtClean="0"/>
                        <a:t>PORTRAITURE</a:t>
                      </a:r>
                      <a:endParaRPr lang="en-US" dirty="0"/>
                    </a:p>
                  </a:txBody>
                  <a:tcPr/>
                </a:tc>
              </a:tr>
              <a:tr h="727166">
                <a:tc>
                  <a:txBody>
                    <a:bodyPr/>
                    <a:lstStyle/>
                    <a:p>
                      <a:r>
                        <a:rPr lang="en-US" dirty="0" smtClean="0"/>
                        <a:t>BASNETT</a:t>
                      </a:r>
                      <a:endParaRPr lang="en-US" dirty="0"/>
                    </a:p>
                  </a:txBody>
                  <a:tcPr/>
                </a:tc>
                <a:tc>
                  <a:txBody>
                    <a:bodyPr/>
                    <a:lstStyle/>
                    <a:p>
                      <a:r>
                        <a:rPr lang="en-US" dirty="0" err="1" smtClean="0"/>
                        <a:t>Elizabeths</a:t>
                      </a:r>
                      <a:r>
                        <a:rPr lang="en-US" baseline="0" dirty="0" smtClean="0"/>
                        <a:t> own prayers and letters</a:t>
                      </a:r>
                      <a:endParaRPr lang="en-US" dirty="0"/>
                    </a:p>
                  </a:txBody>
                  <a:tcPr/>
                </a:tc>
              </a:tr>
              <a:tr h="727166">
                <a:tc>
                  <a:txBody>
                    <a:bodyPr/>
                    <a:lstStyle/>
                    <a:p>
                      <a:r>
                        <a:rPr lang="en-US" dirty="0" smtClean="0"/>
                        <a:t>WALKER</a:t>
                      </a:r>
                      <a:endParaRPr lang="en-US" dirty="0"/>
                    </a:p>
                  </a:txBody>
                  <a:tcPr/>
                </a:tc>
                <a:tc>
                  <a:txBody>
                    <a:bodyPr/>
                    <a:lstStyle/>
                    <a:p>
                      <a:r>
                        <a:rPr lang="en-US" dirty="0" smtClean="0"/>
                        <a:t>NEW HISTORICIST</a:t>
                      </a:r>
                    </a:p>
                    <a:p>
                      <a:r>
                        <a:rPr lang="en-US" dirty="0" smtClean="0"/>
                        <a:t>Any negative image-Tomb</a:t>
                      </a:r>
                      <a:r>
                        <a:rPr lang="en-US" baseline="0" dirty="0" smtClean="0"/>
                        <a:t> sculpture, </a:t>
                      </a:r>
                      <a:endParaRPr lang="en-US" dirty="0"/>
                    </a:p>
                  </a:txBody>
                  <a:tcPr/>
                </a:tc>
              </a:tr>
              <a:tr h="727166">
                <a:tc>
                  <a:txBody>
                    <a:bodyPr/>
                    <a:lstStyle/>
                    <a:p>
                      <a:r>
                        <a:rPr lang="en-US" dirty="0" smtClean="0"/>
                        <a:t>MEARS</a:t>
                      </a:r>
                      <a:endParaRPr lang="en-US" dirty="0"/>
                    </a:p>
                  </a:txBody>
                  <a:tcPr/>
                </a:tc>
                <a:tc>
                  <a:txBody>
                    <a:bodyPr/>
                    <a:lstStyle/>
                    <a:p>
                      <a:r>
                        <a:rPr lang="en-US" dirty="0" smtClean="0"/>
                        <a:t>AZZIZE</a:t>
                      </a:r>
                      <a:r>
                        <a:rPr lang="en-US" baseline="0" dirty="0" smtClean="0"/>
                        <a:t> RECORDS, PLAYS, REGIONAL CHURCH RECORDS</a:t>
                      </a:r>
                      <a:endParaRPr lang="en-US"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71800" y="548680"/>
            <a:ext cx="5105400" cy="1080120"/>
          </a:xfrm>
        </p:spPr>
        <p:txBody>
          <a:bodyPr/>
          <a:lstStyle/>
          <a:p>
            <a:r>
              <a:rPr lang="en-AU" dirty="0" smtClean="0"/>
              <a:t>Construction?</a:t>
            </a:r>
            <a:br>
              <a:rPr lang="en-AU" dirty="0" smtClean="0"/>
            </a:br>
            <a:r>
              <a:rPr lang="en-AU" dirty="0" smtClean="0"/>
              <a:t>CRITICISM</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graphicFrame>
        <p:nvGraphicFramePr>
          <p:cNvPr id="6" name="Table 5"/>
          <p:cNvGraphicFramePr>
            <a:graphicFrameLocks noGrp="1"/>
          </p:cNvGraphicFramePr>
          <p:nvPr/>
        </p:nvGraphicFramePr>
        <p:xfrm>
          <a:off x="3203848" y="1916831"/>
          <a:ext cx="5760640" cy="4912857"/>
        </p:xfrm>
        <a:graphic>
          <a:graphicData uri="http://schemas.openxmlformats.org/drawingml/2006/table">
            <a:tbl>
              <a:tblPr firstRow="1" bandRow="1">
                <a:tableStyleId>{5C22544A-7EE6-4342-B048-85BDC9FD1C3A}</a:tableStyleId>
              </a:tblPr>
              <a:tblGrid>
                <a:gridCol w="1893909"/>
                <a:gridCol w="3866731"/>
              </a:tblGrid>
              <a:tr h="449986">
                <a:tc>
                  <a:txBody>
                    <a:bodyPr/>
                    <a:lstStyle/>
                    <a:p>
                      <a:r>
                        <a:rPr lang="en-US" dirty="0" smtClean="0"/>
                        <a:t>HISTORIAN</a:t>
                      </a:r>
                      <a:endParaRPr lang="en-US" dirty="0"/>
                    </a:p>
                  </a:txBody>
                  <a:tcPr/>
                </a:tc>
                <a:tc>
                  <a:txBody>
                    <a:bodyPr/>
                    <a:lstStyle/>
                    <a:p>
                      <a:r>
                        <a:rPr lang="en-US" dirty="0" smtClean="0"/>
                        <a:t>CONSTRUCTION</a:t>
                      </a:r>
                      <a:endParaRPr lang="en-US" dirty="0"/>
                    </a:p>
                  </a:txBody>
                  <a:tcPr/>
                </a:tc>
              </a:tr>
              <a:tr h="449986">
                <a:tc>
                  <a:txBody>
                    <a:bodyPr/>
                    <a:lstStyle/>
                    <a:p>
                      <a:r>
                        <a:rPr lang="en-US" dirty="0" smtClean="0"/>
                        <a:t>CAMDEN</a:t>
                      </a:r>
                      <a:endParaRPr lang="en-US" dirty="0"/>
                    </a:p>
                  </a:txBody>
                  <a:tcPr/>
                </a:tc>
                <a:tc>
                  <a:txBody>
                    <a:bodyPr/>
                    <a:lstStyle/>
                    <a:p>
                      <a:r>
                        <a:rPr lang="en-US" dirty="0" smtClean="0"/>
                        <a:t>ANNALES</a:t>
                      </a:r>
                      <a:endParaRPr lang="en-US" dirty="0"/>
                    </a:p>
                  </a:txBody>
                  <a:tcPr/>
                </a:tc>
              </a:tr>
              <a:tr h="449986">
                <a:tc>
                  <a:txBody>
                    <a:bodyPr/>
                    <a:lstStyle/>
                    <a:p>
                      <a:r>
                        <a:rPr lang="en-US" dirty="0" smtClean="0"/>
                        <a:t>NEALE</a:t>
                      </a:r>
                      <a:endParaRPr lang="en-US" dirty="0"/>
                    </a:p>
                  </a:txBody>
                  <a:tcPr/>
                </a:tc>
                <a:tc>
                  <a:txBody>
                    <a:bodyPr/>
                    <a:lstStyle/>
                    <a:p>
                      <a:r>
                        <a:rPr lang="en-US" dirty="0" smtClean="0"/>
                        <a:t>BIOGRAPHY</a:t>
                      </a:r>
                      <a:endParaRPr lang="en-US" dirty="0"/>
                    </a:p>
                  </a:txBody>
                  <a:tcPr/>
                </a:tc>
              </a:tr>
              <a:tr h="449986">
                <a:tc>
                  <a:txBody>
                    <a:bodyPr/>
                    <a:lstStyle/>
                    <a:p>
                      <a:r>
                        <a:rPr lang="en-US" dirty="0" smtClean="0"/>
                        <a:t>ELTON</a:t>
                      </a:r>
                      <a:endParaRPr lang="en-US" dirty="0"/>
                    </a:p>
                  </a:txBody>
                  <a:tcPr/>
                </a:tc>
                <a:tc>
                  <a:txBody>
                    <a:bodyPr/>
                    <a:lstStyle/>
                    <a:p>
                      <a:r>
                        <a:rPr lang="en-US" dirty="0" smtClean="0"/>
                        <a:t>STRUCTURAL ANALYSES</a:t>
                      </a:r>
                      <a:endParaRPr lang="en-US" dirty="0"/>
                    </a:p>
                  </a:txBody>
                  <a:tcPr/>
                </a:tc>
              </a:tr>
              <a:tr h="776687">
                <a:tc>
                  <a:txBody>
                    <a:bodyPr/>
                    <a:lstStyle/>
                    <a:p>
                      <a:r>
                        <a:rPr lang="en-US" dirty="0" smtClean="0"/>
                        <a:t>HAIGH/BASNETT/DORAN</a:t>
                      </a:r>
                      <a:endParaRPr lang="en-US" dirty="0"/>
                    </a:p>
                  </a:txBody>
                  <a:tcPr/>
                </a:tc>
                <a:tc>
                  <a:txBody>
                    <a:bodyPr/>
                    <a:lstStyle/>
                    <a:p>
                      <a:r>
                        <a:rPr lang="en-US" dirty="0" smtClean="0"/>
                        <a:t>BIOGRAPHY</a:t>
                      </a:r>
                      <a:endParaRPr lang="en-US" dirty="0"/>
                    </a:p>
                  </a:txBody>
                  <a:tcPr/>
                </a:tc>
              </a:tr>
              <a:tr h="776687">
                <a:tc>
                  <a:txBody>
                    <a:bodyPr/>
                    <a:lstStyle/>
                    <a:p>
                      <a:r>
                        <a:rPr lang="en-US" dirty="0" smtClean="0"/>
                        <a:t>STRONG</a:t>
                      </a:r>
                      <a:endParaRPr lang="en-US" dirty="0"/>
                    </a:p>
                  </a:txBody>
                  <a:tcPr/>
                </a:tc>
                <a:tc>
                  <a:txBody>
                    <a:bodyPr/>
                    <a:lstStyle/>
                    <a:p>
                      <a:r>
                        <a:rPr lang="en-US" dirty="0" smtClean="0"/>
                        <a:t>CHRONOLOGY BUT LIMITED</a:t>
                      </a:r>
                      <a:r>
                        <a:rPr lang="en-US" baseline="0" dirty="0" smtClean="0"/>
                        <a:t> SCOPE OF PORTRAITURE</a:t>
                      </a:r>
                      <a:endParaRPr lang="en-US" dirty="0"/>
                    </a:p>
                  </a:txBody>
                  <a:tcPr/>
                </a:tc>
              </a:tr>
              <a:tr h="1109553">
                <a:tc>
                  <a:txBody>
                    <a:bodyPr/>
                    <a:lstStyle/>
                    <a:p>
                      <a:r>
                        <a:rPr lang="en-US" dirty="0" smtClean="0"/>
                        <a:t>MEARS</a:t>
                      </a:r>
                      <a:endParaRPr lang="en-US" dirty="0"/>
                    </a:p>
                  </a:txBody>
                  <a:tcPr/>
                </a:tc>
                <a:tc>
                  <a:txBody>
                    <a:bodyPr/>
                    <a:lstStyle/>
                    <a:p>
                      <a:r>
                        <a:rPr lang="en-US" dirty="0" smtClean="0"/>
                        <a:t>POST MODERN FOCUS ON DISCOURSE</a:t>
                      </a:r>
                      <a:r>
                        <a:rPr lang="en-US" baseline="0" dirty="0" smtClean="0"/>
                        <a:t> BETWEEN COURT AND REALM- NON LINEAR ,ANALYSES</a:t>
                      </a:r>
                      <a:endParaRPr lang="en-US" dirty="0"/>
                    </a:p>
                  </a:txBody>
                  <a:tcPr/>
                </a:tc>
              </a:tr>
              <a:tr h="449986">
                <a:tc>
                  <a:txBody>
                    <a:bodyPr/>
                    <a:lstStyle/>
                    <a:p>
                      <a:endParaRPr lang="en-US"/>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15816" y="533400"/>
            <a:ext cx="5556452" cy="1959496"/>
          </a:xfrm>
        </p:spPr>
        <p:txBody>
          <a:bodyPr/>
          <a:lstStyle/>
          <a:p>
            <a:r>
              <a:rPr lang="en-AU" dirty="0" smtClean="0"/>
              <a:t>Ideological and philosophical approach to history</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graphicFrame>
        <p:nvGraphicFramePr>
          <p:cNvPr id="7" name="Diagram 6"/>
          <p:cNvGraphicFramePr/>
          <p:nvPr/>
        </p:nvGraphicFramePr>
        <p:xfrm>
          <a:off x="2699792" y="2348880"/>
          <a:ext cx="6096000" cy="450912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9792" y="533400"/>
            <a:ext cx="6336704" cy="879376"/>
          </a:xfrm>
        </p:spPr>
        <p:txBody>
          <a:bodyPr/>
          <a:lstStyle/>
          <a:p>
            <a:r>
              <a:rPr lang="en-AU" dirty="0" err="1" smtClean="0"/>
              <a:t>Elizabeth’S</a:t>
            </a:r>
            <a:r>
              <a:rPr lang="en-AU" dirty="0" smtClean="0"/>
              <a:t> POLEMIC HISTORIANS</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graphicFrame>
        <p:nvGraphicFramePr>
          <p:cNvPr id="6" name="Diagram 5"/>
          <p:cNvGraphicFramePr/>
          <p:nvPr/>
        </p:nvGraphicFramePr>
        <p:xfrm>
          <a:off x="2699792" y="1484784"/>
          <a:ext cx="6096000" cy="167196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7" name="TextBox 6"/>
          <p:cNvSpPr txBox="1"/>
          <p:nvPr/>
        </p:nvSpPr>
        <p:spPr>
          <a:xfrm>
            <a:off x="4860032" y="1916832"/>
            <a:ext cx="1800200" cy="369332"/>
          </a:xfrm>
          <a:prstGeom prst="rect">
            <a:avLst/>
          </a:prstGeom>
          <a:noFill/>
        </p:spPr>
        <p:txBody>
          <a:bodyPr wrap="square" rtlCol="0">
            <a:spAutoFit/>
          </a:bodyPr>
          <a:lstStyle/>
          <a:p>
            <a:r>
              <a:rPr lang="en-US" dirty="0" smtClean="0"/>
              <a:t>CAMDEN</a:t>
            </a:r>
            <a:endParaRPr lang="en-US" dirty="0"/>
          </a:p>
        </p:txBody>
      </p:sp>
      <p:sp>
        <p:nvSpPr>
          <p:cNvPr id="8" name="TextBox 7"/>
          <p:cNvSpPr txBox="1"/>
          <p:nvPr/>
        </p:nvSpPr>
        <p:spPr>
          <a:xfrm>
            <a:off x="2915816" y="3501008"/>
            <a:ext cx="2088232" cy="369332"/>
          </a:xfrm>
          <a:prstGeom prst="rect">
            <a:avLst/>
          </a:prstGeom>
          <a:noFill/>
        </p:spPr>
        <p:txBody>
          <a:bodyPr wrap="square" rtlCol="0">
            <a:spAutoFit/>
          </a:bodyPr>
          <a:lstStyle/>
          <a:p>
            <a:r>
              <a:rPr lang="en-US" dirty="0" smtClean="0"/>
              <a:t>NEALE</a:t>
            </a:r>
            <a:endParaRPr lang="en-US" dirty="0"/>
          </a:p>
        </p:txBody>
      </p:sp>
      <p:sp>
        <p:nvSpPr>
          <p:cNvPr id="9" name="TextBox 8"/>
          <p:cNvSpPr txBox="1"/>
          <p:nvPr/>
        </p:nvSpPr>
        <p:spPr>
          <a:xfrm>
            <a:off x="6588224" y="3429000"/>
            <a:ext cx="2232248" cy="369332"/>
          </a:xfrm>
          <a:prstGeom prst="rect">
            <a:avLst/>
          </a:prstGeom>
          <a:noFill/>
        </p:spPr>
        <p:txBody>
          <a:bodyPr wrap="square" rtlCol="0">
            <a:spAutoFit/>
          </a:bodyPr>
          <a:lstStyle/>
          <a:p>
            <a:r>
              <a:rPr lang="en-US" dirty="0" smtClean="0"/>
              <a:t>  ELTON</a:t>
            </a:r>
            <a:endParaRPr lang="en-US" dirty="0"/>
          </a:p>
        </p:txBody>
      </p:sp>
      <p:sp>
        <p:nvSpPr>
          <p:cNvPr id="10" name="TextBox 9"/>
          <p:cNvSpPr txBox="1"/>
          <p:nvPr/>
        </p:nvSpPr>
        <p:spPr>
          <a:xfrm>
            <a:off x="2915816" y="4365104"/>
            <a:ext cx="1584176" cy="369332"/>
          </a:xfrm>
          <a:prstGeom prst="rect">
            <a:avLst/>
          </a:prstGeom>
          <a:noFill/>
        </p:spPr>
        <p:txBody>
          <a:bodyPr wrap="square" rtlCol="0">
            <a:spAutoFit/>
          </a:bodyPr>
          <a:lstStyle/>
          <a:p>
            <a:r>
              <a:rPr lang="en-US" dirty="0" smtClean="0"/>
              <a:t>BASNETT</a:t>
            </a:r>
            <a:endParaRPr lang="en-US" dirty="0"/>
          </a:p>
        </p:txBody>
      </p:sp>
      <p:sp>
        <p:nvSpPr>
          <p:cNvPr id="11" name="TextBox 10"/>
          <p:cNvSpPr txBox="1"/>
          <p:nvPr/>
        </p:nvSpPr>
        <p:spPr>
          <a:xfrm>
            <a:off x="6516216" y="4221088"/>
            <a:ext cx="1800200" cy="369332"/>
          </a:xfrm>
          <a:prstGeom prst="rect">
            <a:avLst/>
          </a:prstGeom>
          <a:noFill/>
        </p:spPr>
        <p:txBody>
          <a:bodyPr wrap="square" rtlCol="0">
            <a:spAutoFit/>
          </a:bodyPr>
          <a:lstStyle/>
          <a:p>
            <a:r>
              <a:rPr lang="en-US" dirty="0" smtClean="0"/>
              <a:t>   HAIGH</a:t>
            </a:r>
            <a:endParaRPr lang="en-US" dirty="0"/>
          </a:p>
        </p:txBody>
      </p:sp>
      <p:sp>
        <p:nvSpPr>
          <p:cNvPr id="12" name="TextBox 11"/>
          <p:cNvSpPr txBox="1"/>
          <p:nvPr/>
        </p:nvSpPr>
        <p:spPr>
          <a:xfrm>
            <a:off x="3059832" y="5085184"/>
            <a:ext cx="1440160" cy="369332"/>
          </a:xfrm>
          <a:prstGeom prst="rect">
            <a:avLst/>
          </a:prstGeom>
          <a:noFill/>
        </p:spPr>
        <p:txBody>
          <a:bodyPr wrap="square" rtlCol="0">
            <a:spAutoFit/>
          </a:bodyPr>
          <a:lstStyle/>
          <a:p>
            <a:r>
              <a:rPr lang="en-US" dirty="0" smtClean="0"/>
              <a:t>STRONG</a:t>
            </a:r>
            <a:endParaRPr lang="en-US" dirty="0"/>
          </a:p>
        </p:txBody>
      </p:sp>
      <p:sp>
        <p:nvSpPr>
          <p:cNvPr id="13" name="TextBox 12"/>
          <p:cNvSpPr txBox="1"/>
          <p:nvPr/>
        </p:nvSpPr>
        <p:spPr>
          <a:xfrm>
            <a:off x="6660232" y="5013176"/>
            <a:ext cx="1728192" cy="369332"/>
          </a:xfrm>
          <a:prstGeom prst="rect">
            <a:avLst/>
          </a:prstGeom>
          <a:noFill/>
        </p:spPr>
        <p:txBody>
          <a:bodyPr wrap="square" rtlCol="0">
            <a:spAutoFit/>
          </a:bodyPr>
          <a:lstStyle/>
          <a:p>
            <a:r>
              <a:rPr lang="en-US" dirty="0" smtClean="0"/>
              <a:t>HACKETT</a:t>
            </a:r>
            <a:endParaRPr lang="en-US" dirty="0"/>
          </a:p>
        </p:txBody>
      </p:sp>
      <p:sp>
        <p:nvSpPr>
          <p:cNvPr id="14" name="TextBox 13"/>
          <p:cNvSpPr txBox="1"/>
          <p:nvPr/>
        </p:nvSpPr>
        <p:spPr>
          <a:xfrm>
            <a:off x="2987824" y="3933056"/>
            <a:ext cx="1152128" cy="369332"/>
          </a:xfrm>
          <a:prstGeom prst="rect">
            <a:avLst/>
          </a:prstGeom>
          <a:noFill/>
        </p:spPr>
        <p:txBody>
          <a:bodyPr wrap="square" rtlCol="0">
            <a:spAutoFit/>
          </a:bodyPr>
          <a:lstStyle/>
          <a:p>
            <a:r>
              <a:rPr lang="en-US" dirty="0" smtClean="0"/>
              <a:t>ELTON</a:t>
            </a:r>
            <a:endParaRPr lang="en-US" dirty="0"/>
          </a:p>
        </p:txBody>
      </p:sp>
      <p:sp>
        <p:nvSpPr>
          <p:cNvPr id="15" name="TextBox 14"/>
          <p:cNvSpPr txBox="1"/>
          <p:nvPr/>
        </p:nvSpPr>
        <p:spPr>
          <a:xfrm>
            <a:off x="6660232" y="3933056"/>
            <a:ext cx="1368152" cy="369332"/>
          </a:xfrm>
          <a:prstGeom prst="rect">
            <a:avLst/>
          </a:prstGeom>
          <a:noFill/>
        </p:spPr>
        <p:txBody>
          <a:bodyPr wrap="square" rtlCol="0">
            <a:spAutoFit/>
          </a:bodyPr>
          <a:lstStyle/>
          <a:p>
            <a:r>
              <a:rPr lang="en-US" dirty="0" smtClean="0"/>
              <a:t> MEARS</a:t>
            </a:r>
            <a:endParaRPr lang="en-US" dirty="0"/>
          </a:p>
        </p:txBody>
      </p:sp>
      <p:sp>
        <p:nvSpPr>
          <p:cNvPr id="16" name="Lightning Bolt 15"/>
          <p:cNvSpPr/>
          <p:nvPr/>
        </p:nvSpPr>
        <p:spPr>
          <a:xfrm>
            <a:off x="4427984" y="3356992"/>
            <a:ext cx="1800200" cy="2088232"/>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rot="16200000" flipH="1">
            <a:off x="4752020" y="2816932"/>
            <a:ext cx="1008112"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533400"/>
            <a:ext cx="5105400" cy="879376"/>
          </a:xfrm>
        </p:spPr>
        <p:txBody>
          <a:bodyPr/>
          <a:lstStyle/>
          <a:p>
            <a:r>
              <a:rPr lang="en-AU" dirty="0" smtClean="0"/>
              <a:t>Elizabeth</a:t>
            </a:r>
            <a:br>
              <a:rPr lang="en-AU" dirty="0" smtClean="0"/>
            </a:br>
            <a:r>
              <a:rPr lang="en-AU" dirty="0" smtClean="0"/>
              <a:t>QUOTE</a:t>
            </a:r>
            <a:endParaRPr lang="en-AU" dirty="0"/>
          </a:p>
        </p:txBody>
      </p:sp>
      <p:sp>
        <p:nvSpPr>
          <p:cNvPr id="3" name="Subtitle 2"/>
          <p:cNvSpPr>
            <a:spLocks noGrp="1"/>
          </p:cNvSpPr>
          <p:nvPr>
            <p:ph type="subTitle" idx="1"/>
          </p:nvPr>
        </p:nvSpPr>
        <p:spPr>
          <a:xfrm>
            <a:off x="3347864" y="2132856"/>
            <a:ext cx="5114778" cy="4104456"/>
          </a:xfrm>
        </p:spPr>
        <p:txBody>
          <a:bodyPr>
            <a:normAutofit fontScale="40000" lnSpcReduction="20000"/>
          </a:bodyPr>
          <a:lstStyle/>
          <a:p>
            <a:pPr algn="l"/>
            <a:r>
              <a:rPr lang="en-US" sz="4900" i="1" dirty="0" smtClean="0"/>
              <a:t>Elizabeth left no cipher with which to unlock the secret of her personality, no diary, no memoirs, and almost no private letters. What has survived is an occasional intimate postscript to public letters generally drafted by the principal secretaries</a:t>
            </a:r>
            <a:br>
              <a:rPr lang="en-US" sz="4900" i="1" dirty="0" smtClean="0"/>
            </a:br>
            <a:r>
              <a:rPr lang="en-US" sz="4900" i="1" dirty="0" smtClean="0"/>
              <a:t>of state, a number of magnificent official speeches, a handful of poems of somewhat doubtful authenticity, an occasional prayer and an avalanche of sayings, witticisms and episodes, treasured (but often fabricated) by those who watched and recorded her every action</a:t>
            </a:r>
            <a:r>
              <a:rPr lang="en-US" sz="4900" b="1" i="1" dirty="0" smtClean="0"/>
              <a:t>. Where there is scanty evidence, there is end­less debate.</a:t>
            </a:r>
            <a:endParaRPr lang="en-US" sz="4900" dirty="0" smtClean="0"/>
          </a:p>
          <a:p>
            <a:endParaRPr lang="en-AU" i="1"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9792" y="188640"/>
            <a:ext cx="6120680" cy="936104"/>
          </a:xfrm>
        </p:spPr>
        <p:txBody>
          <a:bodyPr/>
          <a:lstStyle/>
          <a:p>
            <a:r>
              <a:rPr lang="en-AU" dirty="0" smtClean="0"/>
              <a:t>Elizabeth QUESTIONS</a:t>
            </a:r>
            <a:endParaRPr lang="en-AU"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
        <p:nvSpPr>
          <p:cNvPr id="7" name="TextBox 6"/>
          <p:cNvSpPr txBox="1"/>
          <p:nvPr/>
        </p:nvSpPr>
        <p:spPr>
          <a:xfrm>
            <a:off x="2987824" y="1196752"/>
            <a:ext cx="5832648" cy="1477328"/>
          </a:xfrm>
          <a:prstGeom prst="rect">
            <a:avLst/>
          </a:prstGeom>
          <a:noFill/>
        </p:spPr>
        <p:txBody>
          <a:bodyPr wrap="square" rtlCol="0">
            <a:spAutoFit/>
          </a:bodyPr>
          <a:lstStyle/>
          <a:p>
            <a:r>
              <a:rPr lang="en-US" i="1" dirty="0" smtClean="0"/>
              <a:t>Historians shed light on the past but that light can only reveal a partial, dimly-lit view. </a:t>
            </a:r>
          </a:p>
          <a:p>
            <a:r>
              <a:rPr lang="en-US" dirty="0" smtClean="0"/>
              <a:t>Assess the relevance of this statement as it applies to at least ONE area of debate from your chosen case study. -2008</a:t>
            </a:r>
            <a:endParaRPr lang="en-US" dirty="0"/>
          </a:p>
        </p:txBody>
      </p:sp>
      <p:sp>
        <p:nvSpPr>
          <p:cNvPr id="9" name="Rectangle 8"/>
          <p:cNvSpPr/>
          <p:nvPr/>
        </p:nvSpPr>
        <p:spPr>
          <a:xfrm>
            <a:off x="2627784" y="2636912"/>
            <a:ext cx="6516216" cy="3754874"/>
          </a:xfrm>
          <a:prstGeom prst="rect">
            <a:avLst/>
          </a:prstGeom>
        </p:spPr>
        <p:txBody>
          <a:bodyPr wrap="square">
            <a:spAutoFit/>
          </a:bodyPr>
          <a:lstStyle/>
          <a:p>
            <a:r>
              <a:rPr lang="en-US" sz="1400" dirty="0" smtClean="0">
                <a:latin typeface="Monotype Corsiva" pitchFamily="66" charset="0"/>
              </a:rPr>
              <a:t>Although generic in nature, the question required a sustained, sophisticated and critical assessment</a:t>
            </a:r>
          </a:p>
          <a:p>
            <a:r>
              <a:rPr lang="en-US" sz="1400" dirty="0" smtClean="0">
                <a:latin typeface="Monotype Corsiva" pitchFamily="66" charset="0"/>
              </a:rPr>
              <a:t>of why and how historians’ perspectives of the past are essentially limited. The quotation contained</a:t>
            </a:r>
          </a:p>
          <a:p>
            <a:r>
              <a:rPr lang="en-US" sz="1400" dirty="0" smtClean="0">
                <a:latin typeface="Monotype Corsiva" pitchFamily="66" charset="0"/>
              </a:rPr>
              <a:t>in the question provided a clear discriminator because it required candidates to apply the </a:t>
            </a:r>
            <a:r>
              <a:rPr lang="en-US" sz="1400" dirty="0" err="1" smtClean="0">
                <a:latin typeface="Monotype Corsiva" pitchFamily="66" charset="0"/>
              </a:rPr>
              <a:t>statementto</a:t>
            </a:r>
            <a:r>
              <a:rPr lang="en-US" sz="1400" dirty="0" smtClean="0">
                <a:latin typeface="Monotype Corsiva" pitchFamily="66" charset="0"/>
              </a:rPr>
              <a:t> at least one area of debate in their chosen Case Study. Candidates must engage with the statement</a:t>
            </a:r>
          </a:p>
          <a:p>
            <a:r>
              <a:rPr lang="en-US" sz="1400" dirty="0" smtClean="0">
                <a:latin typeface="Monotype Corsiva" pitchFamily="66" charset="0"/>
              </a:rPr>
              <a:t>and integrate their analysis into the substance of their response.</a:t>
            </a:r>
          </a:p>
          <a:p>
            <a:r>
              <a:rPr lang="en-US" sz="1400" dirty="0" smtClean="0">
                <a:latin typeface="Monotype Corsiva" pitchFamily="66" charset="0"/>
              </a:rPr>
              <a:t>Better responses used a range of historians within their argument. These historians were drawn from</a:t>
            </a:r>
          </a:p>
          <a:p>
            <a:r>
              <a:rPr lang="en-US" sz="1400" dirty="0" smtClean="0">
                <a:latin typeface="Monotype Corsiva" pitchFamily="66" charset="0"/>
              </a:rPr>
              <a:t>a significant time period and enabled candidates to make insightful observations about the ongoing</a:t>
            </a:r>
          </a:p>
          <a:p>
            <a:r>
              <a:rPr lang="en-US" sz="1400" dirty="0" smtClean="0">
                <a:latin typeface="Monotype Corsiva" pitchFamily="66" charset="0"/>
              </a:rPr>
              <a:t>nature of the debates. These responses evaluated how and why history is only a partial</a:t>
            </a:r>
          </a:p>
          <a:p>
            <a:r>
              <a:rPr lang="en-US" sz="1400" dirty="0" smtClean="0">
                <a:latin typeface="Monotype Corsiva" pitchFamily="66" charset="0"/>
              </a:rPr>
              <a:t>representation of the past, providing a consideration of the historian’s methodology as well as his</a:t>
            </a:r>
          </a:p>
          <a:p>
            <a:r>
              <a:rPr lang="en-US" sz="1400" dirty="0" smtClean="0">
                <a:latin typeface="Monotype Corsiva" pitchFamily="66" charset="0"/>
              </a:rPr>
              <a:t>purpose and context.</a:t>
            </a:r>
          </a:p>
          <a:p>
            <a:r>
              <a:rPr lang="en-US" sz="1400" dirty="0" smtClean="0">
                <a:latin typeface="Monotype Corsiva" pitchFamily="66" charset="0"/>
              </a:rPr>
              <a:t>Candidates are reminded that a limited range of historians limits the possibility of developing an</a:t>
            </a:r>
          </a:p>
          <a:p>
            <a:r>
              <a:rPr lang="en-US" sz="1400" dirty="0" smtClean="0">
                <a:latin typeface="Monotype Corsiva" pitchFamily="66" charset="0"/>
              </a:rPr>
              <a:t>argument that would allow them to make critical </a:t>
            </a:r>
            <a:r>
              <a:rPr lang="en-US" sz="1400" dirty="0" err="1" smtClean="0">
                <a:latin typeface="Monotype Corsiva" pitchFamily="66" charset="0"/>
              </a:rPr>
              <a:t>judgements</a:t>
            </a:r>
            <a:r>
              <a:rPr lang="en-US" sz="1400" dirty="0" smtClean="0">
                <a:latin typeface="Monotype Corsiva" pitchFamily="66" charset="0"/>
              </a:rPr>
              <a:t> about historical interpretation.</a:t>
            </a:r>
          </a:p>
          <a:p>
            <a:r>
              <a:rPr lang="en-US" sz="1400" dirty="0" smtClean="0">
                <a:latin typeface="Monotype Corsiva" pitchFamily="66" charset="0"/>
              </a:rPr>
              <a:t>Responses which developed around the context, methodologies and perspectives of a range of</a:t>
            </a:r>
          </a:p>
          <a:p>
            <a:r>
              <a:rPr lang="en-US" sz="1400" dirty="0" smtClean="0">
                <a:latin typeface="Monotype Corsiva" pitchFamily="66" charset="0"/>
              </a:rPr>
              <a:t>historians were able to deal effectively with the focus of this question. Weaker responses tended to</a:t>
            </a:r>
          </a:p>
          <a:p>
            <a:r>
              <a:rPr lang="en-US" sz="1400" dirty="0" smtClean="0">
                <a:latin typeface="Monotype Corsiva" pitchFamily="66" charset="0"/>
              </a:rPr>
              <a:t>describe the different viewpoints of the historians rather than critically evaluate how and why those</a:t>
            </a:r>
          </a:p>
          <a:p>
            <a:r>
              <a:rPr lang="en-US" sz="1400" dirty="0" smtClean="0">
                <a:latin typeface="Monotype Corsiva" pitchFamily="66" charset="0"/>
              </a:rPr>
              <a:t>perspectives were limited. Using a single source or a textbook style summary of the debate limits</a:t>
            </a:r>
          </a:p>
          <a:p>
            <a:r>
              <a:rPr lang="en-US" sz="1400" dirty="0" smtClean="0">
                <a:latin typeface="Monotype Corsiva" pitchFamily="66" charset="0"/>
              </a:rPr>
              <a:t>the response to a survey-style narrative</a:t>
            </a:r>
            <a:r>
              <a:rPr lang="en-US" sz="1400" dirty="0" smtClean="0"/>
              <a: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533400"/>
            <a:ext cx="5105400" cy="807368"/>
          </a:xfrm>
        </p:spPr>
        <p:txBody>
          <a:bodyPr/>
          <a:lstStyle/>
          <a:p>
            <a:r>
              <a:rPr lang="en-AU" dirty="0" smtClean="0"/>
              <a:t>Elizabeth</a:t>
            </a:r>
            <a:br>
              <a:rPr lang="en-AU" dirty="0" smtClean="0"/>
            </a:br>
            <a:r>
              <a:rPr lang="en-AU" dirty="0" smtClean="0"/>
              <a:t>revision</a:t>
            </a:r>
            <a:endParaRPr lang="en-AU" dirty="0"/>
          </a:p>
        </p:txBody>
      </p:sp>
      <p:sp>
        <p:nvSpPr>
          <p:cNvPr id="3" name="Subtitle 2"/>
          <p:cNvSpPr>
            <a:spLocks noGrp="1"/>
          </p:cNvSpPr>
          <p:nvPr>
            <p:ph type="subTitle" idx="1"/>
          </p:nvPr>
        </p:nvSpPr>
        <p:spPr>
          <a:xfrm>
            <a:off x="3354442" y="3539864"/>
            <a:ext cx="5114778" cy="2625440"/>
          </a:xfrm>
        </p:spPr>
        <p:txBody>
          <a:bodyPr>
            <a:normAutofit fontScale="55000" lnSpcReduction="20000"/>
          </a:bodyPr>
          <a:lstStyle/>
          <a:p>
            <a:r>
              <a:rPr lang="en-US" sz="2400" dirty="0" smtClean="0"/>
              <a:t>Candidates needed to </a:t>
            </a:r>
            <a:r>
              <a:rPr lang="en-US" sz="2400" u="sng" dirty="0" smtClean="0"/>
              <a:t>engage with the statement and integrate </a:t>
            </a:r>
            <a:r>
              <a:rPr lang="en-US" sz="2400" dirty="0" smtClean="0"/>
              <a:t>their analysis into the substance of their response.</a:t>
            </a:r>
          </a:p>
          <a:p>
            <a:r>
              <a:rPr lang="en-US" sz="2400" dirty="0" smtClean="0"/>
              <a:t>Better responses drew on the work of a </a:t>
            </a:r>
            <a:r>
              <a:rPr lang="en-US" sz="2400" u="sng" dirty="0" smtClean="0"/>
              <a:t>range of historians from a significant time period and made insightful observations about the ongoing nature of the debates</a:t>
            </a:r>
            <a:r>
              <a:rPr lang="en-US" sz="2400" dirty="0" smtClean="0"/>
              <a:t>. These responses evaluated </a:t>
            </a:r>
            <a:r>
              <a:rPr lang="en-US" sz="2400" u="sng" dirty="0" smtClean="0"/>
              <a:t>how and why </a:t>
            </a:r>
            <a:r>
              <a:rPr lang="en-US" sz="2400" dirty="0" smtClean="0"/>
              <a:t>interpretations of history change over time, and provided a consideration of </a:t>
            </a:r>
            <a:r>
              <a:rPr lang="en-US" sz="2400" u="sng" dirty="0" smtClean="0"/>
              <a:t>the historian’s methodology as well as his or her purpose and context</a:t>
            </a:r>
            <a:r>
              <a:rPr lang="en-US" sz="2400" dirty="0" smtClean="0"/>
              <a:t>.</a:t>
            </a:r>
          </a:p>
          <a:p>
            <a:r>
              <a:rPr lang="en-US" sz="2400" dirty="0" smtClean="0"/>
              <a:t>Candidates are reminded that studying a limited range of historians restricts the possibility of their developing an argument that would allow them to critically judge changing historical interpretation. Responses that were developed around the context, methodologies and perspectives of a range of historians dealt effectively with the focus of this question</a:t>
            </a:r>
          </a:p>
          <a:p>
            <a:endParaRPr lang="en-AU" i="1" dirty="0"/>
          </a:p>
        </p:txBody>
      </p:sp>
      <p:pic>
        <p:nvPicPr>
          <p:cNvPr id="4" name="Picture 4"/>
          <p:cNvPicPr>
            <a:picLocks noChangeAspect="1" noChangeArrowheads="1"/>
          </p:cNvPicPr>
          <p:nvPr/>
        </p:nvPicPr>
        <p:blipFill>
          <a:blip r:embed="rId3" cstate="print"/>
          <a:srcRect/>
          <a:stretch>
            <a:fillRect/>
          </a:stretch>
        </p:blipFill>
        <p:spPr>
          <a:xfrm>
            <a:off x="0" y="0"/>
            <a:ext cx="2699792" cy="3277344"/>
          </a:xfrm>
          <a:prstGeom prst="rect">
            <a:avLst/>
          </a:prstGeom>
          <a:noFill/>
          <a:ln/>
        </p:spPr>
      </p:pic>
      <p:pic>
        <p:nvPicPr>
          <p:cNvPr id="5" name="Picture 4"/>
          <p:cNvPicPr>
            <a:picLocks noChangeAspect="1" noChangeArrowheads="1"/>
          </p:cNvPicPr>
          <p:nvPr/>
        </p:nvPicPr>
        <p:blipFill>
          <a:blip r:embed="rId4" cstate="print"/>
          <a:srcRect/>
          <a:stretch>
            <a:fillRect/>
          </a:stretch>
        </p:blipFill>
        <p:spPr>
          <a:xfrm>
            <a:off x="0" y="3212976"/>
            <a:ext cx="2699792" cy="3645024"/>
          </a:xfrm>
          <a:prstGeom prst="rect">
            <a:avLst/>
          </a:prstGeom>
          <a:noFill/>
          <a:ln/>
        </p:spPr>
      </p:pic>
      <p:sp>
        <p:nvSpPr>
          <p:cNvPr id="6" name="TextBox 5"/>
          <p:cNvSpPr txBox="1"/>
          <p:nvPr/>
        </p:nvSpPr>
        <p:spPr>
          <a:xfrm>
            <a:off x="3491880" y="2060848"/>
            <a:ext cx="5112568" cy="1200329"/>
          </a:xfrm>
          <a:prstGeom prst="rect">
            <a:avLst/>
          </a:prstGeom>
          <a:noFill/>
        </p:spPr>
        <p:txBody>
          <a:bodyPr wrap="square" rtlCol="0">
            <a:spAutoFit/>
          </a:bodyPr>
          <a:lstStyle/>
          <a:p>
            <a:r>
              <a:rPr lang="en-US" dirty="0" smtClean="0"/>
              <a:t>To what extent does </a:t>
            </a:r>
            <a:r>
              <a:rPr lang="en-US" dirty="0" err="1" smtClean="0"/>
              <a:t>Dening’s</a:t>
            </a:r>
            <a:r>
              <a:rPr lang="en-US" dirty="0" smtClean="0"/>
              <a:t> statement explain the changing interpretations in at least ONE area of debate from your chosen case study?  2009</a:t>
            </a:r>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Elizabeth&amp;#x0D;&amp;#x0A;revision&amp;quot;&quot;/&gt;&lt;property id=&quot;20307&quot; value=&quot;256&quot;/&gt;&lt;/object&gt;&lt;object type=&quot;3&quot; unique_id=&quot;10005&quot;&gt;&lt;property id=&quot;20148&quot; value=&quot;5&quot;/&gt;&lt;property id=&quot;20300&quot; value=&quot;Slide 2 - &amp;quot;IMAGES OFELIZABETH&amp;quot;&quot;/&gt;&lt;property id=&quot;20307&quot; value=&quot;257&quot;/&gt;&lt;/object&gt;&lt;object type=&quot;3&quot; unique_id=&quot;10006&quot;&gt;&lt;property id=&quot;20148&quot; value=&quot;5&quot;/&gt;&lt;property id=&quot;20300&quot; value=&quot;Slide 3 - &amp;quot;Why have the views of Elizabeth changed over time&amp;quot;&quot;/&gt;&lt;property id=&quot;20307&quot; value=&quot;258&quot;/&gt;&lt;/object&gt;&lt;object type=&quot;3&quot; unique_id=&quot;10007&quot;&gt;&lt;property id=&quot;20148&quot; value=&quot;5&quot;/&gt;&lt;property id=&quot;20300&quot; value=&quot;Slide 4 - &amp;quot;WHO ARE THE HISTORIANS&amp;quot;&quot;/&gt;&lt;property id=&quot;20307&quot; value=&quot;259&quot;/&gt;&lt;/object&gt;&lt;object type=&quot;3&quot; unique_id=&quot;10008&quot;&gt;&lt;property id=&quot;20148&quot; value=&quot;5&quot;/&gt;&lt;property id=&quot;20300&quot; value=&quot;Slide 5&quot;/&gt;&lt;property id=&quot;20307&quot; value=&quot;260&quot;/&gt;&lt;/object&gt;&lt;object type=&quot;3&quot; unique_id=&quot;10009&quot;&gt;&lt;property id=&quot;20148&quot; value=&quot;5&quot;/&gt;&lt;property id=&quot;20300&quot; value=&quot;Slide 6 - &amp;quot;AUDIENCE&amp;quot;&quot;/&gt;&lt;property id=&quot;20307&quot; value=&quot;261&quot;/&gt;&lt;/object&gt;&lt;object type=&quot;3&quot; unique_id=&quot;10010&quot;&gt;&lt;property id=&quot;20148&quot; value=&quot;5&quot;/&gt;&lt;property id=&quot;20300&quot; value=&quot;Slide 7 - &amp;quot;evidence&amp;quot;&quot;/&gt;&lt;property id=&quot;20307&quot; value=&quot;262&quot;/&gt;&lt;/object&gt;&lt;object type=&quot;3&quot; unique_id=&quot;10011&quot;&gt;&lt;property id=&quot;20148&quot; value=&quot;5&quot;/&gt;&lt;property id=&quot;20300&quot; value=&quot;Slide 8 - &amp;quot;construction&amp;quot;&quot;/&gt;&lt;property id=&quot;20307&quot; value=&quot;263&quot;/&gt;&lt;/object&gt;&lt;object type=&quot;3&quot; unique_id=&quot;10012&quot;&gt;&lt;property id=&quot;20148&quot; value=&quot;5&quot;/&gt;&lt;property id=&quot;20300&quot; value=&quot;Slide 9 - &amp;quot;Ideological and philosophical approach to history&amp;quot;&quot;/&gt;&lt;property id=&quot;20307&quot; value=&quot;264&quot;/&gt;&lt;/object&gt;&lt;object type=&quot;3&quot; unique_id=&quot;10013&quot;&gt;&lt;property id=&quot;20148&quot; value=&quot;5&quot;/&gt;&lt;property id=&quot;20300&quot; value=&quot;Slide 10 - &amp;quot;Elizabeth&amp;#x0D;&amp;#x0A;revision&amp;quot;&quot;/&gt;&lt;property id=&quot;20307&quot; value=&quot;265&quot;/&gt;&lt;/object&gt;&lt;object type=&quot;3&quot; unique_id=&quot;10014&quot;&gt;&lt;property id=&quot;20148&quot; value=&quot;5&quot;/&gt;&lt;property id=&quot;20300&quot; value=&quot;Slide 11 - &amp;quot;Elizabeth&amp;#x0D;&amp;#x0A;revision&amp;quot;&quot;/&gt;&lt;property id=&quot;20307&quot; value=&quot;266&quot;/&gt;&lt;/object&gt;&lt;object type=&quot;3&quot; unique_id=&quot;10015&quot;&gt;&lt;property id=&quot;20148&quot; value=&quot;5&quot;/&gt;&lt;property id=&quot;20300&quot; value=&quot;Slide 12 - &amp;quot;Elizabeth&amp;#x0D;&amp;#x0A;revision&amp;quot;&quot;/&gt;&lt;property id=&quot;20307&quot; value=&quot;267&quot;/&gt;&lt;/object&gt;&lt;object type=&quot;3&quot; unique_id=&quot;10016&quot;&gt;&lt;property id=&quot;20148&quot; value=&quot;5&quot;/&gt;&lt;property id=&quot;20300&quot; value=&quot;Slide 13 - &amp;quot;Elizabeth&amp;#x0D;&amp;#x0A;revision&amp;quot;&quot;/&gt;&lt;property id=&quot;20307&quot; value=&quot;268&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188</TotalTime>
  <Words>1176</Words>
  <Application>Microsoft Office PowerPoint</Application>
  <PresentationFormat>On-screen Show (4:3)</PresentationFormat>
  <Paragraphs>173</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Opulent</vt:lpstr>
      <vt:lpstr>Elizabeth revision</vt:lpstr>
      <vt:lpstr>A good quote</vt:lpstr>
      <vt:lpstr>FOUNDATIONAL MYTHS</vt:lpstr>
      <vt:lpstr>IMAGES OFELIZABETH</vt:lpstr>
      <vt:lpstr>Why have the views of Elizabeth changed over time</vt:lpstr>
      <vt:lpstr>WHO ARE THE HISTORIANS</vt:lpstr>
      <vt:lpstr>Slide 7</vt:lpstr>
      <vt:lpstr>AUDIENCE</vt:lpstr>
      <vt:lpstr>evidence</vt:lpstr>
      <vt:lpstr>Construction? CRITICISM</vt:lpstr>
      <vt:lpstr>Ideological and philosophical approach to history</vt:lpstr>
      <vt:lpstr>Elizabeth’S POLEMIC HISTORIANS</vt:lpstr>
      <vt:lpstr>Elizabeth QUOTE</vt:lpstr>
      <vt:lpstr>Elizabeth QUESTIONS</vt:lpstr>
      <vt:lpstr>Elizabeth revision</vt:lpstr>
    </vt:vector>
  </TitlesOfParts>
  <Company>DET NSW</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Elizabeth revision</dc:title>
  <dc:creator>ELIZABETH PARNELL</dc:creator>
  <cp:lastModifiedBy>Graham</cp:lastModifiedBy>
  <cp:revision>21</cp:revision>
  <dcterms:created xsi:type="dcterms:W3CDTF">2010-09-10T02:56:33Z</dcterms:created>
  <dcterms:modified xsi:type="dcterms:W3CDTF">2010-09-13T07:44:10Z</dcterms:modified>
</cp:coreProperties>
</file>